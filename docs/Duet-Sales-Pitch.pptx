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3810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three in the morning. The baby is crying, and you're holding her with one arm. Your partner asks: did she eat at midnight, or was that ten? Nobody knows. Every new family lives this moment, over and over, every single 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newborn eats eight to twelve times a day, and needs at least six diaper changes. The care is shared between parents, grandparents, and sometimes a night nurse. So the record ends up scattered across group texts and tired memories. And the tracking apps out there are built around forms and charts. Logging one bottle takes several taps, with hands that are already full.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Duet. The baby log you simply talk to. Say, just gave her a three ounce bottle, and it's logged. And everyone in your household sees it, instantly.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it works. Tap the mic and speak naturally. Duet understands feeds, naps, and diaper changes, converts the amounts, and confirms in one short line. Within about a second, every caregiver's screen updates. No forms. No typing. Just one sentence.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it is in action. Alex just speaks into her phone, and Duet logs it. Sam, on a laptop across town, sees every entry appear on the shared timeline, without refreshing. And if anyone asks, when did she last eat, Duet answers straight from the log.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Duet different? It's voice first, built for the moments when your hands are full. It's made for the whole household, with private invite codes for partners, grandparents, and nannies. It works everywhere: in any browser, on your home screen, or as an Android app, even offline. And it's safe by design. Duet is a log, not a doctor. Medical questions always go to the pediatrician.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three point six million babies are born in the United States every year. Behind every one of them is a team of caregivers who need to stay in sync. Duet starts with new parents in those first twelve weeks, then grows to grandparents, nannies, and night nurses, and later to clinics and birthing classes.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is simple. The core of Duet is free, forever: voice logging, unlimited caregivers, and live sync. Next, we plan Duet Plus, a small subscription with visit-ready reports for the pediatrician, long-term trends, and support for more than one child. And we'll partner with hospitals and birthing classes, so families get Duet before they even go home. And growth is built in: every family that signs up brings its own caregivers along.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isn't just an idea. Duet is built and working today, as a website, an installable app, and an Android app. It passed all one hundred and fifteen automated checks, including live sync between two caregivers and offline use.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ask. Help us find ten families for a two week pilot, and tell us what would make Duet a must-have. Because at three in the morning, nobody should have to wonder: did she eat? Duet. Talk, log, stay in sync.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ITCH_CONTENT">
    <p:bg>
      <p:bgPr>
        <a:solidFill>
          <a:srgbClr val="F4EFE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58368"/>
            <a:ext cx="10881360" cy="822960"/>
          </a:xfrm>
          <a:prstGeom prst="rect">
            <a:avLst/>
          </a:prstGeom>
          <a:noFill/>
          <a:ln/>
        </p:spPr>
        <p:txBody>
          <a:bodyPr wrap="square" rtlCol="0"/>
          <a:lstStyle>
            <a:lvl1pPr marL="0" indent="0" algn="l">
              <a:buNone/>
              <a:defRPr lang="en-US" sz="3400" b="1" dirty="0">
                <a:solidFill>
                  <a:srgbClr val="2A2622"/>
                </a:solidFill>
                <a:latin typeface="Georgia" pitchFamily="34" charset="0"/>
                <a:ea typeface="Georgia" pitchFamily="34" charset="-122"/>
                <a:cs typeface="Georgia" pitchFamily="34" charset="-120"/>
              </a:defRPr>
            </a:lvl1pPr>
          </a:lstStyle>
          <a:p>
            <a:pPr marL="0" indent="0" algn="l">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ITCH_HERO">
    <p:bg>
      <p:bgPr>
        <a:solidFill>
          <a:srgbClr val="F4EFE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50392" y="2331720"/>
            <a:ext cx="6400800" cy="1188720"/>
          </a:xfrm>
          <a:prstGeom prst="rect">
            <a:avLst/>
          </a:prstGeom>
          <a:noFill/>
          <a:ln/>
        </p:spPr>
        <p:txBody>
          <a:bodyPr wrap="square" rtlCol="0"/>
          <a:lstStyle>
            <a:lvl1pPr marL="0" indent="0" algn="l">
              <a:buNone/>
              <a:defRPr lang="en-US" sz="6600" b="1" dirty="0">
                <a:solidFill>
                  <a:srgbClr val="2A2622"/>
                </a:solidFill>
                <a:latin typeface="Georgia" pitchFamily="34" charset="0"/>
                <a:ea typeface="Georgia" pitchFamily="34" charset="-122"/>
                <a:cs typeface="Georgia" pitchFamily="34" charset="-120"/>
              </a:defRPr>
            </a:lvl1pPr>
          </a:lstStyle>
          <a:p>
            <a:pPr marL="0" indent="0" algn="l">
              <a:buNone/>
            </a:pPr>
            <a:endParaRPr lang="en-US" sz="6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ITCH_DARK">
    <p:bg>
      <p:bgPr>
        <a:solidFill>
          <a:srgbClr val="2A262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40280"/>
            <a:ext cx="11277295" cy="1371600"/>
          </a:xfrm>
          <a:prstGeom prst="rect">
            <a:avLst/>
          </a:prstGeom>
          <a:noFill/>
          <a:ln/>
        </p:spPr>
        <p:txBody>
          <a:bodyPr wrap="square" rtlCol="0"/>
          <a:lstStyle>
            <a:lvl1pPr marL="0" indent="0" algn="ctr">
              <a:buNone/>
              <a:defRPr lang="en-US" sz="5800" b="1" dirty="0">
                <a:solidFill>
                  <a:srgbClr val="FFFDF8"/>
                </a:solidFill>
                <a:latin typeface="Georgia" pitchFamily="34" charset="0"/>
                <a:ea typeface="Georgia" pitchFamily="34" charset="-122"/>
                <a:cs typeface="Georgia" pitchFamily="34" charset="-120"/>
              </a:defRPr>
            </a:lvl1pPr>
          </a:lstStyle>
          <a:p>
            <a:pPr marL="0" indent="0" algn="ctr">
              <a:buNone/>
            </a:pPr>
            <a:endParaRPr lang="en-US" sz="5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457200" y="1417320"/>
            <a:ext cx="11277295" cy="548640"/>
          </a:xfrm>
          <a:prstGeom prst="rect">
            <a:avLst/>
          </a:prstGeom>
          <a:noFill/>
          <a:ln/>
        </p:spPr>
        <p:txBody>
          <a:bodyPr wrap="square" rtlCol="0" anchor="ctr"/>
          <a:lstStyle/>
          <a:p>
            <a:pPr marL="0" indent="0" algn="ctr">
              <a:buNone/>
            </a:pPr>
            <a:r>
              <a:rPr lang="en-US" sz="2000" b="1" kern="0" spc="600" dirty="0">
                <a:solidFill>
                  <a:srgbClr val="C46A4A"/>
                </a:solidFill>
                <a:latin typeface="Segoe UI" pitchFamily="34" charset="0"/>
                <a:ea typeface="Segoe UI" pitchFamily="34" charset="-122"/>
                <a:cs typeface="Segoe UI" pitchFamily="34" charset="-120"/>
              </a:rPr>
              <a:t>3:00 AM</a:t>
            </a:r>
            <a:endParaRPr lang="en-US" sz="2000" dirty="0"/>
          </a:p>
        </p:txBody>
      </p:sp>
      <p:sp>
        <p:nvSpPr>
          <p:cNvPr id="4" name="Text 0"/>
          <p:cNvSpPr>
            <a:spLocks noGrp="1"/>
          </p:cNvSpPr>
          <p:nvPr>
            <p:ph type="title" idx="100" hasCustomPrompt="1"/>
          </p:nvPr>
        </p:nvSpPr>
        <p:spPr>
          <a:xfrm>
            <a:off x="457200" y="2240280"/>
            <a:ext cx="11277295" cy="1371600"/>
          </a:xfrm>
          <a:prstGeom prst="rect">
            <a:avLst/>
          </a:prstGeom>
          <a:noFill/>
          <a:ln/>
        </p:spPr>
        <p:txBody>
          <a:bodyPr wrap="square" lIns="0" tIns="0" rIns="0" bIns="0" rtlCol="0" anchor="ctr"/>
          <a:lstStyle/>
          <a:p>
            <a:pPr marL="0" indent="0" algn="ctr">
              <a:buNone/>
            </a:pPr>
            <a:r>
              <a:rPr lang="en-US" sz="5800" b="1" dirty="0">
                <a:solidFill>
                  <a:srgbClr val="FFFDF8"/>
                </a:solidFill>
                <a:latin typeface="Georgia" pitchFamily="34" charset="0"/>
                <a:ea typeface="Georgia" pitchFamily="34" charset="-122"/>
                <a:cs typeface="Georgia" pitchFamily="34" charset="-120"/>
              </a:rPr>
              <a:t>“Did anyone feed her?”</a:t>
            </a:r>
            <a:endParaRPr lang="en-US" sz="5800" dirty="0"/>
          </a:p>
        </p:txBody>
      </p:sp>
      <p:sp>
        <p:nvSpPr>
          <p:cNvPr id="5" name="Text 2"/>
          <p:cNvSpPr/>
          <p:nvPr/>
        </p:nvSpPr>
        <p:spPr>
          <a:xfrm>
            <a:off x="457200" y="3886200"/>
            <a:ext cx="11277295" cy="548640"/>
          </a:xfrm>
          <a:prstGeom prst="rect">
            <a:avLst/>
          </a:prstGeom>
          <a:noFill/>
          <a:ln/>
        </p:spPr>
        <p:txBody>
          <a:bodyPr wrap="square" rtlCol="0" anchor="ctr"/>
          <a:lstStyle/>
          <a:p>
            <a:pPr marL="0" indent="0" algn="ctr">
              <a:buNone/>
            </a:pPr>
            <a:r>
              <a:rPr lang="en-US" sz="2000" dirty="0">
                <a:solidFill>
                  <a:srgbClr val="B9AFA3"/>
                </a:solidFill>
                <a:latin typeface="Segoe UI" pitchFamily="34" charset="0"/>
                <a:ea typeface="Segoe UI" pitchFamily="34" charset="-122"/>
                <a:cs typeface="Segoe UI" pitchFamily="34" charset="-120"/>
              </a:rPr>
              <a:t>Every new family asks this, over and over, every single day.</a:t>
            </a:r>
            <a:endParaRPr lang="en-US" sz="2000" dirty="0"/>
          </a:p>
        </p:txBody>
      </p:sp>
      <p:pic>
        <p:nvPicPr>
          <p:cNvPr id="2" name="Voiceover 1">
            <a:hlinkClick r:id="" action="ppaction://media"/>
            <a:extLst>
              <a:ext uri="{FF2B5EF4-FFF2-40B4-BE49-F238E27FC236}">
                <a16:creationId xmlns:a16="http://schemas.microsoft.com/office/drawing/2014/main" id="{D6515014-06C5-6CA9-15F1-8F7629F8DD9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17900">
        <p:fade/>
      </p:transition>
    </mc:Choice>
    <mc:Fallback>
      <p:transition spd="med" advTm="179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04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7040"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THE PROBLEM</a:t>
            </a:r>
            <a:endParaRPr lang="en-US" sz="1200" dirty="0"/>
          </a:p>
        </p:txBody>
      </p:sp>
      <p:sp>
        <p:nvSpPr>
          <p:cNvPr id="4" name="Text 0"/>
          <p:cNvSpPr>
            <a:spLocks noGrp="1"/>
          </p:cNvSpPr>
          <p:nvPr>
            <p:ph type="title" idx="100" hasCustomPrompt="1"/>
          </p:nvPr>
        </p:nvSpPr>
        <p:spPr>
          <a:xfrm>
            <a:off x="640080" y="658368"/>
            <a:ext cx="10881360" cy="822960"/>
          </a:xfrm>
          <a:prstGeom prst="rect">
            <a:avLst/>
          </a:prstGeom>
          <a:noFill/>
          <a:ln/>
        </p:spPr>
        <p:txBody>
          <a:bodyPr wrap="square" lIns="0" tIns="0" rIns="0" bIns="0" rtlCol="0" anchor="ctr"/>
          <a:lstStyle/>
          <a:p>
            <a:pPr marL="0" indent="0" algn="l">
              <a:buNone/>
            </a:pPr>
            <a:r>
              <a:rPr lang="en-US" sz="3400" b="1" dirty="0">
                <a:solidFill>
                  <a:srgbClr val="2A2622"/>
                </a:solidFill>
                <a:latin typeface="Georgia" pitchFamily="34" charset="0"/>
                <a:ea typeface="Georgia" pitchFamily="34" charset="-122"/>
                <a:cs typeface="Georgia" pitchFamily="34" charset="-120"/>
              </a:rPr>
              <a:t>Newborn care never stops, and it is shared</a:t>
            </a:r>
            <a:endParaRPr lang="en-US" sz="3400" dirty="0"/>
          </a:p>
        </p:txBody>
      </p:sp>
      <p:sp>
        <p:nvSpPr>
          <p:cNvPr id="5" name="Shape 2"/>
          <p:cNvSpPr/>
          <p:nvPr/>
        </p:nvSpPr>
        <p:spPr>
          <a:xfrm>
            <a:off x="640080" y="1783080"/>
            <a:ext cx="3474720" cy="2514600"/>
          </a:xfrm>
          <a:prstGeom prst="roundRect">
            <a:avLst>
              <a:gd name="adj" fmla="val 5455"/>
            </a:avLst>
          </a:prstGeom>
          <a:solidFill>
            <a:srgbClr val="FFFDF8"/>
          </a:solidFill>
          <a:ln w="12700">
            <a:solidFill>
              <a:srgbClr val="E6DCCD"/>
            </a:solidFill>
            <a:prstDash val="solid"/>
          </a:ln>
        </p:spPr>
      </p:sp>
      <p:sp>
        <p:nvSpPr>
          <p:cNvPr id="6" name="Text 3"/>
          <p:cNvSpPr/>
          <p:nvPr/>
        </p:nvSpPr>
        <p:spPr>
          <a:xfrm>
            <a:off x="640080" y="1920240"/>
            <a:ext cx="3474720" cy="1417320"/>
          </a:xfrm>
          <a:prstGeom prst="rect">
            <a:avLst/>
          </a:prstGeom>
          <a:noFill/>
          <a:ln/>
        </p:spPr>
        <p:txBody>
          <a:bodyPr wrap="square" rtlCol="0" anchor="ctr"/>
          <a:lstStyle/>
          <a:p>
            <a:pPr marL="0" indent="0" algn="ctr">
              <a:buNone/>
            </a:pPr>
            <a:r>
              <a:rPr lang="en-US" sz="7200" b="1" dirty="0">
                <a:solidFill>
                  <a:srgbClr val="C46A4A"/>
                </a:solidFill>
                <a:latin typeface="Georgia" pitchFamily="34" charset="0"/>
                <a:ea typeface="Georgia" pitchFamily="34" charset="-122"/>
                <a:cs typeface="Georgia" pitchFamily="34" charset="-120"/>
              </a:rPr>
              <a:t>8–12</a:t>
            </a:r>
            <a:endParaRPr lang="en-US" sz="7200" dirty="0"/>
          </a:p>
        </p:txBody>
      </p:sp>
      <p:sp>
        <p:nvSpPr>
          <p:cNvPr id="7" name="Text 4"/>
          <p:cNvSpPr/>
          <p:nvPr/>
        </p:nvSpPr>
        <p:spPr>
          <a:xfrm>
            <a:off x="640080" y="3337560"/>
            <a:ext cx="3474720" cy="548640"/>
          </a:xfrm>
          <a:prstGeom prst="rect">
            <a:avLst/>
          </a:prstGeom>
          <a:noFill/>
          <a:ln/>
        </p:spPr>
        <p:txBody>
          <a:bodyPr wrap="square" rtlCol="0" anchor="ctr"/>
          <a:lstStyle/>
          <a:p>
            <a:pPr marL="0" indent="0" algn="ctr">
              <a:buNone/>
            </a:pPr>
            <a:r>
              <a:rPr lang="en-US" sz="1900" dirty="0">
                <a:solidFill>
                  <a:srgbClr val="6F675E"/>
                </a:solidFill>
                <a:latin typeface="Segoe UI" pitchFamily="34" charset="0"/>
                <a:ea typeface="Segoe UI" pitchFamily="34" charset="-122"/>
                <a:cs typeface="Segoe UI" pitchFamily="34" charset="-120"/>
              </a:rPr>
              <a:t>feeds a day</a:t>
            </a:r>
            <a:endParaRPr lang="en-US" sz="1900" dirty="0"/>
          </a:p>
        </p:txBody>
      </p:sp>
      <p:sp>
        <p:nvSpPr>
          <p:cNvPr id="8" name="Shape 5"/>
          <p:cNvSpPr/>
          <p:nvPr/>
        </p:nvSpPr>
        <p:spPr>
          <a:xfrm>
            <a:off x="4343400" y="1783080"/>
            <a:ext cx="3474720" cy="2514600"/>
          </a:xfrm>
          <a:prstGeom prst="roundRect">
            <a:avLst>
              <a:gd name="adj" fmla="val 5455"/>
            </a:avLst>
          </a:prstGeom>
          <a:solidFill>
            <a:srgbClr val="FFFDF8"/>
          </a:solidFill>
          <a:ln w="12700">
            <a:solidFill>
              <a:srgbClr val="E6DCCD"/>
            </a:solidFill>
            <a:prstDash val="solid"/>
          </a:ln>
        </p:spPr>
      </p:sp>
      <p:sp>
        <p:nvSpPr>
          <p:cNvPr id="9" name="Text 6"/>
          <p:cNvSpPr/>
          <p:nvPr/>
        </p:nvSpPr>
        <p:spPr>
          <a:xfrm>
            <a:off x="4343400" y="1920240"/>
            <a:ext cx="3474720" cy="1417320"/>
          </a:xfrm>
          <a:prstGeom prst="rect">
            <a:avLst/>
          </a:prstGeom>
          <a:noFill/>
          <a:ln/>
        </p:spPr>
        <p:txBody>
          <a:bodyPr wrap="square" rtlCol="0" anchor="ctr"/>
          <a:lstStyle/>
          <a:p>
            <a:pPr marL="0" indent="0" algn="ctr">
              <a:buNone/>
            </a:pPr>
            <a:r>
              <a:rPr lang="en-US" sz="7200" b="1" dirty="0">
                <a:solidFill>
                  <a:srgbClr val="4F6F5C"/>
                </a:solidFill>
                <a:latin typeface="Georgia" pitchFamily="34" charset="0"/>
                <a:ea typeface="Georgia" pitchFamily="34" charset="-122"/>
                <a:cs typeface="Georgia" pitchFamily="34" charset="-120"/>
              </a:rPr>
              <a:t>6+</a:t>
            </a:r>
            <a:endParaRPr lang="en-US" sz="7200" dirty="0"/>
          </a:p>
        </p:txBody>
      </p:sp>
      <p:sp>
        <p:nvSpPr>
          <p:cNvPr id="10" name="Text 7"/>
          <p:cNvSpPr/>
          <p:nvPr/>
        </p:nvSpPr>
        <p:spPr>
          <a:xfrm>
            <a:off x="4343400" y="3337560"/>
            <a:ext cx="3474720" cy="548640"/>
          </a:xfrm>
          <a:prstGeom prst="rect">
            <a:avLst/>
          </a:prstGeom>
          <a:noFill/>
          <a:ln/>
        </p:spPr>
        <p:txBody>
          <a:bodyPr wrap="square" rtlCol="0" anchor="ctr"/>
          <a:lstStyle/>
          <a:p>
            <a:pPr marL="0" indent="0" algn="ctr">
              <a:buNone/>
            </a:pPr>
            <a:r>
              <a:rPr lang="en-US" sz="1900" dirty="0">
                <a:solidFill>
                  <a:srgbClr val="6F675E"/>
                </a:solidFill>
                <a:latin typeface="Segoe UI" pitchFamily="34" charset="0"/>
                <a:ea typeface="Segoe UI" pitchFamily="34" charset="-122"/>
                <a:cs typeface="Segoe UI" pitchFamily="34" charset="-120"/>
              </a:rPr>
              <a:t>diaper changes a day</a:t>
            </a:r>
            <a:endParaRPr lang="en-US" sz="1900" dirty="0"/>
          </a:p>
        </p:txBody>
      </p:sp>
      <p:sp>
        <p:nvSpPr>
          <p:cNvPr id="11" name="Shape 8"/>
          <p:cNvSpPr/>
          <p:nvPr/>
        </p:nvSpPr>
        <p:spPr>
          <a:xfrm>
            <a:off x="8046720" y="1783080"/>
            <a:ext cx="3474720" cy="2514600"/>
          </a:xfrm>
          <a:prstGeom prst="roundRect">
            <a:avLst>
              <a:gd name="adj" fmla="val 5455"/>
            </a:avLst>
          </a:prstGeom>
          <a:solidFill>
            <a:srgbClr val="FFFDF8"/>
          </a:solidFill>
          <a:ln w="12700">
            <a:solidFill>
              <a:srgbClr val="E6DCCD"/>
            </a:solidFill>
            <a:prstDash val="solid"/>
          </a:ln>
        </p:spPr>
      </p:sp>
      <p:sp>
        <p:nvSpPr>
          <p:cNvPr id="12" name="Text 9"/>
          <p:cNvSpPr/>
          <p:nvPr/>
        </p:nvSpPr>
        <p:spPr>
          <a:xfrm>
            <a:off x="8046720" y="1920240"/>
            <a:ext cx="3474720" cy="1417320"/>
          </a:xfrm>
          <a:prstGeom prst="rect">
            <a:avLst/>
          </a:prstGeom>
          <a:noFill/>
          <a:ln/>
        </p:spPr>
        <p:txBody>
          <a:bodyPr wrap="square" rtlCol="0" anchor="ctr"/>
          <a:lstStyle/>
          <a:p>
            <a:pPr marL="0" indent="0" algn="ctr">
              <a:buNone/>
            </a:pPr>
            <a:r>
              <a:rPr lang="en-US" sz="7200" b="1" dirty="0">
                <a:solidFill>
                  <a:srgbClr val="2A2622"/>
                </a:solidFill>
                <a:latin typeface="Georgia" pitchFamily="34" charset="0"/>
                <a:ea typeface="Georgia" pitchFamily="34" charset="-122"/>
                <a:cs typeface="Georgia" pitchFamily="34" charset="-120"/>
              </a:rPr>
              <a:t>0</a:t>
            </a:r>
            <a:endParaRPr lang="en-US" sz="7200" dirty="0"/>
          </a:p>
        </p:txBody>
      </p:sp>
      <p:sp>
        <p:nvSpPr>
          <p:cNvPr id="13" name="Text 10"/>
          <p:cNvSpPr/>
          <p:nvPr/>
        </p:nvSpPr>
        <p:spPr>
          <a:xfrm>
            <a:off x="8046720" y="3337560"/>
            <a:ext cx="3474720" cy="548640"/>
          </a:xfrm>
          <a:prstGeom prst="rect">
            <a:avLst/>
          </a:prstGeom>
          <a:noFill/>
          <a:ln/>
        </p:spPr>
        <p:txBody>
          <a:bodyPr wrap="square" rtlCol="0" anchor="ctr"/>
          <a:lstStyle/>
          <a:p>
            <a:pPr marL="0" indent="0" algn="ctr">
              <a:buNone/>
            </a:pPr>
            <a:r>
              <a:rPr lang="en-US" sz="1900" dirty="0">
                <a:solidFill>
                  <a:srgbClr val="6F675E"/>
                </a:solidFill>
                <a:latin typeface="Segoe UI" pitchFamily="34" charset="0"/>
                <a:ea typeface="Segoe UI" pitchFamily="34" charset="-122"/>
                <a:cs typeface="Segoe UI" pitchFamily="34" charset="-120"/>
              </a:rPr>
              <a:t>free hands at 3 AM</a:t>
            </a:r>
            <a:endParaRPr lang="en-US" sz="1900" dirty="0"/>
          </a:p>
        </p:txBody>
      </p:sp>
      <p:sp>
        <p:nvSpPr>
          <p:cNvPr id="14" name="Shape 11"/>
          <p:cNvSpPr/>
          <p:nvPr/>
        </p:nvSpPr>
        <p:spPr>
          <a:xfrm>
            <a:off x="640080" y="4617720"/>
            <a:ext cx="10881360" cy="1188720"/>
          </a:xfrm>
          <a:prstGeom prst="roundRect">
            <a:avLst>
              <a:gd name="adj" fmla="val 11538"/>
            </a:avLst>
          </a:prstGeom>
          <a:solidFill>
            <a:srgbClr val="F8E6DE"/>
          </a:solidFill>
          <a:ln w="12700">
            <a:solidFill>
              <a:srgbClr val="E6DCCD"/>
            </a:solidFill>
            <a:prstDash val="solid"/>
          </a:ln>
        </p:spPr>
      </p:sp>
      <p:sp>
        <p:nvSpPr>
          <p:cNvPr id="15" name="Text 12"/>
          <p:cNvSpPr/>
          <p:nvPr/>
        </p:nvSpPr>
        <p:spPr>
          <a:xfrm>
            <a:off x="914400" y="4617720"/>
            <a:ext cx="10332720" cy="1188720"/>
          </a:xfrm>
          <a:prstGeom prst="rect">
            <a:avLst/>
          </a:prstGeom>
          <a:noFill/>
          <a:ln/>
        </p:spPr>
        <p:txBody>
          <a:bodyPr wrap="square" rtlCol="0" anchor="ctr"/>
          <a:lstStyle/>
          <a:p>
            <a:pPr marL="0" indent="0">
              <a:buNone/>
            </a:pPr>
            <a:r>
              <a:rPr lang="en-US" sz="1900" b="1" dirty="0">
                <a:solidFill>
                  <a:srgbClr val="C46A4A"/>
                </a:solidFill>
                <a:latin typeface="Segoe UI" pitchFamily="34" charset="0"/>
                <a:ea typeface="Segoe UI" pitchFamily="34" charset="-122"/>
                <a:cs typeface="Segoe UI" pitchFamily="34" charset="-120"/>
              </a:rPr>
              <a:t>Today: </a:t>
            </a:r>
            <a:r>
              <a:rPr lang="en-US" sz="1900" dirty="0">
                <a:solidFill>
                  <a:srgbClr val="2A2622"/>
                </a:solidFill>
                <a:latin typeface="Segoe UI" pitchFamily="34" charset="0"/>
                <a:ea typeface="Segoe UI" pitchFamily="34" charset="-122"/>
                <a:cs typeface="Segoe UI" pitchFamily="34" charset="-120"/>
              </a:rPr>
              <a:t>the record lives in group texts and memory, and tracker apps make you tap through forms to log one bottle.</a:t>
            </a:r>
            <a:endParaRPr lang="en-US" sz="1900" dirty="0"/>
          </a:p>
        </p:txBody>
      </p:sp>
      <p:sp>
        <p:nvSpPr>
          <p:cNvPr id="16" name="Text 13"/>
          <p:cNvSpPr/>
          <p:nvPr/>
        </p:nvSpPr>
        <p:spPr>
          <a:xfrm>
            <a:off x="640080" y="6126480"/>
            <a:ext cx="10881360" cy="274320"/>
          </a:xfrm>
          <a:prstGeom prst="rect">
            <a:avLst/>
          </a:prstGeom>
          <a:noFill/>
          <a:ln/>
        </p:spPr>
        <p:txBody>
          <a:bodyPr wrap="square" rtlCol="0" anchor="ctr"/>
          <a:lstStyle/>
          <a:p>
            <a:pPr marL="0" indent="0">
              <a:buNone/>
            </a:pPr>
            <a:r>
              <a:rPr lang="en-US" sz="1000" dirty="0">
                <a:solidFill>
                  <a:srgbClr val="6F675E"/>
                </a:solidFill>
                <a:latin typeface="Segoe UI" pitchFamily="34" charset="0"/>
                <a:ea typeface="Segoe UI" pitchFamily="34" charset="-122"/>
                <a:cs typeface="Segoe UI" pitchFamily="34" charset="-120"/>
              </a:rPr>
              <a:t>Feeding and diaper ranges: typical newborn guidance from the American Academy of Pediatrics.</a:t>
            </a:r>
            <a:endParaRPr lang="en-US" sz="1000" dirty="0"/>
          </a:p>
        </p:txBody>
      </p:sp>
      <p:pic>
        <p:nvPicPr>
          <p:cNvPr id="2" name="Voiceover 2">
            <a:hlinkClick r:id="" action="ppaction://media"/>
            <a:extLst>
              <a:ext uri="{FF2B5EF4-FFF2-40B4-BE49-F238E27FC236}">
                <a16:creationId xmlns:a16="http://schemas.microsoft.com/office/drawing/2014/main" id="{0A48E976-809D-D338-B62D-587EDC3E4B3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24700">
        <p:fade/>
      </p:transition>
    </mc:Choice>
    <mc:Fallback>
      <p:transition spd="med" advTm="247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83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23832"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C:\Users\obaid\OneDrive\Desktop\AI Intg Class\Duet\public\icons\icon-512.png"/>
          <p:cNvPicPr>
            <a:picLocks noChangeAspect="1"/>
          </p:cNvPicPr>
          <p:nvPr/>
        </p:nvPicPr>
        <p:blipFill>
          <a:blip r:embed="rId5"/>
          <a:stretch>
            <a:fillRect/>
          </a:stretch>
        </p:blipFill>
        <p:spPr>
          <a:xfrm>
            <a:off x="868680" y="1051560"/>
            <a:ext cx="1143000" cy="1143000"/>
          </a:xfrm>
          <a:prstGeom prst="rect">
            <a:avLst/>
          </a:prstGeom>
        </p:spPr>
      </p:pic>
      <p:sp>
        <p:nvSpPr>
          <p:cNvPr id="4" name="Text 0"/>
          <p:cNvSpPr>
            <a:spLocks noGrp="1"/>
          </p:cNvSpPr>
          <p:nvPr>
            <p:ph type="title" idx="100" hasCustomPrompt="1"/>
          </p:nvPr>
        </p:nvSpPr>
        <p:spPr>
          <a:xfrm>
            <a:off x="850392" y="2331720"/>
            <a:ext cx="6400800" cy="1188720"/>
          </a:xfrm>
          <a:prstGeom prst="rect">
            <a:avLst/>
          </a:prstGeom>
          <a:noFill/>
          <a:ln/>
        </p:spPr>
        <p:txBody>
          <a:bodyPr wrap="square" lIns="0" tIns="0" rIns="0" bIns="0" rtlCol="0"/>
          <a:lstStyle/>
          <a:p>
            <a:pPr marL="0" indent="0" algn="l">
              <a:buNone/>
            </a:pPr>
            <a:r>
              <a:rPr lang="en-US" sz="6600" b="1" dirty="0">
                <a:solidFill>
                  <a:srgbClr val="2A2622"/>
                </a:solidFill>
                <a:latin typeface="Georgia" pitchFamily="34" charset="0"/>
                <a:ea typeface="Georgia" pitchFamily="34" charset="-122"/>
                <a:cs typeface="Georgia" pitchFamily="34" charset="-120"/>
              </a:rPr>
              <a:t>Meet Duet</a:t>
            </a:r>
            <a:endParaRPr lang="en-US" sz="6600" dirty="0"/>
          </a:p>
        </p:txBody>
      </p:sp>
      <p:sp>
        <p:nvSpPr>
          <p:cNvPr id="5" name="Text 1"/>
          <p:cNvSpPr/>
          <p:nvPr/>
        </p:nvSpPr>
        <p:spPr>
          <a:xfrm>
            <a:off x="822960" y="3611880"/>
            <a:ext cx="6400800" cy="640080"/>
          </a:xfrm>
          <a:prstGeom prst="rect">
            <a:avLst/>
          </a:prstGeom>
          <a:noFill/>
          <a:ln/>
        </p:spPr>
        <p:txBody>
          <a:bodyPr wrap="square" rtlCol="0" anchor="ctr"/>
          <a:lstStyle/>
          <a:p>
            <a:pPr marL="0" indent="0">
              <a:buNone/>
            </a:pPr>
            <a:r>
              <a:rPr lang="en-US" sz="2800" dirty="0">
                <a:solidFill>
                  <a:srgbClr val="2A2622"/>
                </a:solidFill>
                <a:latin typeface="Georgia" pitchFamily="34" charset="0"/>
                <a:ea typeface="Georgia" pitchFamily="34" charset="-122"/>
                <a:cs typeface="Georgia" pitchFamily="34" charset="-120"/>
              </a:rPr>
              <a:t>The baby log you simply talk to.</a:t>
            </a:r>
            <a:endParaRPr lang="en-US" sz="2800" dirty="0"/>
          </a:p>
        </p:txBody>
      </p:sp>
      <p:sp>
        <p:nvSpPr>
          <p:cNvPr id="6" name="Text 2"/>
          <p:cNvSpPr/>
          <p:nvPr/>
        </p:nvSpPr>
        <p:spPr>
          <a:xfrm>
            <a:off x="822960" y="4343400"/>
            <a:ext cx="6400800" cy="457200"/>
          </a:xfrm>
          <a:prstGeom prst="rect">
            <a:avLst/>
          </a:prstGeom>
          <a:noFill/>
          <a:ln/>
        </p:spPr>
        <p:txBody>
          <a:bodyPr wrap="square" rtlCol="0" anchor="ctr"/>
          <a:lstStyle/>
          <a:p>
            <a:pPr marL="0" indent="0">
              <a:buNone/>
            </a:pPr>
            <a:r>
              <a:rPr lang="en-US" sz="2000" b="1" dirty="0">
                <a:solidFill>
                  <a:srgbClr val="C46A4A"/>
                </a:solidFill>
                <a:latin typeface="Segoe UI" pitchFamily="34" charset="0"/>
                <a:ea typeface="Segoe UI" pitchFamily="34" charset="-122"/>
                <a:cs typeface="Segoe UI" pitchFamily="34" charset="-120"/>
              </a:rPr>
              <a:t>Talk. Log. Stay in sync.</a:t>
            </a:r>
            <a:endParaRPr lang="en-US" sz="2000" dirty="0"/>
          </a:p>
        </p:txBody>
      </p:sp>
      <p:sp>
        <p:nvSpPr>
          <p:cNvPr id="7" name="Shape 3"/>
          <p:cNvSpPr/>
          <p:nvPr/>
        </p:nvSpPr>
        <p:spPr>
          <a:xfrm>
            <a:off x="8189873" y="493776"/>
            <a:ext cx="2639774" cy="5870448"/>
          </a:xfrm>
          <a:prstGeom prst="roundRect">
            <a:avLst>
              <a:gd name="adj" fmla="val 4157"/>
            </a:avLst>
          </a:prstGeom>
          <a:solidFill>
            <a:srgbClr val="FFFDF8"/>
          </a:solidFill>
          <a:ln w="12700">
            <a:solidFill>
              <a:srgbClr val="E6DCCD"/>
            </a:solidFill>
            <a:prstDash val="solid"/>
          </a:ln>
          <a:effectLst>
            <a:outerShdw blurRad="127000" dist="50800" dir="5400000" algn="bl" rotWithShape="0">
              <a:srgbClr val="000000">
                <a:alpha val="14000"/>
              </a:srgbClr>
            </a:outerShdw>
          </a:effectLst>
        </p:spPr>
      </p:sp>
      <p:pic>
        <p:nvPicPr>
          <p:cNvPr id="8" name="Image 1" descr="C:\Users\obaid\OneDrive\Desktop\AI Intg Class\Duet\docs\screenshots\05-voice-logged-phone.png"/>
          <p:cNvPicPr>
            <a:picLocks noChangeAspect="1"/>
          </p:cNvPicPr>
          <p:nvPr/>
        </p:nvPicPr>
        <p:blipFill>
          <a:blip r:embed="rId6"/>
          <a:stretch>
            <a:fillRect/>
          </a:stretch>
        </p:blipFill>
        <p:spPr>
          <a:xfrm>
            <a:off x="8244737" y="548640"/>
            <a:ext cx="2530046" cy="5760720"/>
          </a:xfrm>
          <a:prstGeom prst="rect">
            <a:avLst/>
          </a:prstGeom>
        </p:spPr>
      </p:pic>
      <p:pic>
        <p:nvPicPr>
          <p:cNvPr id="2" name="Voiceover 3">
            <a:hlinkClick r:id="" action="ppaction://media"/>
            <a:extLst>
              <a:ext uri="{FF2B5EF4-FFF2-40B4-BE49-F238E27FC236}">
                <a16:creationId xmlns:a16="http://schemas.microsoft.com/office/drawing/2014/main" id="{454EA41A-6309-20EA-2800-6D2CAF802FEA}"/>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11400">
        <p:fade/>
      </p:transition>
    </mc:Choice>
    <mc:Fallback>
      <p:transition spd="med" advTm="114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48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0488"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HOW IT WORKS</a:t>
            </a:r>
            <a:endParaRPr lang="en-US" sz="1200" dirty="0"/>
          </a:p>
        </p:txBody>
      </p:sp>
      <p:sp>
        <p:nvSpPr>
          <p:cNvPr id="4" name="Text 0"/>
          <p:cNvSpPr>
            <a:spLocks noGrp="1"/>
          </p:cNvSpPr>
          <p:nvPr>
            <p:ph type="title" idx="100" hasCustomPrompt="1"/>
          </p:nvPr>
        </p:nvSpPr>
        <p:spPr>
          <a:xfrm>
            <a:off x="640080" y="658368"/>
            <a:ext cx="10881360" cy="822960"/>
          </a:xfrm>
          <a:prstGeom prst="rect">
            <a:avLst/>
          </a:prstGeom>
          <a:noFill/>
          <a:ln/>
        </p:spPr>
        <p:txBody>
          <a:bodyPr wrap="square" lIns="0" tIns="0" rIns="0" bIns="0" rtlCol="0" anchor="ctr"/>
          <a:lstStyle/>
          <a:p>
            <a:pPr marL="0" indent="0" algn="l">
              <a:buNone/>
            </a:pPr>
            <a:r>
              <a:rPr lang="en-US" sz="3400" b="1" dirty="0">
                <a:solidFill>
                  <a:srgbClr val="2A2622"/>
                </a:solidFill>
                <a:latin typeface="Georgia" pitchFamily="34" charset="0"/>
                <a:ea typeface="Georgia" pitchFamily="34" charset="-122"/>
                <a:cs typeface="Georgia" pitchFamily="34" charset="-120"/>
              </a:rPr>
              <a:t>One sentence. That’s the whole interface.</a:t>
            </a:r>
            <a:endParaRPr lang="en-US" sz="3400" dirty="0"/>
          </a:p>
        </p:txBody>
      </p:sp>
      <p:sp>
        <p:nvSpPr>
          <p:cNvPr id="5" name="Shape 2"/>
          <p:cNvSpPr/>
          <p:nvPr/>
        </p:nvSpPr>
        <p:spPr>
          <a:xfrm>
            <a:off x="640080" y="1828800"/>
            <a:ext cx="3337560" cy="2834640"/>
          </a:xfrm>
          <a:prstGeom prst="roundRect">
            <a:avLst>
              <a:gd name="adj" fmla="val 4839"/>
            </a:avLst>
          </a:prstGeom>
          <a:solidFill>
            <a:srgbClr val="FFFDF8"/>
          </a:solidFill>
          <a:ln w="12700">
            <a:solidFill>
              <a:srgbClr val="E6DCCD"/>
            </a:solidFill>
            <a:prstDash val="solid"/>
          </a:ln>
        </p:spPr>
      </p:sp>
      <p:sp>
        <p:nvSpPr>
          <p:cNvPr id="6" name="Shape 3"/>
          <p:cNvSpPr/>
          <p:nvPr/>
        </p:nvSpPr>
        <p:spPr>
          <a:xfrm>
            <a:off x="914400" y="2103120"/>
            <a:ext cx="685800" cy="685800"/>
          </a:xfrm>
          <a:prstGeom prst="ellipse">
            <a:avLst/>
          </a:prstGeom>
          <a:solidFill>
            <a:srgbClr val="C46A4A"/>
          </a:solidFill>
          <a:ln w="12700">
            <a:solidFill>
              <a:srgbClr val="C46A4A"/>
            </a:solidFill>
            <a:prstDash val="solid"/>
          </a:ln>
        </p:spPr>
      </p:sp>
      <p:sp>
        <p:nvSpPr>
          <p:cNvPr id="7" name="Text 4"/>
          <p:cNvSpPr/>
          <p:nvPr/>
        </p:nvSpPr>
        <p:spPr>
          <a:xfrm>
            <a:off x="914400" y="2103120"/>
            <a:ext cx="685800" cy="685800"/>
          </a:xfrm>
          <a:prstGeom prst="rect">
            <a:avLst/>
          </a:prstGeom>
          <a:noFill/>
          <a:ln/>
        </p:spPr>
        <p:txBody>
          <a:bodyPr wrap="square" rtlCol="0" anchor="ctr"/>
          <a:lstStyle/>
          <a:p>
            <a:pPr marL="0" indent="0" algn="ctr">
              <a:buNone/>
            </a:pPr>
            <a:r>
              <a:rPr lang="en-US" sz="2400" b="1" dirty="0">
                <a:solidFill>
                  <a:srgbClr val="FFFDF8"/>
                </a:solidFill>
                <a:latin typeface="Georgia" pitchFamily="34" charset="0"/>
                <a:ea typeface="Georgia" pitchFamily="34" charset="-122"/>
                <a:cs typeface="Georgia" pitchFamily="34" charset="-120"/>
              </a:rPr>
              <a:t>1</a:t>
            </a:r>
            <a:endParaRPr lang="en-US" sz="2400" dirty="0"/>
          </a:p>
        </p:txBody>
      </p:sp>
      <p:sp>
        <p:nvSpPr>
          <p:cNvPr id="8" name="Text 5"/>
          <p:cNvSpPr/>
          <p:nvPr/>
        </p:nvSpPr>
        <p:spPr>
          <a:xfrm>
            <a:off x="914400" y="2971800"/>
            <a:ext cx="2834640" cy="502920"/>
          </a:xfrm>
          <a:prstGeom prst="rect">
            <a:avLst/>
          </a:prstGeom>
          <a:noFill/>
          <a:ln/>
        </p:spPr>
        <p:txBody>
          <a:bodyPr wrap="square" rtlCol="0" anchor="ctr"/>
          <a:lstStyle/>
          <a:p>
            <a:pPr marL="0" indent="0">
              <a:buNone/>
            </a:pPr>
            <a:r>
              <a:rPr lang="en-US" sz="2200" b="1" dirty="0">
                <a:solidFill>
                  <a:srgbClr val="2A2622"/>
                </a:solidFill>
                <a:latin typeface="Segoe UI" pitchFamily="34" charset="0"/>
                <a:ea typeface="Segoe UI" pitchFamily="34" charset="-122"/>
                <a:cs typeface="Segoe UI" pitchFamily="34" charset="-120"/>
              </a:rPr>
              <a:t>Say it</a:t>
            </a:r>
            <a:endParaRPr lang="en-US" sz="2200" dirty="0"/>
          </a:p>
        </p:txBody>
      </p:sp>
      <p:sp>
        <p:nvSpPr>
          <p:cNvPr id="9" name="Text 6"/>
          <p:cNvSpPr/>
          <p:nvPr/>
        </p:nvSpPr>
        <p:spPr>
          <a:xfrm>
            <a:off x="914400" y="3474720"/>
            <a:ext cx="2834640" cy="1005840"/>
          </a:xfrm>
          <a:prstGeom prst="rect">
            <a:avLst/>
          </a:prstGeom>
          <a:noFill/>
          <a:ln/>
        </p:spPr>
        <p:txBody>
          <a:bodyPr wrap="square" rtlCol="0" anchor="t"/>
          <a:lstStyle/>
          <a:p>
            <a:pPr marL="0" indent="0">
              <a:buNone/>
            </a:pPr>
            <a:r>
              <a:rPr lang="en-US" sz="1600" dirty="0">
                <a:solidFill>
                  <a:srgbClr val="6F675E"/>
                </a:solidFill>
                <a:latin typeface="Segoe UI" pitchFamily="34" charset="0"/>
                <a:ea typeface="Segoe UI" pitchFamily="34" charset="-122"/>
                <a:cs typeface="Segoe UI" pitchFamily="34" charset="-120"/>
              </a:rPr>
              <a:t>“Just gave her a 3 ounce bottle.”</a:t>
            </a:r>
            <a:endParaRPr lang="en-US" sz="1600" dirty="0"/>
          </a:p>
        </p:txBody>
      </p:sp>
      <p:sp>
        <p:nvSpPr>
          <p:cNvPr id="10" name="Shape 7"/>
          <p:cNvSpPr/>
          <p:nvPr/>
        </p:nvSpPr>
        <p:spPr>
          <a:xfrm>
            <a:off x="4023360" y="3246120"/>
            <a:ext cx="365760" cy="0"/>
          </a:xfrm>
          <a:prstGeom prst="line">
            <a:avLst/>
          </a:prstGeom>
          <a:noFill/>
          <a:ln w="31750">
            <a:solidFill>
              <a:srgbClr val="6F675E"/>
            </a:solidFill>
            <a:prstDash val="solid"/>
            <a:tailEnd type="triangle"/>
          </a:ln>
        </p:spPr>
      </p:sp>
      <p:sp>
        <p:nvSpPr>
          <p:cNvPr id="11" name="Shape 8"/>
          <p:cNvSpPr/>
          <p:nvPr/>
        </p:nvSpPr>
        <p:spPr>
          <a:xfrm>
            <a:off x="4434840" y="1828800"/>
            <a:ext cx="3337560" cy="2834640"/>
          </a:xfrm>
          <a:prstGeom prst="roundRect">
            <a:avLst>
              <a:gd name="adj" fmla="val 4839"/>
            </a:avLst>
          </a:prstGeom>
          <a:solidFill>
            <a:srgbClr val="E4EEE7"/>
          </a:solidFill>
          <a:ln w="12700">
            <a:solidFill>
              <a:srgbClr val="E6DCCD"/>
            </a:solidFill>
            <a:prstDash val="solid"/>
          </a:ln>
        </p:spPr>
      </p:sp>
      <p:sp>
        <p:nvSpPr>
          <p:cNvPr id="12" name="Shape 9"/>
          <p:cNvSpPr/>
          <p:nvPr/>
        </p:nvSpPr>
        <p:spPr>
          <a:xfrm>
            <a:off x="4709160" y="2103120"/>
            <a:ext cx="685800" cy="685800"/>
          </a:xfrm>
          <a:prstGeom prst="ellipse">
            <a:avLst/>
          </a:prstGeom>
          <a:solidFill>
            <a:srgbClr val="C46A4A"/>
          </a:solidFill>
          <a:ln w="12700">
            <a:solidFill>
              <a:srgbClr val="C46A4A"/>
            </a:solidFill>
            <a:prstDash val="solid"/>
          </a:ln>
        </p:spPr>
      </p:sp>
      <p:sp>
        <p:nvSpPr>
          <p:cNvPr id="13" name="Text 10"/>
          <p:cNvSpPr/>
          <p:nvPr/>
        </p:nvSpPr>
        <p:spPr>
          <a:xfrm>
            <a:off x="4709160" y="2103120"/>
            <a:ext cx="685800" cy="685800"/>
          </a:xfrm>
          <a:prstGeom prst="rect">
            <a:avLst/>
          </a:prstGeom>
          <a:noFill/>
          <a:ln/>
        </p:spPr>
        <p:txBody>
          <a:bodyPr wrap="square" rtlCol="0" anchor="ctr"/>
          <a:lstStyle/>
          <a:p>
            <a:pPr marL="0" indent="0" algn="ctr">
              <a:buNone/>
            </a:pPr>
            <a:r>
              <a:rPr lang="en-US" sz="2400" b="1" dirty="0">
                <a:solidFill>
                  <a:srgbClr val="FFFDF8"/>
                </a:solidFill>
                <a:latin typeface="Georgia" pitchFamily="34" charset="0"/>
                <a:ea typeface="Georgia" pitchFamily="34" charset="-122"/>
                <a:cs typeface="Georgia" pitchFamily="34" charset="-120"/>
              </a:rPr>
              <a:t>2</a:t>
            </a:r>
            <a:endParaRPr lang="en-US" sz="2400" dirty="0"/>
          </a:p>
        </p:txBody>
      </p:sp>
      <p:sp>
        <p:nvSpPr>
          <p:cNvPr id="14" name="Text 11"/>
          <p:cNvSpPr/>
          <p:nvPr/>
        </p:nvSpPr>
        <p:spPr>
          <a:xfrm>
            <a:off x="4709160" y="2971800"/>
            <a:ext cx="2834640" cy="502920"/>
          </a:xfrm>
          <a:prstGeom prst="rect">
            <a:avLst/>
          </a:prstGeom>
          <a:noFill/>
          <a:ln/>
        </p:spPr>
        <p:txBody>
          <a:bodyPr wrap="square" rtlCol="0" anchor="ctr"/>
          <a:lstStyle/>
          <a:p>
            <a:pPr marL="0" indent="0">
              <a:buNone/>
            </a:pPr>
            <a:r>
              <a:rPr lang="en-US" sz="2200" b="1" dirty="0">
                <a:solidFill>
                  <a:srgbClr val="2A2622"/>
                </a:solidFill>
                <a:latin typeface="Segoe UI" pitchFamily="34" charset="0"/>
                <a:ea typeface="Segoe UI" pitchFamily="34" charset="-122"/>
                <a:cs typeface="Segoe UI" pitchFamily="34" charset="-120"/>
              </a:rPr>
              <a:t>Duet logs it</a:t>
            </a:r>
            <a:endParaRPr lang="en-US" sz="2200" dirty="0"/>
          </a:p>
        </p:txBody>
      </p:sp>
      <p:sp>
        <p:nvSpPr>
          <p:cNvPr id="15" name="Text 12"/>
          <p:cNvSpPr/>
          <p:nvPr/>
        </p:nvSpPr>
        <p:spPr>
          <a:xfrm>
            <a:off x="4709160" y="3474720"/>
            <a:ext cx="2834640" cy="1005840"/>
          </a:xfrm>
          <a:prstGeom prst="rect">
            <a:avLst/>
          </a:prstGeom>
          <a:noFill/>
          <a:ln/>
        </p:spPr>
        <p:txBody>
          <a:bodyPr wrap="square" rtlCol="0" anchor="t"/>
          <a:lstStyle/>
          <a:p>
            <a:pPr marL="0" indent="0">
              <a:buNone/>
            </a:pPr>
            <a:r>
              <a:rPr lang="en-US" sz="1600" dirty="0">
                <a:solidFill>
                  <a:srgbClr val="6F675E"/>
                </a:solidFill>
                <a:latin typeface="Segoe UI" pitchFamily="34" charset="0"/>
                <a:ea typeface="Segoe UI" pitchFamily="34" charset="-122"/>
                <a:cs typeface="Segoe UI" pitchFamily="34" charset="-120"/>
              </a:rPr>
              <a:t>Feed · 3 oz (90 ml) · 3:02 AM</a:t>
            </a:r>
            <a:endParaRPr lang="en-US" sz="1600" dirty="0"/>
          </a:p>
        </p:txBody>
      </p:sp>
      <p:sp>
        <p:nvSpPr>
          <p:cNvPr id="16" name="Shape 13"/>
          <p:cNvSpPr/>
          <p:nvPr/>
        </p:nvSpPr>
        <p:spPr>
          <a:xfrm>
            <a:off x="7818120" y="3246120"/>
            <a:ext cx="365760" cy="0"/>
          </a:xfrm>
          <a:prstGeom prst="line">
            <a:avLst/>
          </a:prstGeom>
          <a:noFill/>
          <a:ln w="31750">
            <a:solidFill>
              <a:srgbClr val="6F675E"/>
            </a:solidFill>
            <a:prstDash val="solid"/>
            <a:tailEnd type="triangle"/>
          </a:ln>
        </p:spPr>
      </p:sp>
      <p:sp>
        <p:nvSpPr>
          <p:cNvPr id="17" name="Shape 14"/>
          <p:cNvSpPr/>
          <p:nvPr/>
        </p:nvSpPr>
        <p:spPr>
          <a:xfrm>
            <a:off x="8229600" y="1828800"/>
            <a:ext cx="3337560" cy="2834640"/>
          </a:xfrm>
          <a:prstGeom prst="roundRect">
            <a:avLst>
              <a:gd name="adj" fmla="val 4839"/>
            </a:avLst>
          </a:prstGeom>
          <a:solidFill>
            <a:srgbClr val="F8E6DE"/>
          </a:solidFill>
          <a:ln w="12700">
            <a:solidFill>
              <a:srgbClr val="E6DCCD"/>
            </a:solidFill>
            <a:prstDash val="solid"/>
          </a:ln>
        </p:spPr>
      </p:sp>
      <p:sp>
        <p:nvSpPr>
          <p:cNvPr id="18" name="Shape 15"/>
          <p:cNvSpPr/>
          <p:nvPr/>
        </p:nvSpPr>
        <p:spPr>
          <a:xfrm>
            <a:off x="8503920" y="2103120"/>
            <a:ext cx="685800" cy="685800"/>
          </a:xfrm>
          <a:prstGeom prst="ellipse">
            <a:avLst/>
          </a:prstGeom>
          <a:solidFill>
            <a:srgbClr val="C46A4A"/>
          </a:solidFill>
          <a:ln w="12700">
            <a:solidFill>
              <a:srgbClr val="C46A4A"/>
            </a:solidFill>
            <a:prstDash val="solid"/>
          </a:ln>
        </p:spPr>
      </p:sp>
      <p:sp>
        <p:nvSpPr>
          <p:cNvPr id="19" name="Text 16"/>
          <p:cNvSpPr/>
          <p:nvPr/>
        </p:nvSpPr>
        <p:spPr>
          <a:xfrm>
            <a:off x="8503920" y="2103120"/>
            <a:ext cx="685800" cy="685800"/>
          </a:xfrm>
          <a:prstGeom prst="rect">
            <a:avLst/>
          </a:prstGeom>
          <a:noFill/>
          <a:ln/>
        </p:spPr>
        <p:txBody>
          <a:bodyPr wrap="square" rtlCol="0" anchor="ctr"/>
          <a:lstStyle/>
          <a:p>
            <a:pPr marL="0" indent="0" algn="ctr">
              <a:buNone/>
            </a:pPr>
            <a:r>
              <a:rPr lang="en-US" sz="2400" b="1" dirty="0">
                <a:solidFill>
                  <a:srgbClr val="FFFDF8"/>
                </a:solidFill>
                <a:latin typeface="Georgia" pitchFamily="34" charset="0"/>
                <a:ea typeface="Georgia" pitchFamily="34" charset="-122"/>
                <a:cs typeface="Georgia" pitchFamily="34" charset="-120"/>
              </a:rPr>
              <a:t>3</a:t>
            </a:r>
            <a:endParaRPr lang="en-US" sz="2400" dirty="0"/>
          </a:p>
        </p:txBody>
      </p:sp>
      <p:sp>
        <p:nvSpPr>
          <p:cNvPr id="20" name="Text 17"/>
          <p:cNvSpPr/>
          <p:nvPr/>
        </p:nvSpPr>
        <p:spPr>
          <a:xfrm>
            <a:off x="8503920" y="2971800"/>
            <a:ext cx="2834640" cy="502920"/>
          </a:xfrm>
          <a:prstGeom prst="rect">
            <a:avLst/>
          </a:prstGeom>
          <a:noFill/>
          <a:ln/>
        </p:spPr>
        <p:txBody>
          <a:bodyPr wrap="square" rtlCol="0" anchor="ctr"/>
          <a:lstStyle/>
          <a:p>
            <a:pPr marL="0" indent="0">
              <a:buNone/>
            </a:pPr>
            <a:r>
              <a:rPr lang="en-US" sz="2200" b="1" dirty="0">
                <a:solidFill>
                  <a:srgbClr val="2A2622"/>
                </a:solidFill>
                <a:latin typeface="Segoe UI" pitchFamily="34" charset="0"/>
                <a:ea typeface="Segoe UI" pitchFamily="34" charset="-122"/>
                <a:cs typeface="Segoe UI" pitchFamily="34" charset="-120"/>
              </a:rPr>
              <a:t>Everyone sees it</a:t>
            </a:r>
            <a:endParaRPr lang="en-US" sz="2200" dirty="0"/>
          </a:p>
        </p:txBody>
      </p:sp>
      <p:sp>
        <p:nvSpPr>
          <p:cNvPr id="21" name="Text 18"/>
          <p:cNvSpPr/>
          <p:nvPr/>
        </p:nvSpPr>
        <p:spPr>
          <a:xfrm>
            <a:off x="8503920" y="3474720"/>
            <a:ext cx="2834640" cy="1005840"/>
          </a:xfrm>
          <a:prstGeom prst="rect">
            <a:avLst/>
          </a:prstGeom>
          <a:noFill/>
          <a:ln/>
        </p:spPr>
        <p:txBody>
          <a:bodyPr wrap="square" rtlCol="0" anchor="t"/>
          <a:lstStyle/>
          <a:p>
            <a:pPr marL="0" indent="0">
              <a:buNone/>
            </a:pPr>
            <a:r>
              <a:rPr lang="en-US" sz="1600" dirty="0">
                <a:solidFill>
                  <a:srgbClr val="6F675E"/>
                </a:solidFill>
                <a:latin typeface="Segoe UI" pitchFamily="34" charset="0"/>
                <a:ea typeface="Segoe UI" pitchFamily="34" charset="-122"/>
                <a:cs typeface="Segoe UI" pitchFamily="34" charset="-120"/>
              </a:rPr>
              <a:t>Every caregiver’s screen updates in about a second.</a:t>
            </a:r>
            <a:endParaRPr lang="en-US" sz="1600" dirty="0"/>
          </a:p>
        </p:txBody>
      </p:sp>
      <p:sp>
        <p:nvSpPr>
          <p:cNvPr id="22" name="Text 19"/>
          <p:cNvSpPr/>
          <p:nvPr/>
        </p:nvSpPr>
        <p:spPr>
          <a:xfrm>
            <a:off x="640080" y="5074920"/>
            <a:ext cx="10881360" cy="731520"/>
          </a:xfrm>
          <a:prstGeom prst="rect">
            <a:avLst/>
          </a:prstGeom>
          <a:noFill/>
          <a:ln/>
        </p:spPr>
        <p:txBody>
          <a:bodyPr wrap="square" rtlCol="0" anchor="ctr"/>
          <a:lstStyle/>
          <a:p>
            <a:pPr marL="0" indent="0" algn="ctr">
              <a:buNone/>
            </a:pPr>
            <a:r>
              <a:rPr lang="en-US" sz="2800" b="1" dirty="0">
                <a:solidFill>
                  <a:srgbClr val="4F6F5C"/>
                </a:solidFill>
                <a:latin typeface="Georgia" pitchFamily="34" charset="0"/>
                <a:ea typeface="Georgia" pitchFamily="34" charset="-122"/>
                <a:cs typeface="Georgia" pitchFamily="34" charset="-120"/>
              </a:rPr>
              <a:t>No forms. No typing. One sentence.</a:t>
            </a:r>
            <a:endParaRPr lang="en-US" sz="2800" dirty="0"/>
          </a:p>
        </p:txBody>
      </p:sp>
      <p:pic>
        <p:nvPicPr>
          <p:cNvPr id="2" name="Voiceover 4">
            <a:hlinkClick r:id="" action="ppaction://media"/>
            <a:extLst>
              <a:ext uri="{FF2B5EF4-FFF2-40B4-BE49-F238E27FC236}">
                <a16:creationId xmlns:a16="http://schemas.microsoft.com/office/drawing/2014/main" id="{F96DBB24-035E-6487-541C-6D47A519D2F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20700">
        <p:fade/>
      </p:transition>
    </mc:Choice>
    <mc:Fallback>
      <p:transition spd="med" advTm="207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77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9776"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SEE IT IN ACTION</a:t>
            </a:r>
            <a:endParaRPr lang="en-US" sz="1200" dirty="0"/>
          </a:p>
        </p:txBody>
      </p:sp>
      <p:sp>
        <p:nvSpPr>
          <p:cNvPr id="4" name="Text 0"/>
          <p:cNvSpPr>
            <a:spLocks noGrp="1"/>
          </p:cNvSpPr>
          <p:nvPr>
            <p:ph type="title" idx="100" hasCustomPrompt="1"/>
          </p:nvPr>
        </p:nvSpPr>
        <p:spPr>
          <a:xfrm>
            <a:off x="640080" y="658368"/>
            <a:ext cx="10881360" cy="822960"/>
          </a:xfrm>
          <a:prstGeom prst="rect">
            <a:avLst/>
          </a:prstGeom>
          <a:noFill/>
          <a:ln/>
        </p:spPr>
        <p:txBody>
          <a:bodyPr wrap="square" lIns="0" tIns="0" rIns="0" bIns="0" rtlCol="0" anchor="ctr"/>
          <a:lstStyle/>
          <a:p>
            <a:pPr marL="0" indent="0" algn="l">
              <a:buNone/>
            </a:pPr>
            <a:r>
              <a:rPr lang="en-US" sz="3400" b="1" dirty="0">
                <a:solidFill>
                  <a:srgbClr val="2A2622"/>
                </a:solidFill>
                <a:latin typeface="Georgia" pitchFamily="34" charset="0"/>
                <a:ea typeface="Georgia" pitchFamily="34" charset="-122"/>
                <a:cs typeface="Georgia" pitchFamily="34" charset="-120"/>
              </a:rPr>
              <a:t>One household, two screens, live</a:t>
            </a:r>
            <a:endParaRPr lang="en-US" sz="3400" dirty="0"/>
          </a:p>
        </p:txBody>
      </p:sp>
      <p:sp>
        <p:nvSpPr>
          <p:cNvPr id="5" name="Shape 2"/>
          <p:cNvSpPr/>
          <p:nvPr/>
        </p:nvSpPr>
        <p:spPr>
          <a:xfrm>
            <a:off x="2049028" y="1636776"/>
            <a:ext cx="1936983" cy="4270248"/>
          </a:xfrm>
          <a:prstGeom prst="roundRect">
            <a:avLst>
              <a:gd name="adj" fmla="val 5665"/>
            </a:avLst>
          </a:prstGeom>
          <a:solidFill>
            <a:srgbClr val="FFFDF8"/>
          </a:solidFill>
          <a:ln w="12700">
            <a:solidFill>
              <a:srgbClr val="E6DCCD"/>
            </a:solidFill>
            <a:prstDash val="solid"/>
          </a:ln>
          <a:effectLst>
            <a:outerShdw blurRad="127000" dist="50800" dir="5400000" algn="bl" rotWithShape="0">
              <a:srgbClr val="000000">
                <a:alpha val="14000"/>
              </a:srgbClr>
            </a:outerShdw>
          </a:effectLst>
        </p:spPr>
      </p:sp>
      <p:pic>
        <p:nvPicPr>
          <p:cNvPr id="6" name="Image 0" descr="C:\Users\obaid\OneDrive\Desktop\AI Intg Class\Duet\docs\screenshots\05-voice-logged-phone.png"/>
          <p:cNvPicPr>
            <a:picLocks noChangeAspect="1"/>
          </p:cNvPicPr>
          <p:nvPr/>
        </p:nvPicPr>
        <p:blipFill>
          <a:blip r:embed="rId5"/>
          <a:stretch>
            <a:fillRect/>
          </a:stretch>
        </p:blipFill>
        <p:spPr>
          <a:xfrm>
            <a:off x="2103892" y="1691640"/>
            <a:ext cx="1827255" cy="4160520"/>
          </a:xfrm>
          <a:prstGeom prst="rect">
            <a:avLst/>
          </a:prstGeom>
        </p:spPr>
      </p:pic>
      <p:sp>
        <p:nvSpPr>
          <p:cNvPr id="7" name="Shape 3"/>
          <p:cNvSpPr/>
          <p:nvPr/>
        </p:nvSpPr>
        <p:spPr>
          <a:xfrm>
            <a:off x="6569723" y="1636776"/>
            <a:ext cx="4051273" cy="4270248"/>
          </a:xfrm>
          <a:prstGeom prst="roundRect">
            <a:avLst>
              <a:gd name="adj" fmla="val 2708"/>
            </a:avLst>
          </a:prstGeom>
          <a:solidFill>
            <a:srgbClr val="FFFDF8"/>
          </a:solidFill>
          <a:ln w="12700">
            <a:solidFill>
              <a:srgbClr val="E6DCCD"/>
            </a:solidFill>
            <a:prstDash val="solid"/>
          </a:ln>
          <a:effectLst>
            <a:outerShdw blurRad="127000" dist="50800" dir="5400000" algn="bl" rotWithShape="0">
              <a:srgbClr val="000000">
                <a:alpha val="14000"/>
              </a:srgbClr>
            </a:outerShdw>
          </a:effectLst>
        </p:spPr>
      </p:sp>
      <p:pic>
        <p:nvPicPr>
          <p:cNvPr id="8" name="Image 1" descr="C:\Users\obaid\OneDrive\Desktop\AI Intg Class\Duet\docs\screenshots\04-today-desktop.png"/>
          <p:cNvPicPr>
            <a:picLocks noChangeAspect="1"/>
          </p:cNvPicPr>
          <p:nvPr/>
        </p:nvPicPr>
        <p:blipFill>
          <a:blip r:embed="rId6"/>
          <a:srcRect l="20000" r="20000"/>
          <a:stretch/>
        </p:blipFill>
        <p:spPr>
          <a:xfrm>
            <a:off x="6624587" y="1691640"/>
            <a:ext cx="3941545" cy="4160520"/>
          </a:xfrm>
          <a:prstGeom prst="rect">
            <a:avLst/>
          </a:prstGeom>
        </p:spPr>
      </p:pic>
      <p:sp>
        <p:nvSpPr>
          <p:cNvPr id="9" name="Text 4"/>
          <p:cNvSpPr/>
          <p:nvPr/>
        </p:nvSpPr>
        <p:spPr>
          <a:xfrm>
            <a:off x="1097280" y="5989320"/>
            <a:ext cx="3840480" cy="365760"/>
          </a:xfrm>
          <a:prstGeom prst="rect">
            <a:avLst/>
          </a:prstGeom>
          <a:noFill/>
          <a:ln/>
        </p:spPr>
        <p:txBody>
          <a:bodyPr wrap="square" rtlCol="0" anchor="ctr"/>
          <a:lstStyle/>
          <a:p>
            <a:pPr marL="0" indent="0" algn="ctr">
              <a:buNone/>
            </a:pPr>
            <a:r>
              <a:rPr lang="en-US" sz="1500" b="1" dirty="0">
                <a:solidFill>
                  <a:srgbClr val="2A2622"/>
                </a:solidFill>
                <a:latin typeface="Segoe UI" pitchFamily="34" charset="0"/>
                <a:ea typeface="Segoe UI" pitchFamily="34" charset="-122"/>
                <a:cs typeface="Segoe UI" pitchFamily="34" charset="-120"/>
              </a:rPr>
              <a:t>Alex logs by voice on her phone</a:t>
            </a:r>
            <a:endParaRPr lang="en-US" sz="1500" dirty="0"/>
          </a:p>
        </p:txBody>
      </p:sp>
      <p:sp>
        <p:nvSpPr>
          <p:cNvPr id="10" name="Text 5"/>
          <p:cNvSpPr/>
          <p:nvPr/>
        </p:nvSpPr>
        <p:spPr>
          <a:xfrm>
            <a:off x="6035040" y="5989320"/>
            <a:ext cx="5120640" cy="365760"/>
          </a:xfrm>
          <a:prstGeom prst="rect">
            <a:avLst/>
          </a:prstGeom>
          <a:noFill/>
          <a:ln/>
        </p:spPr>
        <p:txBody>
          <a:bodyPr wrap="square" rtlCol="0" anchor="ctr"/>
          <a:lstStyle/>
          <a:p>
            <a:pPr marL="0" indent="0" algn="ctr">
              <a:buNone/>
            </a:pPr>
            <a:r>
              <a:rPr lang="en-US" sz="1500" b="1" dirty="0">
                <a:solidFill>
                  <a:srgbClr val="2A2622"/>
                </a:solidFill>
                <a:latin typeface="Segoe UI" pitchFamily="34" charset="0"/>
                <a:ea typeface="Segoe UI" pitchFamily="34" charset="-122"/>
                <a:cs typeface="Segoe UI" pitchFamily="34" charset="-120"/>
              </a:rPr>
              <a:t>Sam sees it live on a laptop</a:t>
            </a:r>
            <a:endParaRPr lang="en-US" sz="1500" dirty="0"/>
          </a:p>
        </p:txBody>
      </p:sp>
      <p:pic>
        <p:nvPicPr>
          <p:cNvPr id="2" name="Voiceover 5">
            <a:hlinkClick r:id="" action="ppaction://media"/>
            <a:extLst>
              <a:ext uri="{FF2B5EF4-FFF2-40B4-BE49-F238E27FC236}">
                <a16:creationId xmlns:a16="http://schemas.microsoft.com/office/drawing/2014/main" id="{4690516D-40A0-FA48-2DFA-75AD14B5CCE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19100">
        <p:fade/>
      </p:transition>
    </mc:Choice>
    <mc:Fallback>
      <p:transition spd="med" advTm="191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19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8192"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WHY DUET</a:t>
            </a:r>
            <a:endParaRPr lang="en-US" sz="1200" dirty="0"/>
          </a:p>
        </p:txBody>
      </p:sp>
      <p:sp>
        <p:nvSpPr>
          <p:cNvPr id="4" name="Text 0"/>
          <p:cNvSpPr>
            <a:spLocks noGrp="1"/>
          </p:cNvSpPr>
          <p:nvPr>
            <p:ph type="title" idx="100" hasCustomPrompt="1"/>
          </p:nvPr>
        </p:nvSpPr>
        <p:spPr>
          <a:xfrm>
            <a:off x="640080" y="658368"/>
            <a:ext cx="10881360" cy="822960"/>
          </a:xfrm>
          <a:prstGeom prst="rect">
            <a:avLst/>
          </a:prstGeom>
          <a:noFill/>
          <a:ln/>
        </p:spPr>
        <p:txBody>
          <a:bodyPr wrap="square" lIns="0" tIns="0" rIns="0" bIns="0" rtlCol="0" anchor="ctr"/>
          <a:lstStyle/>
          <a:p>
            <a:pPr marL="0" indent="0" algn="l">
              <a:buNone/>
            </a:pPr>
            <a:r>
              <a:rPr lang="en-US" sz="3400" b="1" dirty="0">
                <a:solidFill>
                  <a:srgbClr val="2A2622"/>
                </a:solidFill>
                <a:latin typeface="Georgia" pitchFamily="34" charset="0"/>
                <a:ea typeface="Georgia" pitchFamily="34" charset="-122"/>
                <a:cs typeface="Georgia" pitchFamily="34" charset="-120"/>
              </a:rPr>
              <a:t>What makes Duet different</a:t>
            </a:r>
            <a:endParaRPr lang="en-US" sz="3400" dirty="0"/>
          </a:p>
        </p:txBody>
      </p:sp>
      <p:sp>
        <p:nvSpPr>
          <p:cNvPr id="5" name="Shape 2"/>
          <p:cNvSpPr/>
          <p:nvPr/>
        </p:nvSpPr>
        <p:spPr>
          <a:xfrm>
            <a:off x="640080" y="1783080"/>
            <a:ext cx="5349240" cy="2011680"/>
          </a:xfrm>
          <a:prstGeom prst="roundRect">
            <a:avLst>
              <a:gd name="adj" fmla="val 6818"/>
            </a:avLst>
          </a:prstGeom>
          <a:solidFill>
            <a:srgbClr val="FFFDF8"/>
          </a:solidFill>
          <a:ln w="12700">
            <a:solidFill>
              <a:srgbClr val="E6DCCD"/>
            </a:solidFill>
            <a:prstDash val="solid"/>
          </a:ln>
        </p:spPr>
      </p:sp>
      <p:sp>
        <p:nvSpPr>
          <p:cNvPr id="6" name="Shape 3"/>
          <p:cNvSpPr/>
          <p:nvPr/>
        </p:nvSpPr>
        <p:spPr>
          <a:xfrm>
            <a:off x="960120" y="2167128"/>
            <a:ext cx="329184" cy="329184"/>
          </a:xfrm>
          <a:prstGeom prst="ellipse">
            <a:avLst/>
          </a:prstGeom>
          <a:solidFill>
            <a:srgbClr val="C46A4A"/>
          </a:solidFill>
          <a:ln w="12700">
            <a:solidFill>
              <a:srgbClr val="C46A4A"/>
            </a:solidFill>
            <a:prstDash val="solid"/>
          </a:ln>
        </p:spPr>
      </p:sp>
      <p:sp>
        <p:nvSpPr>
          <p:cNvPr id="7" name="Text 4"/>
          <p:cNvSpPr/>
          <p:nvPr/>
        </p:nvSpPr>
        <p:spPr>
          <a:xfrm>
            <a:off x="1508760" y="2039112"/>
            <a:ext cx="4206240" cy="548640"/>
          </a:xfrm>
          <a:prstGeom prst="rect">
            <a:avLst/>
          </a:prstGeom>
          <a:noFill/>
          <a:ln/>
        </p:spPr>
        <p:txBody>
          <a:bodyPr wrap="square" rtlCol="0" anchor="ctr"/>
          <a:lstStyle/>
          <a:p>
            <a:pPr marL="0" indent="0">
              <a:buNone/>
            </a:pPr>
            <a:r>
              <a:rPr lang="en-US" sz="2200" b="1" dirty="0">
                <a:solidFill>
                  <a:srgbClr val="2A2622"/>
                </a:solidFill>
                <a:latin typeface="Segoe UI" pitchFamily="34" charset="0"/>
                <a:ea typeface="Segoe UI" pitchFamily="34" charset="-122"/>
                <a:cs typeface="Segoe UI" pitchFamily="34" charset="-120"/>
              </a:rPr>
              <a:t>Voice-first</a:t>
            </a:r>
            <a:endParaRPr lang="en-US" sz="2200" dirty="0"/>
          </a:p>
        </p:txBody>
      </p:sp>
      <p:sp>
        <p:nvSpPr>
          <p:cNvPr id="8" name="Text 5"/>
          <p:cNvSpPr/>
          <p:nvPr/>
        </p:nvSpPr>
        <p:spPr>
          <a:xfrm>
            <a:off x="1508760" y="2606040"/>
            <a:ext cx="4206240" cy="868680"/>
          </a:xfrm>
          <a:prstGeom prst="rect">
            <a:avLst/>
          </a:prstGeom>
          <a:noFill/>
          <a:ln/>
        </p:spPr>
        <p:txBody>
          <a:bodyPr wrap="square" rtlCol="0" anchor="t"/>
          <a:lstStyle/>
          <a:p>
            <a:pPr marL="0" indent="0">
              <a:buNone/>
            </a:pPr>
            <a:r>
              <a:rPr lang="en-US" sz="1600" dirty="0">
                <a:solidFill>
                  <a:srgbClr val="6F675E"/>
                </a:solidFill>
                <a:latin typeface="Segoe UI" pitchFamily="34" charset="0"/>
                <a:ea typeface="Segoe UI" pitchFamily="34" charset="-122"/>
                <a:cs typeface="Segoe UI" pitchFamily="34" charset="-120"/>
              </a:rPr>
              <a:t>Built for full hands. Speak a sentence instead of filling in a form.</a:t>
            </a:r>
            <a:endParaRPr lang="en-US" sz="1600" dirty="0"/>
          </a:p>
        </p:txBody>
      </p:sp>
      <p:sp>
        <p:nvSpPr>
          <p:cNvPr id="9" name="Shape 6"/>
          <p:cNvSpPr/>
          <p:nvPr/>
        </p:nvSpPr>
        <p:spPr>
          <a:xfrm>
            <a:off x="6172200" y="1783080"/>
            <a:ext cx="5349240" cy="2011680"/>
          </a:xfrm>
          <a:prstGeom prst="roundRect">
            <a:avLst>
              <a:gd name="adj" fmla="val 6818"/>
            </a:avLst>
          </a:prstGeom>
          <a:solidFill>
            <a:srgbClr val="FFFDF8"/>
          </a:solidFill>
          <a:ln w="12700">
            <a:solidFill>
              <a:srgbClr val="E6DCCD"/>
            </a:solidFill>
            <a:prstDash val="solid"/>
          </a:ln>
        </p:spPr>
      </p:sp>
      <p:sp>
        <p:nvSpPr>
          <p:cNvPr id="10" name="Shape 7"/>
          <p:cNvSpPr/>
          <p:nvPr/>
        </p:nvSpPr>
        <p:spPr>
          <a:xfrm>
            <a:off x="6492240" y="2167128"/>
            <a:ext cx="329184" cy="329184"/>
          </a:xfrm>
          <a:prstGeom prst="ellipse">
            <a:avLst/>
          </a:prstGeom>
          <a:solidFill>
            <a:srgbClr val="4F6F5C"/>
          </a:solidFill>
          <a:ln w="12700">
            <a:solidFill>
              <a:srgbClr val="4F6F5C"/>
            </a:solidFill>
            <a:prstDash val="solid"/>
          </a:ln>
        </p:spPr>
      </p:sp>
      <p:sp>
        <p:nvSpPr>
          <p:cNvPr id="11" name="Text 8"/>
          <p:cNvSpPr/>
          <p:nvPr/>
        </p:nvSpPr>
        <p:spPr>
          <a:xfrm>
            <a:off x="7040880" y="2039112"/>
            <a:ext cx="4206240" cy="548640"/>
          </a:xfrm>
          <a:prstGeom prst="rect">
            <a:avLst/>
          </a:prstGeom>
          <a:noFill/>
          <a:ln/>
        </p:spPr>
        <p:txBody>
          <a:bodyPr wrap="square" rtlCol="0" anchor="ctr"/>
          <a:lstStyle/>
          <a:p>
            <a:pPr marL="0" indent="0">
              <a:buNone/>
            </a:pPr>
            <a:r>
              <a:rPr lang="en-US" sz="2200" b="1" dirty="0">
                <a:solidFill>
                  <a:srgbClr val="2A2622"/>
                </a:solidFill>
                <a:latin typeface="Segoe UI" pitchFamily="34" charset="0"/>
                <a:ea typeface="Segoe UI" pitchFamily="34" charset="-122"/>
                <a:cs typeface="Segoe UI" pitchFamily="34" charset="-120"/>
              </a:rPr>
              <a:t>The whole household</a:t>
            </a:r>
            <a:endParaRPr lang="en-US" sz="2200" dirty="0"/>
          </a:p>
        </p:txBody>
      </p:sp>
      <p:sp>
        <p:nvSpPr>
          <p:cNvPr id="12" name="Text 9"/>
          <p:cNvSpPr/>
          <p:nvPr/>
        </p:nvSpPr>
        <p:spPr>
          <a:xfrm>
            <a:off x="7040880" y="2606040"/>
            <a:ext cx="4206240" cy="868680"/>
          </a:xfrm>
          <a:prstGeom prst="rect">
            <a:avLst/>
          </a:prstGeom>
          <a:noFill/>
          <a:ln/>
        </p:spPr>
        <p:txBody>
          <a:bodyPr wrap="square" rtlCol="0" anchor="t"/>
          <a:lstStyle/>
          <a:p>
            <a:pPr marL="0" indent="0">
              <a:buNone/>
            </a:pPr>
            <a:r>
              <a:rPr lang="en-US" sz="1600" dirty="0">
                <a:solidFill>
                  <a:srgbClr val="6F675E"/>
                </a:solidFill>
                <a:latin typeface="Segoe UI" pitchFamily="34" charset="0"/>
                <a:ea typeface="Segoe UI" pitchFamily="34" charset="-122"/>
                <a:cs typeface="Segoe UI" pitchFamily="34" charset="-120"/>
              </a:rPr>
              <a:t>Partners, grandparents and nannies join with a private invite code.</a:t>
            </a:r>
            <a:endParaRPr lang="en-US" sz="1600" dirty="0"/>
          </a:p>
        </p:txBody>
      </p:sp>
      <p:sp>
        <p:nvSpPr>
          <p:cNvPr id="13" name="Shape 10"/>
          <p:cNvSpPr/>
          <p:nvPr/>
        </p:nvSpPr>
        <p:spPr>
          <a:xfrm>
            <a:off x="640080" y="3977640"/>
            <a:ext cx="5349240" cy="2011680"/>
          </a:xfrm>
          <a:prstGeom prst="roundRect">
            <a:avLst>
              <a:gd name="adj" fmla="val 6818"/>
            </a:avLst>
          </a:prstGeom>
          <a:solidFill>
            <a:srgbClr val="FFFDF8"/>
          </a:solidFill>
          <a:ln w="12700">
            <a:solidFill>
              <a:srgbClr val="E6DCCD"/>
            </a:solidFill>
            <a:prstDash val="solid"/>
          </a:ln>
        </p:spPr>
      </p:sp>
      <p:sp>
        <p:nvSpPr>
          <p:cNvPr id="14" name="Shape 11"/>
          <p:cNvSpPr/>
          <p:nvPr/>
        </p:nvSpPr>
        <p:spPr>
          <a:xfrm>
            <a:off x="960120" y="4361688"/>
            <a:ext cx="329184" cy="329184"/>
          </a:xfrm>
          <a:prstGeom prst="ellipse">
            <a:avLst/>
          </a:prstGeom>
          <a:solidFill>
            <a:srgbClr val="C46A4A"/>
          </a:solidFill>
          <a:ln w="12700">
            <a:solidFill>
              <a:srgbClr val="C46A4A"/>
            </a:solidFill>
            <a:prstDash val="solid"/>
          </a:ln>
        </p:spPr>
      </p:sp>
      <p:sp>
        <p:nvSpPr>
          <p:cNvPr id="15" name="Text 12"/>
          <p:cNvSpPr/>
          <p:nvPr/>
        </p:nvSpPr>
        <p:spPr>
          <a:xfrm>
            <a:off x="1508760" y="4233672"/>
            <a:ext cx="4206240" cy="548640"/>
          </a:xfrm>
          <a:prstGeom prst="rect">
            <a:avLst/>
          </a:prstGeom>
          <a:noFill/>
          <a:ln/>
        </p:spPr>
        <p:txBody>
          <a:bodyPr wrap="square" rtlCol="0" anchor="ctr"/>
          <a:lstStyle/>
          <a:p>
            <a:pPr marL="0" indent="0">
              <a:buNone/>
            </a:pPr>
            <a:r>
              <a:rPr lang="en-US" sz="2200" b="1" dirty="0">
                <a:solidFill>
                  <a:srgbClr val="2A2622"/>
                </a:solidFill>
                <a:latin typeface="Segoe UI" pitchFamily="34" charset="0"/>
                <a:ea typeface="Segoe UI" pitchFamily="34" charset="-122"/>
                <a:cs typeface="Segoe UI" pitchFamily="34" charset="-120"/>
              </a:rPr>
              <a:t>Works everywhere</a:t>
            </a:r>
            <a:endParaRPr lang="en-US" sz="2200" dirty="0"/>
          </a:p>
        </p:txBody>
      </p:sp>
      <p:sp>
        <p:nvSpPr>
          <p:cNvPr id="16" name="Text 13"/>
          <p:cNvSpPr/>
          <p:nvPr/>
        </p:nvSpPr>
        <p:spPr>
          <a:xfrm>
            <a:off x="1508760" y="4800600"/>
            <a:ext cx="4206240" cy="868680"/>
          </a:xfrm>
          <a:prstGeom prst="rect">
            <a:avLst/>
          </a:prstGeom>
          <a:noFill/>
          <a:ln/>
        </p:spPr>
        <p:txBody>
          <a:bodyPr wrap="square" rtlCol="0" anchor="t"/>
          <a:lstStyle/>
          <a:p>
            <a:pPr marL="0" indent="0">
              <a:buNone/>
            </a:pPr>
            <a:r>
              <a:rPr lang="en-US" sz="1600" dirty="0">
                <a:solidFill>
                  <a:srgbClr val="6F675E"/>
                </a:solidFill>
                <a:latin typeface="Segoe UI" pitchFamily="34" charset="0"/>
                <a:ea typeface="Segoe UI" pitchFamily="34" charset="-122"/>
                <a:cs typeface="Segoe UI" pitchFamily="34" charset="-120"/>
              </a:rPr>
              <a:t>Any browser, installed on the home screen, or the Android app. Even offline.</a:t>
            </a:r>
            <a:endParaRPr lang="en-US" sz="1600" dirty="0"/>
          </a:p>
        </p:txBody>
      </p:sp>
      <p:sp>
        <p:nvSpPr>
          <p:cNvPr id="17" name="Shape 14"/>
          <p:cNvSpPr/>
          <p:nvPr/>
        </p:nvSpPr>
        <p:spPr>
          <a:xfrm>
            <a:off x="6172200" y="3977640"/>
            <a:ext cx="5349240" cy="2011680"/>
          </a:xfrm>
          <a:prstGeom prst="roundRect">
            <a:avLst>
              <a:gd name="adj" fmla="val 6818"/>
            </a:avLst>
          </a:prstGeom>
          <a:solidFill>
            <a:srgbClr val="FFFDF8"/>
          </a:solidFill>
          <a:ln w="12700">
            <a:solidFill>
              <a:srgbClr val="E6DCCD"/>
            </a:solidFill>
            <a:prstDash val="solid"/>
          </a:ln>
        </p:spPr>
      </p:sp>
      <p:sp>
        <p:nvSpPr>
          <p:cNvPr id="18" name="Shape 15"/>
          <p:cNvSpPr/>
          <p:nvPr/>
        </p:nvSpPr>
        <p:spPr>
          <a:xfrm>
            <a:off x="6492240" y="4361688"/>
            <a:ext cx="329184" cy="329184"/>
          </a:xfrm>
          <a:prstGeom prst="ellipse">
            <a:avLst/>
          </a:prstGeom>
          <a:solidFill>
            <a:srgbClr val="4F6F5C"/>
          </a:solidFill>
          <a:ln w="12700">
            <a:solidFill>
              <a:srgbClr val="4F6F5C"/>
            </a:solidFill>
            <a:prstDash val="solid"/>
          </a:ln>
        </p:spPr>
      </p:sp>
      <p:sp>
        <p:nvSpPr>
          <p:cNvPr id="19" name="Text 16"/>
          <p:cNvSpPr/>
          <p:nvPr/>
        </p:nvSpPr>
        <p:spPr>
          <a:xfrm>
            <a:off x="7040880" y="4233672"/>
            <a:ext cx="4206240" cy="548640"/>
          </a:xfrm>
          <a:prstGeom prst="rect">
            <a:avLst/>
          </a:prstGeom>
          <a:noFill/>
          <a:ln/>
        </p:spPr>
        <p:txBody>
          <a:bodyPr wrap="square" rtlCol="0" anchor="ctr"/>
          <a:lstStyle/>
          <a:p>
            <a:pPr marL="0" indent="0">
              <a:buNone/>
            </a:pPr>
            <a:r>
              <a:rPr lang="en-US" sz="2200" b="1" dirty="0">
                <a:solidFill>
                  <a:srgbClr val="2A2622"/>
                </a:solidFill>
                <a:latin typeface="Segoe UI" pitchFamily="34" charset="0"/>
                <a:ea typeface="Segoe UI" pitchFamily="34" charset="-122"/>
                <a:cs typeface="Segoe UI" pitchFamily="34" charset="-120"/>
              </a:rPr>
              <a:t>Safe by design</a:t>
            </a:r>
            <a:endParaRPr lang="en-US" sz="2200" dirty="0"/>
          </a:p>
        </p:txBody>
      </p:sp>
      <p:sp>
        <p:nvSpPr>
          <p:cNvPr id="20" name="Text 17"/>
          <p:cNvSpPr/>
          <p:nvPr/>
        </p:nvSpPr>
        <p:spPr>
          <a:xfrm>
            <a:off x="7040880" y="4800600"/>
            <a:ext cx="4206240" cy="868680"/>
          </a:xfrm>
          <a:prstGeom prst="rect">
            <a:avLst/>
          </a:prstGeom>
          <a:noFill/>
          <a:ln/>
        </p:spPr>
        <p:txBody>
          <a:bodyPr wrap="square" rtlCol="0" anchor="t"/>
          <a:lstStyle/>
          <a:p>
            <a:pPr marL="0" indent="0">
              <a:buNone/>
            </a:pPr>
            <a:r>
              <a:rPr lang="en-US" sz="1600" dirty="0">
                <a:solidFill>
                  <a:srgbClr val="6F675E"/>
                </a:solidFill>
                <a:latin typeface="Segoe UI" pitchFamily="34" charset="0"/>
                <a:ea typeface="Segoe UI" pitchFamily="34" charset="-122"/>
                <a:cs typeface="Segoe UI" pitchFamily="34" charset="-120"/>
              </a:rPr>
              <a:t>A log, not a doctor. Medical questions are sent to the pediatrician.</a:t>
            </a:r>
            <a:endParaRPr lang="en-US" sz="1600" dirty="0"/>
          </a:p>
        </p:txBody>
      </p:sp>
      <p:pic>
        <p:nvPicPr>
          <p:cNvPr id="2" name="Voiceover 6">
            <a:hlinkClick r:id="" action="ppaction://media"/>
            <a:extLst>
              <a:ext uri="{FF2B5EF4-FFF2-40B4-BE49-F238E27FC236}">
                <a16:creationId xmlns:a16="http://schemas.microsoft.com/office/drawing/2014/main" id="{32CBAAC8-91C9-4FC4-F1B0-FB721F26E84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28300">
        <p:fade/>
      </p:transition>
    </mc:Choice>
    <mc:Fallback>
      <p:transition spd="med" advTm="283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36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27360"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WHO IT’S FOR</a:t>
            </a:r>
            <a:endParaRPr lang="en-US" sz="1200" dirty="0"/>
          </a:p>
        </p:txBody>
      </p:sp>
      <p:sp>
        <p:nvSpPr>
          <p:cNvPr id="4" name="Text 0"/>
          <p:cNvSpPr>
            <a:spLocks noGrp="1"/>
          </p:cNvSpPr>
          <p:nvPr>
            <p:ph type="title" idx="100" hasCustomPrompt="1"/>
          </p:nvPr>
        </p:nvSpPr>
        <p:spPr>
          <a:xfrm>
            <a:off x="640080" y="658368"/>
            <a:ext cx="10881360" cy="822960"/>
          </a:xfrm>
          <a:prstGeom prst="rect">
            <a:avLst/>
          </a:prstGeom>
          <a:noFill/>
          <a:ln/>
        </p:spPr>
        <p:txBody>
          <a:bodyPr wrap="square" lIns="0" tIns="0" rIns="0" bIns="0" rtlCol="0" anchor="ctr"/>
          <a:lstStyle/>
          <a:p>
            <a:pPr marL="0" indent="0" algn="l">
              <a:buNone/>
            </a:pPr>
            <a:r>
              <a:rPr lang="en-US" sz="3400" b="1" dirty="0">
                <a:solidFill>
                  <a:srgbClr val="2A2622"/>
                </a:solidFill>
                <a:latin typeface="Georgia" pitchFamily="34" charset="0"/>
                <a:ea typeface="Georgia" pitchFamily="34" charset="-122"/>
                <a:cs typeface="Georgia" pitchFamily="34" charset="-120"/>
              </a:rPr>
              <a:t>Every baby comes with a team</a:t>
            </a:r>
            <a:endParaRPr lang="en-US" sz="3400" dirty="0"/>
          </a:p>
        </p:txBody>
      </p:sp>
      <p:sp>
        <p:nvSpPr>
          <p:cNvPr id="5" name="Shape 2"/>
          <p:cNvSpPr/>
          <p:nvPr/>
        </p:nvSpPr>
        <p:spPr>
          <a:xfrm>
            <a:off x="640080" y="1783080"/>
            <a:ext cx="4754880" cy="4023360"/>
          </a:xfrm>
          <a:prstGeom prst="roundRect">
            <a:avLst>
              <a:gd name="adj" fmla="val 3409"/>
            </a:avLst>
          </a:prstGeom>
          <a:solidFill>
            <a:srgbClr val="F8E6DE"/>
          </a:solidFill>
          <a:ln w="12700">
            <a:solidFill>
              <a:srgbClr val="E6DCCD"/>
            </a:solidFill>
            <a:prstDash val="solid"/>
          </a:ln>
        </p:spPr>
      </p:sp>
      <p:sp>
        <p:nvSpPr>
          <p:cNvPr id="6" name="Text 3"/>
          <p:cNvSpPr/>
          <p:nvPr/>
        </p:nvSpPr>
        <p:spPr>
          <a:xfrm>
            <a:off x="640080" y="2148840"/>
            <a:ext cx="4754880" cy="1554480"/>
          </a:xfrm>
          <a:prstGeom prst="rect">
            <a:avLst/>
          </a:prstGeom>
          <a:noFill/>
          <a:ln/>
        </p:spPr>
        <p:txBody>
          <a:bodyPr wrap="square" rtlCol="0" anchor="ctr"/>
          <a:lstStyle/>
          <a:p>
            <a:pPr marL="0" indent="0" algn="ctr">
              <a:buNone/>
            </a:pPr>
            <a:r>
              <a:rPr lang="en-US" sz="9600" b="1" dirty="0">
                <a:solidFill>
                  <a:srgbClr val="C46A4A"/>
                </a:solidFill>
                <a:latin typeface="Georgia" pitchFamily="34" charset="0"/>
                <a:ea typeface="Georgia" pitchFamily="34" charset="-122"/>
                <a:cs typeface="Georgia" pitchFamily="34" charset="-120"/>
              </a:rPr>
              <a:t>3.6M</a:t>
            </a:r>
            <a:endParaRPr lang="en-US" sz="9600" dirty="0"/>
          </a:p>
        </p:txBody>
      </p:sp>
      <p:sp>
        <p:nvSpPr>
          <p:cNvPr id="7" name="Text 4"/>
          <p:cNvSpPr/>
          <p:nvPr/>
        </p:nvSpPr>
        <p:spPr>
          <a:xfrm>
            <a:off x="640080" y="3703320"/>
            <a:ext cx="4754880" cy="548640"/>
          </a:xfrm>
          <a:prstGeom prst="rect">
            <a:avLst/>
          </a:prstGeom>
          <a:noFill/>
          <a:ln/>
        </p:spPr>
        <p:txBody>
          <a:bodyPr wrap="square" rtlCol="0" anchor="ctr"/>
          <a:lstStyle/>
          <a:p>
            <a:pPr marL="0" indent="0" algn="ctr">
              <a:buNone/>
            </a:pPr>
            <a:r>
              <a:rPr lang="en-US" sz="2000" dirty="0">
                <a:solidFill>
                  <a:srgbClr val="2A2622"/>
                </a:solidFill>
                <a:latin typeface="Segoe UI" pitchFamily="34" charset="0"/>
                <a:ea typeface="Segoe UI" pitchFamily="34" charset="-122"/>
                <a:cs typeface="Segoe UI" pitchFamily="34" charset="-120"/>
              </a:rPr>
              <a:t>babies born in the US every year</a:t>
            </a:r>
            <a:endParaRPr lang="en-US" sz="2000" dirty="0"/>
          </a:p>
        </p:txBody>
      </p:sp>
      <p:sp>
        <p:nvSpPr>
          <p:cNvPr id="8" name="Text 5"/>
          <p:cNvSpPr/>
          <p:nvPr/>
        </p:nvSpPr>
        <p:spPr>
          <a:xfrm>
            <a:off x="640080" y="5120640"/>
            <a:ext cx="4754880" cy="365760"/>
          </a:xfrm>
          <a:prstGeom prst="rect">
            <a:avLst/>
          </a:prstGeom>
          <a:noFill/>
          <a:ln/>
        </p:spPr>
        <p:txBody>
          <a:bodyPr wrap="square" rtlCol="0" anchor="ctr"/>
          <a:lstStyle/>
          <a:p>
            <a:pPr marL="0" indent="0" algn="ctr">
              <a:buNone/>
            </a:pPr>
            <a:r>
              <a:rPr lang="en-US" sz="1100" dirty="0">
                <a:solidFill>
                  <a:srgbClr val="6F675E"/>
                </a:solidFill>
                <a:latin typeface="Segoe UI" pitchFamily="34" charset="0"/>
                <a:ea typeface="Segoe UI" pitchFamily="34" charset="-122"/>
                <a:cs typeface="Segoe UI" pitchFamily="34" charset="-120"/>
              </a:rPr>
              <a:t>Source: CDC, U.S. births 2023</a:t>
            </a:r>
            <a:endParaRPr lang="en-US" sz="1100" dirty="0"/>
          </a:p>
        </p:txBody>
      </p:sp>
      <p:sp>
        <p:nvSpPr>
          <p:cNvPr id="9" name="Shape 6"/>
          <p:cNvSpPr/>
          <p:nvPr/>
        </p:nvSpPr>
        <p:spPr>
          <a:xfrm>
            <a:off x="5852160" y="2011680"/>
            <a:ext cx="274320" cy="274320"/>
          </a:xfrm>
          <a:prstGeom prst="ellipse">
            <a:avLst/>
          </a:prstGeom>
          <a:solidFill>
            <a:srgbClr val="C46A4A"/>
          </a:solidFill>
          <a:ln w="12700">
            <a:solidFill>
              <a:srgbClr val="C46A4A"/>
            </a:solidFill>
            <a:prstDash val="solid"/>
          </a:ln>
        </p:spPr>
      </p:sp>
      <p:sp>
        <p:nvSpPr>
          <p:cNvPr id="10" name="Text 7"/>
          <p:cNvSpPr/>
          <p:nvPr/>
        </p:nvSpPr>
        <p:spPr>
          <a:xfrm>
            <a:off x="6355080" y="1828800"/>
            <a:ext cx="5120640" cy="411480"/>
          </a:xfrm>
          <a:prstGeom prst="rect">
            <a:avLst/>
          </a:prstGeom>
          <a:noFill/>
          <a:ln/>
        </p:spPr>
        <p:txBody>
          <a:bodyPr wrap="square" rtlCol="0" anchor="ctr"/>
          <a:lstStyle/>
          <a:p>
            <a:pPr marL="0" indent="0">
              <a:buNone/>
            </a:pPr>
            <a:r>
              <a:rPr lang="en-US" sz="2000" b="1" dirty="0">
                <a:solidFill>
                  <a:srgbClr val="2A2622"/>
                </a:solidFill>
                <a:latin typeface="Segoe UI" pitchFamily="34" charset="0"/>
                <a:ea typeface="Segoe UI" pitchFamily="34" charset="-122"/>
                <a:cs typeface="Segoe UI" pitchFamily="34" charset="-120"/>
              </a:rPr>
              <a:t>New parents</a:t>
            </a:r>
            <a:endParaRPr lang="en-US" sz="2000" dirty="0"/>
          </a:p>
        </p:txBody>
      </p:sp>
      <p:sp>
        <p:nvSpPr>
          <p:cNvPr id="11" name="Text 8"/>
          <p:cNvSpPr/>
          <p:nvPr/>
        </p:nvSpPr>
        <p:spPr>
          <a:xfrm>
            <a:off x="6355080" y="2240280"/>
            <a:ext cx="5120640" cy="365760"/>
          </a:xfrm>
          <a:prstGeom prst="rect">
            <a:avLst/>
          </a:prstGeom>
          <a:noFill/>
          <a:ln/>
        </p:spPr>
        <p:txBody>
          <a:bodyPr wrap="square" rtlCol="0" anchor="ctr"/>
          <a:lstStyle/>
          <a:p>
            <a:pPr marL="0" indent="0">
              <a:buNone/>
            </a:pPr>
            <a:r>
              <a:rPr lang="en-US" sz="1500" dirty="0">
                <a:solidFill>
                  <a:srgbClr val="6F675E"/>
                </a:solidFill>
                <a:latin typeface="Segoe UI" pitchFamily="34" charset="0"/>
                <a:ea typeface="Segoe UI" pitchFamily="34" charset="-122"/>
                <a:cs typeface="Segoe UI" pitchFamily="34" charset="-120"/>
              </a:rPr>
              <a:t>The first 12 weeks. Where we start.</a:t>
            </a:r>
            <a:endParaRPr lang="en-US" sz="1500" dirty="0"/>
          </a:p>
        </p:txBody>
      </p:sp>
      <p:sp>
        <p:nvSpPr>
          <p:cNvPr id="12" name="Shape 9"/>
          <p:cNvSpPr/>
          <p:nvPr/>
        </p:nvSpPr>
        <p:spPr>
          <a:xfrm>
            <a:off x="5852160" y="2999232"/>
            <a:ext cx="274320" cy="274320"/>
          </a:xfrm>
          <a:prstGeom prst="ellipse">
            <a:avLst/>
          </a:prstGeom>
          <a:solidFill>
            <a:srgbClr val="4F6F5C"/>
          </a:solidFill>
          <a:ln w="12700">
            <a:solidFill>
              <a:srgbClr val="4F6F5C"/>
            </a:solidFill>
            <a:prstDash val="solid"/>
          </a:ln>
        </p:spPr>
      </p:sp>
      <p:sp>
        <p:nvSpPr>
          <p:cNvPr id="13" name="Text 10"/>
          <p:cNvSpPr/>
          <p:nvPr/>
        </p:nvSpPr>
        <p:spPr>
          <a:xfrm>
            <a:off x="6355080" y="2816352"/>
            <a:ext cx="5120640" cy="411480"/>
          </a:xfrm>
          <a:prstGeom prst="rect">
            <a:avLst/>
          </a:prstGeom>
          <a:noFill/>
          <a:ln/>
        </p:spPr>
        <p:txBody>
          <a:bodyPr wrap="square" rtlCol="0" anchor="ctr"/>
          <a:lstStyle/>
          <a:p>
            <a:pPr marL="0" indent="0">
              <a:buNone/>
            </a:pPr>
            <a:r>
              <a:rPr lang="en-US" sz="2000" b="1" dirty="0">
                <a:solidFill>
                  <a:srgbClr val="2A2622"/>
                </a:solidFill>
                <a:latin typeface="Segoe UI" pitchFamily="34" charset="0"/>
                <a:ea typeface="Segoe UI" pitchFamily="34" charset="-122"/>
                <a:cs typeface="Segoe UI" pitchFamily="34" charset="-120"/>
              </a:rPr>
              <a:t>Grandparents and relatives</a:t>
            </a:r>
            <a:endParaRPr lang="en-US" sz="2000" dirty="0"/>
          </a:p>
        </p:txBody>
      </p:sp>
      <p:sp>
        <p:nvSpPr>
          <p:cNvPr id="14" name="Text 11"/>
          <p:cNvSpPr/>
          <p:nvPr/>
        </p:nvSpPr>
        <p:spPr>
          <a:xfrm>
            <a:off x="6355080" y="3227832"/>
            <a:ext cx="5120640" cy="365760"/>
          </a:xfrm>
          <a:prstGeom prst="rect">
            <a:avLst/>
          </a:prstGeom>
          <a:noFill/>
          <a:ln/>
        </p:spPr>
        <p:txBody>
          <a:bodyPr wrap="square" rtlCol="0" anchor="ctr"/>
          <a:lstStyle/>
          <a:p>
            <a:pPr marL="0" indent="0">
              <a:buNone/>
            </a:pPr>
            <a:r>
              <a:rPr lang="en-US" sz="1500" dirty="0">
                <a:solidFill>
                  <a:srgbClr val="6F675E"/>
                </a:solidFill>
                <a:latin typeface="Segoe UI" pitchFamily="34" charset="0"/>
                <a:ea typeface="Segoe UI" pitchFamily="34" charset="-122"/>
                <a:cs typeface="Segoe UI" pitchFamily="34" charset="-120"/>
              </a:rPr>
              <a:t>Helping out in shifts.</a:t>
            </a:r>
            <a:endParaRPr lang="en-US" sz="1500" dirty="0"/>
          </a:p>
        </p:txBody>
      </p:sp>
      <p:sp>
        <p:nvSpPr>
          <p:cNvPr id="15" name="Shape 12"/>
          <p:cNvSpPr/>
          <p:nvPr/>
        </p:nvSpPr>
        <p:spPr>
          <a:xfrm>
            <a:off x="5852160" y="3986784"/>
            <a:ext cx="274320" cy="274320"/>
          </a:xfrm>
          <a:prstGeom prst="ellipse">
            <a:avLst/>
          </a:prstGeom>
          <a:solidFill>
            <a:srgbClr val="4F6F5C"/>
          </a:solidFill>
          <a:ln w="12700">
            <a:solidFill>
              <a:srgbClr val="4F6F5C"/>
            </a:solidFill>
            <a:prstDash val="solid"/>
          </a:ln>
        </p:spPr>
      </p:sp>
      <p:sp>
        <p:nvSpPr>
          <p:cNvPr id="16" name="Text 13"/>
          <p:cNvSpPr/>
          <p:nvPr/>
        </p:nvSpPr>
        <p:spPr>
          <a:xfrm>
            <a:off x="6355080" y="3803904"/>
            <a:ext cx="5120640" cy="411480"/>
          </a:xfrm>
          <a:prstGeom prst="rect">
            <a:avLst/>
          </a:prstGeom>
          <a:noFill/>
          <a:ln/>
        </p:spPr>
        <p:txBody>
          <a:bodyPr wrap="square" rtlCol="0" anchor="ctr"/>
          <a:lstStyle/>
          <a:p>
            <a:pPr marL="0" indent="0">
              <a:buNone/>
            </a:pPr>
            <a:r>
              <a:rPr lang="en-US" sz="2000" b="1" dirty="0">
                <a:solidFill>
                  <a:srgbClr val="2A2622"/>
                </a:solidFill>
                <a:latin typeface="Segoe UI" pitchFamily="34" charset="0"/>
                <a:ea typeface="Segoe UI" pitchFamily="34" charset="-122"/>
                <a:cs typeface="Segoe UI" pitchFamily="34" charset="-120"/>
              </a:rPr>
              <a:t>Nannies and night nurses</a:t>
            </a:r>
            <a:endParaRPr lang="en-US" sz="2000" dirty="0"/>
          </a:p>
        </p:txBody>
      </p:sp>
      <p:sp>
        <p:nvSpPr>
          <p:cNvPr id="17" name="Text 14"/>
          <p:cNvSpPr/>
          <p:nvPr/>
        </p:nvSpPr>
        <p:spPr>
          <a:xfrm>
            <a:off x="6355080" y="4215384"/>
            <a:ext cx="5120640" cy="365760"/>
          </a:xfrm>
          <a:prstGeom prst="rect">
            <a:avLst/>
          </a:prstGeom>
          <a:noFill/>
          <a:ln/>
        </p:spPr>
        <p:txBody>
          <a:bodyPr wrap="square" rtlCol="0" anchor="ctr"/>
          <a:lstStyle/>
          <a:p>
            <a:pPr marL="0" indent="0">
              <a:buNone/>
            </a:pPr>
            <a:r>
              <a:rPr lang="en-US" sz="1500" dirty="0">
                <a:solidFill>
                  <a:srgbClr val="6F675E"/>
                </a:solidFill>
                <a:latin typeface="Segoe UI" pitchFamily="34" charset="0"/>
                <a:ea typeface="Segoe UI" pitchFamily="34" charset="-122"/>
                <a:cs typeface="Segoe UI" pitchFamily="34" charset="-120"/>
              </a:rPr>
              <a:t>Hand-offs without a paper notebook.</a:t>
            </a:r>
            <a:endParaRPr lang="en-US" sz="1500" dirty="0"/>
          </a:p>
        </p:txBody>
      </p:sp>
      <p:sp>
        <p:nvSpPr>
          <p:cNvPr id="18" name="Shape 15"/>
          <p:cNvSpPr/>
          <p:nvPr/>
        </p:nvSpPr>
        <p:spPr>
          <a:xfrm>
            <a:off x="5852160" y="4974336"/>
            <a:ext cx="274320" cy="274320"/>
          </a:xfrm>
          <a:prstGeom prst="ellipse">
            <a:avLst/>
          </a:prstGeom>
          <a:solidFill>
            <a:srgbClr val="6F675E"/>
          </a:solidFill>
          <a:ln w="12700">
            <a:solidFill>
              <a:srgbClr val="6F675E"/>
            </a:solidFill>
            <a:prstDash val="solid"/>
          </a:ln>
        </p:spPr>
      </p:sp>
      <p:sp>
        <p:nvSpPr>
          <p:cNvPr id="19" name="Text 16"/>
          <p:cNvSpPr/>
          <p:nvPr/>
        </p:nvSpPr>
        <p:spPr>
          <a:xfrm>
            <a:off x="6355080" y="4791456"/>
            <a:ext cx="5120640" cy="411480"/>
          </a:xfrm>
          <a:prstGeom prst="rect">
            <a:avLst/>
          </a:prstGeom>
          <a:noFill/>
          <a:ln/>
        </p:spPr>
        <p:txBody>
          <a:bodyPr wrap="square" rtlCol="0" anchor="ctr"/>
          <a:lstStyle/>
          <a:p>
            <a:pPr marL="0" indent="0">
              <a:buNone/>
            </a:pPr>
            <a:r>
              <a:rPr lang="en-US" sz="2000" b="1" dirty="0">
                <a:solidFill>
                  <a:srgbClr val="2A2622"/>
                </a:solidFill>
                <a:latin typeface="Segoe UI" pitchFamily="34" charset="0"/>
                <a:ea typeface="Segoe UI" pitchFamily="34" charset="-122"/>
                <a:cs typeface="Segoe UI" pitchFamily="34" charset="-120"/>
              </a:rPr>
              <a:t>Next: clinics and birthing classes</a:t>
            </a:r>
            <a:endParaRPr lang="en-US" sz="2000" dirty="0"/>
          </a:p>
        </p:txBody>
      </p:sp>
      <p:sp>
        <p:nvSpPr>
          <p:cNvPr id="20" name="Text 17"/>
          <p:cNvSpPr/>
          <p:nvPr/>
        </p:nvSpPr>
        <p:spPr>
          <a:xfrm>
            <a:off x="6355080" y="5202936"/>
            <a:ext cx="5120640" cy="365760"/>
          </a:xfrm>
          <a:prstGeom prst="rect">
            <a:avLst/>
          </a:prstGeom>
          <a:noFill/>
          <a:ln/>
        </p:spPr>
        <p:txBody>
          <a:bodyPr wrap="square" rtlCol="0" anchor="ctr"/>
          <a:lstStyle/>
          <a:p>
            <a:pPr marL="0" indent="0">
              <a:buNone/>
            </a:pPr>
            <a:r>
              <a:rPr lang="en-US" sz="1500" dirty="0">
                <a:solidFill>
                  <a:srgbClr val="6F675E"/>
                </a:solidFill>
                <a:latin typeface="Segoe UI" pitchFamily="34" charset="0"/>
                <a:ea typeface="Segoe UI" pitchFamily="34" charset="-122"/>
                <a:cs typeface="Segoe UI" pitchFamily="34" charset="-120"/>
              </a:rPr>
              <a:t>Recommend Duet to every new family.</a:t>
            </a:r>
            <a:endParaRPr lang="en-US" sz="1500" dirty="0"/>
          </a:p>
        </p:txBody>
      </p:sp>
      <p:pic>
        <p:nvPicPr>
          <p:cNvPr id="2" name="Voiceover 7">
            <a:hlinkClick r:id="" action="ppaction://media"/>
            <a:extLst>
              <a:ext uri="{FF2B5EF4-FFF2-40B4-BE49-F238E27FC236}">
                <a16:creationId xmlns:a16="http://schemas.microsoft.com/office/drawing/2014/main" id="{5FB48502-CC4B-5997-99F4-F1F8468C611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19600">
        <p:fade/>
      </p:transition>
    </mc:Choice>
    <mc:Fallback>
      <p:transition spd="med" advTm="196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72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8720"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BUSINESS MODEL</a:t>
            </a:r>
            <a:endParaRPr lang="en-US" sz="1200" dirty="0"/>
          </a:p>
        </p:txBody>
      </p:sp>
      <p:sp>
        <p:nvSpPr>
          <p:cNvPr id="4" name="Text 0"/>
          <p:cNvSpPr>
            <a:spLocks noGrp="1"/>
          </p:cNvSpPr>
          <p:nvPr>
            <p:ph type="title" idx="100" hasCustomPrompt="1"/>
          </p:nvPr>
        </p:nvSpPr>
        <p:spPr>
          <a:xfrm>
            <a:off x="640080" y="658368"/>
            <a:ext cx="10881360" cy="822960"/>
          </a:xfrm>
          <a:prstGeom prst="rect">
            <a:avLst/>
          </a:prstGeom>
          <a:noFill/>
          <a:ln/>
        </p:spPr>
        <p:txBody>
          <a:bodyPr wrap="square" lIns="0" tIns="0" rIns="0" bIns="0" rtlCol="0" anchor="ctr"/>
          <a:lstStyle/>
          <a:p>
            <a:pPr marL="0" indent="0" algn="l">
              <a:buNone/>
            </a:pPr>
            <a:r>
              <a:rPr lang="en-US" sz="3400" b="1" dirty="0">
                <a:solidFill>
                  <a:srgbClr val="2A2622"/>
                </a:solidFill>
                <a:latin typeface="Georgia" pitchFamily="34" charset="0"/>
                <a:ea typeface="Georgia" pitchFamily="34" charset="-122"/>
                <a:cs typeface="Georgia" pitchFamily="34" charset="-120"/>
              </a:rPr>
              <a:t>Free to start. Built to grow.</a:t>
            </a:r>
            <a:endParaRPr lang="en-US" sz="3400" dirty="0"/>
          </a:p>
        </p:txBody>
      </p:sp>
      <p:sp>
        <p:nvSpPr>
          <p:cNvPr id="5" name="Shape 2"/>
          <p:cNvSpPr/>
          <p:nvPr/>
        </p:nvSpPr>
        <p:spPr>
          <a:xfrm>
            <a:off x="640080" y="1783080"/>
            <a:ext cx="3474720" cy="3154680"/>
          </a:xfrm>
          <a:prstGeom prst="roundRect">
            <a:avLst>
              <a:gd name="adj" fmla="val 4348"/>
            </a:avLst>
          </a:prstGeom>
          <a:solidFill>
            <a:srgbClr val="FFFDF8"/>
          </a:solidFill>
          <a:ln w="12700">
            <a:solidFill>
              <a:srgbClr val="E6DCCD"/>
            </a:solidFill>
            <a:prstDash val="solid"/>
          </a:ln>
        </p:spPr>
      </p:sp>
      <p:sp>
        <p:nvSpPr>
          <p:cNvPr id="6" name="Text 3"/>
          <p:cNvSpPr/>
          <p:nvPr/>
        </p:nvSpPr>
        <p:spPr>
          <a:xfrm>
            <a:off x="960120" y="2011680"/>
            <a:ext cx="2834640" cy="640080"/>
          </a:xfrm>
          <a:prstGeom prst="rect">
            <a:avLst/>
          </a:prstGeom>
          <a:noFill/>
          <a:ln/>
        </p:spPr>
        <p:txBody>
          <a:bodyPr wrap="square" rtlCol="0" anchor="ctr"/>
          <a:lstStyle/>
          <a:p>
            <a:pPr marL="0" indent="0">
              <a:buNone/>
            </a:pPr>
            <a:r>
              <a:rPr lang="en-US" sz="3000" b="1" dirty="0">
                <a:solidFill>
                  <a:srgbClr val="4F6F5C"/>
                </a:solidFill>
                <a:latin typeface="Georgia" pitchFamily="34" charset="0"/>
                <a:ea typeface="Georgia" pitchFamily="34" charset="-122"/>
                <a:cs typeface="Georgia" pitchFamily="34" charset="-120"/>
              </a:rPr>
              <a:t>Free</a:t>
            </a:r>
            <a:endParaRPr lang="en-US" sz="3000" dirty="0"/>
          </a:p>
        </p:txBody>
      </p:sp>
      <p:sp>
        <p:nvSpPr>
          <p:cNvPr id="7" name="Text 4"/>
          <p:cNvSpPr/>
          <p:nvPr/>
        </p:nvSpPr>
        <p:spPr>
          <a:xfrm>
            <a:off x="960120" y="2651760"/>
            <a:ext cx="2834640" cy="320040"/>
          </a:xfrm>
          <a:prstGeom prst="rect">
            <a:avLst/>
          </a:prstGeom>
          <a:noFill/>
          <a:ln/>
        </p:spPr>
        <p:txBody>
          <a:bodyPr wrap="square" rtlCol="0" anchor="ctr"/>
          <a:lstStyle/>
          <a:p>
            <a:pPr marL="0" indent="0">
              <a:buNone/>
            </a:pPr>
            <a:r>
              <a:rPr lang="en-US" sz="1100" b="1" kern="0" spc="150" dirty="0">
                <a:solidFill>
                  <a:srgbClr val="6F675E"/>
                </a:solidFill>
                <a:latin typeface="Segoe UI" pitchFamily="34" charset="0"/>
                <a:ea typeface="Segoe UI" pitchFamily="34" charset="-122"/>
                <a:cs typeface="Segoe UI" pitchFamily="34" charset="-120"/>
              </a:rPr>
              <a:t>CORE, FOREVER</a:t>
            </a:r>
            <a:endParaRPr lang="en-US" sz="1100" dirty="0"/>
          </a:p>
        </p:txBody>
      </p:sp>
      <p:sp>
        <p:nvSpPr>
          <p:cNvPr id="8" name="Text 5"/>
          <p:cNvSpPr/>
          <p:nvPr/>
        </p:nvSpPr>
        <p:spPr>
          <a:xfrm>
            <a:off x="960120" y="3108960"/>
            <a:ext cx="2926080" cy="1691640"/>
          </a:xfrm>
          <a:prstGeom prst="rect">
            <a:avLst/>
          </a:prstGeom>
          <a:noFill/>
          <a:ln/>
        </p:spPr>
        <p:txBody>
          <a:bodyPr wrap="square" rtlCol="0" anchor="t"/>
          <a:lstStyle/>
          <a:p>
            <a:pPr marL="228600" indent="-228600">
              <a:spcAft>
                <a:spcPts val="800"/>
              </a:spcAft>
              <a:buSzPct val="100000"/>
              <a:buChar char="•"/>
            </a:pPr>
            <a:r>
              <a:rPr lang="en-US" sz="1700" dirty="0">
                <a:solidFill>
                  <a:srgbClr val="2A2622"/>
                </a:solidFill>
                <a:latin typeface="Segoe UI" pitchFamily="34" charset="0"/>
                <a:ea typeface="Segoe UI" pitchFamily="34" charset="-122"/>
                <a:cs typeface="Segoe UI" pitchFamily="34" charset="-120"/>
              </a:rPr>
              <a:t>Voice logging</a:t>
            </a:r>
            <a:endParaRPr lang="en-US" sz="1700" dirty="0"/>
          </a:p>
          <a:p>
            <a:pPr marL="228600" indent="-228600">
              <a:spcAft>
                <a:spcPts val="800"/>
              </a:spcAft>
              <a:buSzPct val="100000"/>
              <a:buChar char="•"/>
            </a:pPr>
            <a:r>
              <a:rPr lang="en-US" sz="1700" dirty="0">
                <a:solidFill>
                  <a:srgbClr val="2A2622"/>
                </a:solidFill>
                <a:latin typeface="Segoe UI" pitchFamily="34" charset="0"/>
                <a:ea typeface="Segoe UI" pitchFamily="34" charset="-122"/>
                <a:cs typeface="Segoe UI" pitchFamily="34" charset="-120"/>
              </a:rPr>
              <a:t>Unlimited caregivers</a:t>
            </a:r>
            <a:endParaRPr lang="en-US" sz="1700" dirty="0"/>
          </a:p>
          <a:p>
            <a:pPr marL="228600" indent="-228600">
              <a:spcAft>
                <a:spcPts val="800"/>
              </a:spcAft>
              <a:buSzPct val="100000"/>
              <a:buChar char="•"/>
            </a:pPr>
            <a:r>
              <a:rPr lang="en-US" sz="1700" dirty="0">
                <a:solidFill>
                  <a:srgbClr val="2A2622"/>
                </a:solidFill>
                <a:latin typeface="Segoe UI" pitchFamily="34" charset="0"/>
                <a:ea typeface="Segoe UI" pitchFamily="34" charset="-122"/>
                <a:cs typeface="Segoe UI" pitchFamily="34" charset="-120"/>
              </a:rPr>
              <a:t>Live sync on every device</a:t>
            </a:r>
            <a:endParaRPr lang="en-US" sz="1700" dirty="0"/>
          </a:p>
        </p:txBody>
      </p:sp>
      <p:sp>
        <p:nvSpPr>
          <p:cNvPr id="9" name="Shape 6"/>
          <p:cNvSpPr/>
          <p:nvPr/>
        </p:nvSpPr>
        <p:spPr>
          <a:xfrm>
            <a:off x="4343400" y="1783080"/>
            <a:ext cx="3474720" cy="3154680"/>
          </a:xfrm>
          <a:prstGeom prst="roundRect">
            <a:avLst>
              <a:gd name="adj" fmla="val 4348"/>
            </a:avLst>
          </a:prstGeom>
          <a:solidFill>
            <a:srgbClr val="F8E6DE"/>
          </a:solidFill>
          <a:ln w="12700">
            <a:solidFill>
              <a:srgbClr val="E6DCCD"/>
            </a:solidFill>
            <a:prstDash val="solid"/>
          </a:ln>
        </p:spPr>
      </p:sp>
      <p:sp>
        <p:nvSpPr>
          <p:cNvPr id="10" name="Text 7"/>
          <p:cNvSpPr/>
          <p:nvPr/>
        </p:nvSpPr>
        <p:spPr>
          <a:xfrm>
            <a:off x="4663440" y="2011680"/>
            <a:ext cx="2834640" cy="640080"/>
          </a:xfrm>
          <a:prstGeom prst="rect">
            <a:avLst/>
          </a:prstGeom>
          <a:noFill/>
          <a:ln/>
        </p:spPr>
        <p:txBody>
          <a:bodyPr wrap="square" rtlCol="0" anchor="ctr"/>
          <a:lstStyle/>
          <a:p>
            <a:pPr marL="0" indent="0">
              <a:buNone/>
            </a:pPr>
            <a:r>
              <a:rPr lang="en-US" sz="3000" b="1" dirty="0">
                <a:solidFill>
                  <a:srgbClr val="C46A4A"/>
                </a:solidFill>
                <a:latin typeface="Georgia" pitchFamily="34" charset="0"/>
                <a:ea typeface="Georgia" pitchFamily="34" charset="-122"/>
                <a:cs typeface="Georgia" pitchFamily="34" charset="-120"/>
              </a:rPr>
              <a:t>Duet Plus</a:t>
            </a:r>
            <a:endParaRPr lang="en-US" sz="3000" dirty="0"/>
          </a:p>
        </p:txBody>
      </p:sp>
      <p:sp>
        <p:nvSpPr>
          <p:cNvPr id="11" name="Text 8"/>
          <p:cNvSpPr/>
          <p:nvPr/>
        </p:nvSpPr>
        <p:spPr>
          <a:xfrm>
            <a:off x="4663440" y="2651760"/>
            <a:ext cx="2834640" cy="320040"/>
          </a:xfrm>
          <a:prstGeom prst="rect">
            <a:avLst/>
          </a:prstGeom>
          <a:noFill/>
          <a:ln/>
        </p:spPr>
        <p:txBody>
          <a:bodyPr wrap="square" rtlCol="0" anchor="ctr"/>
          <a:lstStyle/>
          <a:p>
            <a:pPr marL="0" indent="0">
              <a:buNone/>
            </a:pPr>
            <a:r>
              <a:rPr lang="en-US" sz="1100" b="1" kern="0" spc="150" dirty="0">
                <a:solidFill>
                  <a:srgbClr val="6F675E"/>
                </a:solidFill>
                <a:latin typeface="Segoe UI" pitchFamily="34" charset="0"/>
                <a:ea typeface="Segoe UI" pitchFamily="34" charset="-122"/>
                <a:cs typeface="Segoe UI" pitchFamily="34" charset="-120"/>
              </a:rPr>
              <a:t>PLANNED SUBSCRIPTION</a:t>
            </a:r>
            <a:endParaRPr lang="en-US" sz="1100" dirty="0"/>
          </a:p>
        </p:txBody>
      </p:sp>
      <p:sp>
        <p:nvSpPr>
          <p:cNvPr id="12" name="Text 9"/>
          <p:cNvSpPr/>
          <p:nvPr/>
        </p:nvSpPr>
        <p:spPr>
          <a:xfrm>
            <a:off x="4663440" y="3108960"/>
            <a:ext cx="2926080" cy="1691640"/>
          </a:xfrm>
          <a:prstGeom prst="rect">
            <a:avLst/>
          </a:prstGeom>
          <a:noFill/>
          <a:ln/>
        </p:spPr>
        <p:txBody>
          <a:bodyPr wrap="square" rtlCol="0" anchor="t"/>
          <a:lstStyle/>
          <a:p>
            <a:pPr marL="228600" indent="-228600">
              <a:spcAft>
                <a:spcPts val="800"/>
              </a:spcAft>
              <a:buSzPct val="100000"/>
              <a:buChar char="•"/>
            </a:pPr>
            <a:r>
              <a:rPr lang="en-US" sz="1700" dirty="0">
                <a:solidFill>
                  <a:srgbClr val="2A2622"/>
                </a:solidFill>
                <a:latin typeface="Segoe UI" pitchFamily="34" charset="0"/>
                <a:ea typeface="Segoe UI" pitchFamily="34" charset="-122"/>
                <a:cs typeface="Segoe UI" pitchFamily="34" charset="-120"/>
              </a:rPr>
              <a:t>Visit-ready reports for the pediatrician</a:t>
            </a:r>
            <a:endParaRPr lang="en-US" sz="1700" dirty="0"/>
          </a:p>
          <a:p>
            <a:pPr marL="228600" indent="-228600">
              <a:spcAft>
                <a:spcPts val="800"/>
              </a:spcAft>
              <a:buSzPct val="100000"/>
              <a:buChar char="•"/>
            </a:pPr>
            <a:r>
              <a:rPr lang="en-US" sz="1700" dirty="0">
                <a:solidFill>
                  <a:srgbClr val="2A2622"/>
                </a:solidFill>
                <a:latin typeface="Segoe UI" pitchFamily="34" charset="0"/>
                <a:ea typeface="Segoe UI" pitchFamily="34" charset="-122"/>
                <a:cs typeface="Segoe UI" pitchFamily="34" charset="-120"/>
              </a:rPr>
              <a:t>Long-term trends</a:t>
            </a:r>
            <a:endParaRPr lang="en-US" sz="1700" dirty="0"/>
          </a:p>
          <a:p>
            <a:pPr marL="228600" indent="-228600">
              <a:spcAft>
                <a:spcPts val="800"/>
              </a:spcAft>
              <a:buSzPct val="100000"/>
              <a:buChar char="•"/>
            </a:pPr>
            <a:r>
              <a:rPr lang="en-US" sz="1700" dirty="0">
                <a:solidFill>
                  <a:srgbClr val="2A2622"/>
                </a:solidFill>
                <a:latin typeface="Segoe UI" pitchFamily="34" charset="0"/>
                <a:ea typeface="Segoe UI" pitchFamily="34" charset="-122"/>
                <a:cs typeface="Segoe UI" pitchFamily="34" charset="-120"/>
              </a:rPr>
              <a:t>More than one child</a:t>
            </a:r>
            <a:endParaRPr lang="en-US" sz="1700" dirty="0"/>
          </a:p>
        </p:txBody>
      </p:sp>
      <p:sp>
        <p:nvSpPr>
          <p:cNvPr id="13" name="Shape 10"/>
          <p:cNvSpPr/>
          <p:nvPr/>
        </p:nvSpPr>
        <p:spPr>
          <a:xfrm>
            <a:off x="8046720" y="1783080"/>
            <a:ext cx="3474720" cy="3154680"/>
          </a:xfrm>
          <a:prstGeom prst="roundRect">
            <a:avLst>
              <a:gd name="adj" fmla="val 4348"/>
            </a:avLst>
          </a:prstGeom>
          <a:solidFill>
            <a:srgbClr val="E4EEE7"/>
          </a:solidFill>
          <a:ln w="12700">
            <a:solidFill>
              <a:srgbClr val="E6DCCD"/>
            </a:solidFill>
            <a:prstDash val="solid"/>
          </a:ln>
        </p:spPr>
      </p:sp>
      <p:sp>
        <p:nvSpPr>
          <p:cNvPr id="14" name="Text 11"/>
          <p:cNvSpPr/>
          <p:nvPr/>
        </p:nvSpPr>
        <p:spPr>
          <a:xfrm>
            <a:off x="8366760" y="2011680"/>
            <a:ext cx="2834640" cy="640080"/>
          </a:xfrm>
          <a:prstGeom prst="rect">
            <a:avLst/>
          </a:prstGeom>
          <a:noFill/>
          <a:ln/>
        </p:spPr>
        <p:txBody>
          <a:bodyPr wrap="square" rtlCol="0" anchor="ctr"/>
          <a:lstStyle/>
          <a:p>
            <a:pPr marL="0" indent="0">
              <a:buNone/>
            </a:pPr>
            <a:r>
              <a:rPr lang="en-US" sz="3000" b="1" dirty="0">
                <a:solidFill>
                  <a:srgbClr val="4F6F5C"/>
                </a:solidFill>
                <a:latin typeface="Georgia" pitchFamily="34" charset="0"/>
                <a:ea typeface="Georgia" pitchFamily="34" charset="-122"/>
                <a:cs typeface="Georgia" pitchFamily="34" charset="-120"/>
              </a:rPr>
              <a:t>Partners</a:t>
            </a:r>
            <a:endParaRPr lang="en-US" sz="3000" dirty="0"/>
          </a:p>
        </p:txBody>
      </p:sp>
      <p:sp>
        <p:nvSpPr>
          <p:cNvPr id="15" name="Text 12"/>
          <p:cNvSpPr/>
          <p:nvPr/>
        </p:nvSpPr>
        <p:spPr>
          <a:xfrm>
            <a:off x="8366760" y="2651760"/>
            <a:ext cx="2834640" cy="320040"/>
          </a:xfrm>
          <a:prstGeom prst="rect">
            <a:avLst/>
          </a:prstGeom>
          <a:noFill/>
          <a:ln/>
        </p:spPr>
        <p:txBody>
          <a:bodyPr wrap="square" rtlCol="0" anchor="ctr"/>
          <a:lstStyle/>
          <a:p>
            <a:pPr marL="0" indent="0">
              <a:buNone/>
            </a:pPr>
            <a:r>
              <a:rPr lang="en-US" sz="1100" b="1" kern="0" spc="150" dirty="0">
                <a:solidFill>
                  <a:srgbClr val="6F675E"/>
                </a:solidFill>
                <a:latin typeface="Segoe UI" pitchFamily="34" charset="0"/>
                <a:ea typeface="Segoe UI" pitchFamily="34" charset="-122"/>
                <a:cs typeface="Segoe UI" pitchFamily="34" charset="-120"/>
              </a:rPr>
              <a:t>PLANNED CHANNEL</a:t>
            </a:r>
            <a:endParaRPr lang="en-US" sz="1100" dirty="0"/>
          </a:p>
        </p:txBody>
      </p:sp>
      <p:sp>
        <p:nvSpPr>
          <p:cNvPr id="16" name="Text 13"/>
          <p:cNvSpPr/>
          <p:nvPr/>
        </p:nvSpPr>
        <p:spPr>
          <a:xfrm>
            <a:off x="8366760" y="3108960"/>
            <a:ext cx="2926080" cy="1691640"/>
          </a:xfrm>
          <a:prstGeom prst="rect">
            <a:avLst/>
          </a:prstGeom>
          <a:noFill/>
          <a:ln/>
        </p:spPr>
        <p:txBody>
          <a:bodyPr wrap="square" rtlCol="0" anchor="t"/>
          <a:lstStyle/>
          <a:p>
            <a:pPr marL="228600" indent="-228600">
              <a:spcAft>
                <a:spcPts val="800"/>
              </a:spcAft>
              <a:buSzPct val="100000"/>
              <a:buChar char="•"/>
            </a:pPr>
            <a:r>
              <a:rPr lang="en-US" sz="1700" dirty="0">
                <a:solidFill>
                  <a:srgbClr val="2A2622"/>
                </a:solidFill>
                <a:latin typeface="Segoe UI" pitchFamily="34" charset="0"/>
                <a:ea typeface="Segoe UI" pitchFamily="34" charset="-122"/>
                <a:cs typeface="Segoe UI" pitchFamily="34" charset="-120"/>
              </a:rPr>
              <a:t>Hospitals</a:t>
            </a:r>
            <a:endParaRPr lang="en-US" sz="1700" dirty="0"/>
          </a:p>
          <a:p>
            <a:pPr marL="228600" indent="-228600">
              <a:spcAft>
                <a:spcPts val="800"/>
              </a:spcAft>
              <a:buSzPct val="100000"/>
              <a:buChar char="•"/>
            </a:pPr>
            <a:r>
              <a:rPr lang="en-US" sz="1700" dirty="0">
                <a:solidFill>
                  <a:srgbClr val="2A2622"/>
                </a:solidFill>
                <a:latin typeface="Segoe UI" pitchFamily="34" charset="0"/>
                <a:ea typeface="Segoe UI" pitchFamily="34" charset="-122"/>
                <a:cs typeface="Segoe UI" pitchFamily="34" charset="-120"/>
              </a:rPr>
              <a:t>Birthing classes</a:t>
            </a:r>
            <a:endParaRPr lang="en-US" sz="1700" dirty="0"/>
          </a:p>
          <a:p>
            <a:pPr marL="228600" indent="-228600">
              <a:spcAft>
                <a:spcPts val="800"/>
              </a:spcAft>
              <a:buSzPct val="100000"/>
              <a:buChar char="•"/>
            </a:pPr>
            <a:r>
              <a:rPr lang="en-US" sz="1700" dirty="0">
                <a:solidFill>
                  <a:srgbClr val="2A2622"/>
                </a:solidFill>
                <a:latin typeface="Segoe UI" pitchFamily="34" charset="0"/>
                <a:ea typeface="Segoe UI" pitchFamily="34" charset="-122"/>
                <a:cs typeface="Segoe UI" pitchFamily="34" charset="-120"/>
              </a:rPr>
              <a:t>Families start before they go home</a:t>
            </a:r>
            <a:endParaRPr lang="en-US" sz="1700" dirty="0"/>
          </a:p>
        </p:txBody>
      </p:sp>
      <p:sp>
        <p:nvSpPr>
          <p:cNvPr id="17" name="Shape 14"/>
          <p:cNvSpPr/>
          <p:nvPr/>
        </p:nvSpPr>
        <p:spPr>
          <a:xfrm>
            <a:off x="640080" y="5212080"/>
            <a:ext cx="10881360" cy="868680"/>
          </a:xfrm>
          <a:prstGeom prst="roundRect">
            <a:avLst>
              <a:gd name="adj" fmla="val 15789"/>
            </a:avLst>
          </a:prstGeom>
          <a:solidFill>
            <a:srgbClr val="FFFDF8"/>
          </a:solidFill>
          <a:ln w="12700">
            <a:solidFill>
              <a:srgbClr val="E6DCCD"/>
            </a:solidFill>
            <a:prstDash val="solid"/>
          </a:ln>
        </p:spPr>
      </p:sp>
      <p:sp>
        <p:nvSpPr>
          <p:cNvPr id="18" name="Text 15"/>
          <p:cNvSpPr/>
          <p:nvPr/>
        </p:nvSpPr>
        <p:spPr>
          <a:xfrm>
            <a:off x="914400" y="5212080"/>
            <a:ext cx="10332720" cy="868680"/>
          </a:xfrm>
          <a:prstGeom prst="rect">
            <a:avLst/>
          </a:prstGeom>
          <a:noFill/>
          <a:ln/>
        </p:spPr>
        <p:txBody>
          <a:bodyPr wrap="square" rtlCol="0" anchor="ctr"/>
          <a:lstStyle/>
          <a:p>
            <a:pPr marL="0" indent="0">
              <a:buNone/>
            </a:pPr>
            <a:r>
              <a:rPr lang="en-US" sz="1800" b="1" dirty="0">
                <a:solidFill>
                  <a:srgbClr val="C46A4A"/>
                </a:solidFill>
                <a:latin typeface="Segoe UI" pitchFamily="34" charset="0"/>
                <a:ea typeface="Segoe UI" pitchFamily="34" charset="-122"/>
                <a:cs typeface="Segoe UI" pitchFamily="34" charset="-120"/>
              </a:rPr>
              <a:t>Built-in growth: </a:t>
            </a:r>
            <a:r>
              <a:rPr lang="en-US" sz="1800" dirty="0">
                <a:solidFill>
                  <a:srgbClr val="2A2622"/>
                </a:solidFill>
                <a:latin typeface="Segoe UI" pitchFamily="34" charset="0"/>
                <a:ea typeface="Segoe UI" pitchFamily="34" charset="-122"/>
                <a:cs typeface="Segoe UI" pitchFamily="34" charset="-120"/>
              </a:rPr>
              <a:t>every family that signs up invites its own partner, grandparents and nannies.</a:t>
            </a:r>
            <a:endParaRPr lang="en-US" sz="1800" dirty="0"/>
          </a:p>
        </p:txBody>
      </p:sp>
      <p:pic>
        <p:nvPicPr>
          <p:cNvPr id="2" name="Voiceover 8">
            <a:hlinkClick r:id="" action="ppaction://media"/>
            <a:extLst>
              <a:ext uri="{FF2B5EF4-FFF2-40B4-BE49-F238E27FC236}">
                <a16:creationId xmlns:a16="http://schemas.microsoft.com/office/drawing/2014/main" id="{0EE0F813-64EB-38C7-72C0-CFD8D55AE65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29900">
        <p:fade/>
      </p:transition>
    </mc:Choice>
    <mc:Fallback>
      <p:transition spd="med" advTm="299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04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29040"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40080" y="365760"/>
            <a:ext cx="8229600" cy="320040"/>
          </a:xfrm>
          <a:prstGeom prst="rect">
            <a:avLst/>
          </a:prstGeom>
          <a:noFill/>
          <a:ln/>
        </p:spPr>
        <p:txBody>
          <a:bodyPr wrap="square" rtlCol="0" anchor="ctr"/>
          <a:lstStyle/>
          <a:p>
            <a:pPr marL="0" indent="0">
              <a:buNone/>
            </a:pPr>
            <a:r>
              <a:rPr lang="en-US" sz="1200" b="1" kern="0" spc="200" dirty="0">
                <a:solidFill>
                  <a:srgbClr val="C46A4A"/>
                </a:solidFill>
                <a:latin typeface="Segoe UI" pitchFamily="34" charset="0"/>
                <a:ea typeface="Segoe UI" pitchFamily="34" charset="-122"/>
                <a:cs typeface="Segoe UI" pitchFamily="34" charset="-120"/>
              </a:rPr>
              <a:t>TRACTION</a:t>
            </a:r>
            <a:endParaRPr lang="en-US" sz="1200" dirty="0"/>
          </a:p>
        </p:txBody>
      </p:sp>
      <p:sp>
        <p:nvSpPr>
          <p:cNvPr id="4" name="Text 0"/>
          <p:cNvSpPr>
            <a:spLocks noGrp="1"/>
          </p:cNvSpPr>
          <p:nvPr>
            <p:ph type="title" idx="100" hasCustomPrompt="1"/>
          </p:nvPr>
        </p:nvSpPr>
        <p:spPr>
          <a:xfrm>
            <a:off x="640080" y="658368"/>
            <a:ext cx="10881360" cy="822960"/>
          </a:xfrm>
          <a:prstGeom prst="rect">
            <a:avLst/>
          </a:prstGeom>
          <a:noFill/>
          <a:ln/>
        </p:spPr>
        <p:txBody>
          <a:bodyPr wrap="square" lIns="0" tIns="0" rIns="0" bIns="0" rtlCol="0" anchor="ctr"/>
          <a:lstStyle/>
          <a:p>
            <a:pPr marL="0" indent="0" algn="l">
              <a:buNone/>
            </a:pPr>
            <a:r>
              <a:rPr lang="en-US" sz="3400" b="1" dirty="0">
                <a:solidFill>
                  <a:srgbClr val="2A2622"/>
                </a:solidFill>
                <a:latin typeface="Georgia" pitchFamily="34" charset="0"/>
                <a:ea typeface="Georgia" pitchFamily="34" charset="-122"/>
                <a:cs typeface="Georgia" pitchFamily="34" charset="-120"/>
              </a:rPr>
              <a:t>Built, tested, and working today</a:t>
            </a:r>
            <a:endParaRPr lang="en-US" sz="3400" dirty="0"/>
          </a:p>
        </p:txBody>
      </p:sp>
      <p:sp>
        <p:nvSpPr>
          <p:cNvPr id="5" name="Shape 2"/>
          <p:cNvSpPr/>
          <p:nvPr/>
        </p:nvSpPr>
        <p:spPr>
          <a:xfrm>
            <a:off x="640080" y="1783080"/>
            <a:ext cx="4023360" cy="4023360"/>
          </a:xfrm>
          <a:prstGeom prst="roundRect">
            <a:avLst>
              <a:gd name="adj" fmla="val 3409"/>
            </a:avLst>
          </a:prstGeom>
          <a:solidFill>
            <a:srgbClr val="E4EEE7"/>
          </a:solidFill>
          <a:ln w="12700">
            <a:solidFill>
              <a:srgbClr val="E6DCCD"/>
            </a:solidFill>
            <a:prstDash val="solid"/>
          </a:ln>
        </p:spPr>
      </p:sp>
      <p:sp>
        <p:nvSpPr>
          <p:cNvPr id="6" name="Text 3"/>
          <p:cNvSpPr/>
          <p:nvPr/>
        </p:nvSpPr>
        <p:spPr>
          <a:xfrm>
            <a:off x="640080" y="2194560"/>
            <a:ext cx="4023360" cy="1371600"/>
          </a:xfrm>
          <a:prstGeom prst="rect">
            <a:avLst/>
          </a:prstGeom>
          <a:noFill/>
          <a:ln/>
        </p:spPr>
        <p:txBody>
          <a:bodyPr wrap="square" rtlCol="0" anchor="ctr"/>
          <a:lstStyle/>
          <a:p>
            <a:pPr marL="0" indent="0" algn="ctr">
              <a:buNone/>
            </a:pPr>
            <a:r>
              <a:rPr lang="en-US" sz="6600" b="1" dirty="0">
                <a:solidFill>
                  <a:srgbClr val="4F6F5C"/>
                </a:solidFill>
                <a:latin typeface="Georgia" pitchFamily="34" charset="0"/>
                <a:ea typeface="Georgia" pitchFamily="34" charset="-122"/>
                <a:cs typeface="Georgia" pitchFamily="34" charset="-120"/>
              </a:rPr>
              <a:t>115/115</a:t>
            </a:r>
            <a:endParaRPr lang="en-US" sz="6600" dirty="0"/>
          </a:p>
        </p:txBody>
      </p:sp>
      <p:sp>
        <p:nvSpPr>
          <p:cNvPr id="7" name="Text 4"/>
          <p:cNvSpPr/>
          <p:nvPr/>
        </p:nvSpPr>
        <p:spPr>
          <a:xfrm>
            <a:off x="640080" y="3566160"/>
            <a:ext cx="4023360" cy="548640"/>
          </a:xfrm>
          <a:prstGeom prst="rect">
            <a:avLst/>
          </a:prstGeom>
          <a:noFill/>
          <a:ln/>
        </p:spPr>
        <p:txBody>
          <a:bodyPr wrap="square" rtlCol="0" anchor="ctr"/>
          <a:lstStyle/>
          <a:p>
            <a:pPr marL="0" indent="0" algn="ctr">
              <a:buNone/>
            </a:pPr>
            <a:r>
              <a:rPr lang="en-US" sz="2000" dirty="0">
                <a:solidFill>
                  <a:srgbClr val="2A2622"/>
                </a:solidFill>
                <a:latin typeface="Segoe UI" pitchFamily="34" charset="0"/>
                <a:ea typeface="Segoe UI" pitchFamily="34" charset="-122"/>
                <a:cs typeface="Segoe UI" pitchFamily="34" charset="-120"/>
              </a:rPr>
              <a:t>automated checks passed</a:t>
            </a:r>
            <a:endParaRPr lang="en-US" sz="2000" dirty="0"/>
          </a:p>
        </p:txBody>
      </p:sp>
      <p:sp>
        <p:nvSpPr>
          <p:cNvPr id="8" name="Text 5"/>
          <p:cNvSpPr/>
          <p:nvPr/>
        </p:nvSpPr>
        <p:spPr>
          <a:xfrm>
            <a:off x="640080" y="4114800"/>
            <a:ext cx="4023360" cy="457200"/>
          </a:xfrm>
          <a:prstGeom prst="rect">
            <a:avLst/>
          </a:prstGeom>
          <a:noFill/>
          <a:ln/>
        </p:spPr>
        <p:txBody>
          <a:bodyPr wrap="square" rtlCol="0" anchor="ctr"/>
          <a:lstStyle/>
          <a:p>
            <a:pPr marL="0" indent="0" algn="ctr">
              <a:buNone/>
            </a:pPr>
            <a:r>
              <a:rPr lang="en-US" sz="1400" dirty="0">
                <a:solidFill>
                  <a:srgbClr val="6F675E"/>
                </a:solidFill>
                <a:latin typeface="Segoe UI" pitchFamily="34" charset="0"/>
                <a:ea typeface="Segoe UI" pitchFamily="34" charset="-122"/>
                <a:cs typeface="Segoe UI" pitchFamily="34" charset="-120"/>
              </a:rPr>
              <a:t>unit · end-to-end · real browser</a:t>
            </a:r>
            <a:endParaRPr lang="en-US" sz="1400" dirty="0"/>
          </a:p>
        </p:txBody>
      </p:sp>
      <p:sp>
        <p:nvSpPr>
          <p:cNvPr id="9" name="Shape 6"/>
          <p:cNvSpPr/>
          <p:nvPr/>
        </p:nvSpPr>
        <p:spPr>
          <a:xfrm>
            <a:off x="5029200" y="1984248"/>
            <a:ext cx="292608" cy="292608"/>
          </a:xfrm>
          <a:prstGeom prst="ellipse">
            <a:avLst/>
          </a:prstGeom>
          <a:solidFill>
            <a:srgbClr val="4F6F5C"/>
          </a:solidFill>
          <a:ln w="12700">
            <a:solidFill>
              <a:srgbClr val="4F6F5C"/>
            </a:solidFill>
            <a:prstDash val="solid"/>
          </a:ln>
        </p:spPr>
      </p:sp>
      <p:sp>
        <p:nvSpPr>
          <p:cNvPr id="10" name="Text 7"/>
          <p:cNvSpPr/>
          <p:nvPr/>
        </p:nvSpPr>
        <p:spPr>
          <a:xfrm>
            <a:off x="5486400" y="1874520"/>
            <a:ext cx="3429000" cy="1097280"/>
          </a:xfrm>
          <a:prstGeom prst="rect">
            <a:avLst/>
          </a:prstGeom>
          <a:noFill/>
          <a:ln/>
        </p:spPr>
        <p:txBody>
          <a:bodyPr wrap="square" lIns="0" tIns="0" rIns="0" bIns="0" rtlCol="0" anchor="t"/>
          <a:lstStyle/>
          <a:p>
            <a:pPr marL="0" indent="0">
              <a:buNone/>
            </a:pPr>
            <a:r>
              <a:rPr lang="en-US" sz="1800" b="1" dirty="0">
                <a:solidFill>
                  <a:srgbClr val="2A2622"/>
                </a:solidFill>
                <a:latin typeface="Segoe UI" pitchFamily="34" charset="0"/>
                <a:ea typeface="Segoe UI" pitchFamily="34" charset="-122"/>
                <a:cs typeface="Segoe UI" pitchFamily="34" charset="-120"/>
              </a:rPr>
              <a:t>Website, installable app and Android app</a:t>
            </a:r>
            <a:endParaRPr lang="en-US" sz="1800" dirty="0"/>
          </a:p>
          <a:p>
            <a:pPr marL="0" indent="0">
              <a:buNone/>
            </a:pPr>
            <a:r>
              <a:rPr lang="en-US" sz="1400" dirty="0">
                <a:solidFill>
                  <a:srgbClr val="6F675E"/>
                </a:solidFill>
                <a:latin typeface="Segoe UI" pitchFamily="34" charset="0"/>
                <a:ea typeface="Segoe UI" pitchFamily="34" charset="-122"/>
                <a:cs typeface="Segoe UI" pitchFamily="34" charset="-120"/>
              </a:rPr>
              <a:t>One codebase.</a:t>
            </a:r>
            <a:endParaRPr lang="en-US" sz="1800" dirty="0"/>
          </a:p>
        </p:txBody>
      </p:sp>
      <p:sp>
        <p:nvSpPr>
          <p:cNvPr id="11" name="Shape 8"/>
          <p:cNvSpPr/>
          <p:nvPr/>
        </p:nvSpPr>
        <p:spPr>
          <a:xfrm>
            <a:off x="5029200" y="3310128"/>
            <a:ext cx="292608" cy="292608"/>
          </a:xfrm>
          <a:prstGeom prst="ellipse">
            <a:avLst/>
          </a:prstGeom>
          <a:solidFill>
            <a:srgbClr val="4F6F5C"/>
          </a:solidFill>
          <a:ln w="12700">
            <a:solidFill>
              <a:srgbClr val="4F6F5C"/>
            </a:solidFill>
            <a:prstDash val="solid"/>
          </a:ln>
        </p:spPr>
      </p:sp>
      <p:sp>
        <p:nvSpPr>
          <p:cNvPr id="12" name="Text 9"/>
          <p:cNvSpPr/>
          <p:nvPr/>
        </p:nvSpPr>
        <p:spPr>
          <a:xfrm>
            <a:off x="5486400" y="3200400"/>
            <a:ext cx="3429000" cy="1097280"/>
          </a:xfrm>
          <a:prstGeom prst="rect">
            <a:avLst/>
          </a:prstGeom>
          <a:noFill/>
          <a:ln/>
        </p:spPr>
        <p:txBody>
          <a:bodyPr wrap="square" lIns="0" tIns="0" rIns="0" bIns="0" rtlCol="0" anchor="t"/>
          <a:lstStyle/>
          <a:p>
            <a:pPr marL="0" indent="0">
              <a:buNone/>
            </a:pPr>
            <a:r>
              <a:rPr lang="en-US" sz="1800" b="1" dirty="0">
                <a:solidFill>
                  <a:srgbClr val="2A2622"/>
                </a:solidFill>
                <a:latin typeface="Segoe UI" pitchFamily="34" charset="0"/>
                <a:ea typeface="Segoe UI" pitchFamily="34" charset="-122"/>
                <a:cs typeface="Segoe UI" pitchFamily="34" charset="-120"/>
              </a:rPr>
              <a:t>Live sync tested on two screens</a:t>
            </a:r>
            <a:endParaRPr lang="en-US" sz="1800" dirty="0"/>
          </a:p>
          <a:p>
            <a:pPr marL="0" indent="0">
              <a:buNone/>
            </a:pPr>
            <a:r>
              <a:rPr lang="en-US" sz="1400" dirty="0">
                <a:solidFill>
                  <a:srgbClr val="6F675E"/>
                </a:solidFill>
                <a:latin typeface="Segoe UI" pitchFamily="34" charset="0"/>
                <a:ea typeface="Segoe UI" pitchFamily="34" charset="-122"/>
                <a:cs typeface="Segoe UI" pitchFamily="34" charset="-120"/>
              </a:rPr>
              <a:t>A phone and a laptop, at the same time.</a:t>
            </a:r>
            <a:endParaRPr lang="en-US" sz="1800" dirty="0"/>
          </a:p>
        </p:txBody>
      </p:sp>
      <p:sp>
        <p:nvSpPr>
          <p:cNvPr id="13" name="Shape 10"/>
          <p:cNvSpPr/>
          <p:nvPr/>
        </p:nvSpPr>
        <p:spPr>
          <a:xfrm>
            <a:off x="5029200" y="4636008"/>
            <a:ext cx="292608" cy="292608"/>
          </a:xfrm>
          <a:prstGeom prst="ellipse">
            <a:avLst/>
          </a:prstGeom>
          <a:solidFill>
            <a:srgbClr val="4F6F5C"/>
          </a:solidFill>
          <a:ln w="12700">
            <a:solidFill>
              <a:srgbClr val="4F6F5C"/>
            </a:solidFill>
            <a:prstDash val="solid"/>
          </a:ln>
        </p:spPr>
      </p:sp>
      <p:sp>
        <p:nvSpPr>
          <p:cNvPr id="14" name="Text 11"/>
          <p:cNvSpPr/>
          <p:nvPr/>
        </p:nvSpPr>
        <p:spPr>
          <a:xfrm>
            <a:off x="5486400" y="4526280"/>
            <a:ext cx="3429000" cy="1097280"/>
          </a:xfrm>
          <a:prstGeom prst="rect">
            <a:avLst/>
          </a:prstGeom>
          <a:noFill/>
          <a:ln/>
        </p:spPr>
        <p:txBody>
          <a:bodyPr wrap="square" lIns="0" tIns="0" rIns="0" bIns="0" rtlCol="0" anchor="t"/>
          <a:lstStyle/>
          <a:p>
            <a:pPr marL="0" indent="0">
              <a:buNone/>
            </a:pPr>
            <a:r>
              <a:rPr lang="en-US" sz="1800" b="1" dirty="0">
                <a:solidFill>
                  <a:srgbClr val="2A2622"/>
                </a:solidFill>
                <a:latin typeface="Segoe UI" pitchFamily="34" charset="0"/>
                <a:ea typeface="Segoe UI" pitchFamily="34" charset="-122"/>
                <a:cs typeface="Segoe UI" pitchFamily="34" charset="-120"/>
              </a:rPr>
              <a:t>Works offline</a:t>
            </a:r>
            <a:endParaRPr lang="en-US" sz="1800" dirty="0"/>
          </a:p>
          <a:p>
            <a:pPr marL="0" indent="0">
              <a:buNone/>
            </a:pPr>
            <a:r>
              <a:rPr lang="en-US" sz="1400" dirty="0">
                <a:solidFill>
                  <a:srgbClr val="6F675E"/>
                </a:solidFill>
                <a:latin typeface="Segoe UI" pitchFamily="34" charset="0"/>
                <a:ea typeface="Segoe UI" pitchFamily="34" charset="-122"/>
                <a:cs typeface="Segoe UI" pitchFamily="34" charset="-120"/>
              </a:rPr>
              <a:t>Entries are saved and sent when you reconnect.</a:t>
            </a:r>
            <a:endParaRPr lang="en-US" sz="1800" dirty="0"/>
          </a:p>
        </p:txBody>
      </p:sp>
      <p:sp>
        <p:nvSpPr>
          <p:cNvPr id="15" name="Shape 12"/>
          <p:cNvSpPr/>
          <p:nvPr/>
        </p:nvSpPr>
        <p:spPr>
          <a:xfrm>
            <a:off x="9089136" y="1791127"/>
            <a:ext cx="2487168" cy="4007267"/>
          </a:xfrm>
          <a:prstGeom prst="roundRect">
            <a:avLst>
              <a:gd name="adj" fmla="val 4412"/>
            </a:avLst>
          </a:prstGeom>
          <a:solidFill>
            <a:srgbClr val="FFFDF8"/>
          </a:solidFill>
          <a:ln w="12700">
            <a:solidFill>
              <a:srgbClr val="E6DCCD"/>
            </a:solidFill>
            <a:prstDash val="solid"/>
          </a:ln>
          <a:effectLst>
            <a:outerShdw blurRad="127000" dist="50800" dir="5400000" algn="bl" rotWithShape="0">
              <a:srgbClr val="000000">
                <a:alpha val="14000"/>
              </a:srgbClr>
            </a:outerShdw>
          </a:effectLst>
        </p:spPr>
      </p:sp>
      <p:pic>
        <p:nvPicPr>
          <p:cNvPr id="16" name="Image 0" descr="C:\Users\obaid\OneDrive\Desktop\AI Intg Class\Duet\docs\screenshots\07-summary-phone.png"/>
          <p:cNvPicPr>
            <a:picLocks noChangeAspect="1"/>
          </p:cNvPicPr>
          <p:nvPr/>
        </p:nvPicPr>
        <p:blipFill>
          <a:blip r:embed="rId5"/>
          <a:srcRect b="28000"/>
          <a:stretch/>
        </p:blipFill>
        <p:spPr>
          <a:xfrm>
            <a:off x="9144000" y="1845991"/>
            <a:ext cx="2377440" cy="3897539"/>
          </a:xfrm>
          <a:prstGeom prst="rect">
            <a:avLst/>
          </a:prstGeom>
        </p:spPr>
      </p:pic>
      <p:pic>
        <p:nvPicPr>
          <p:cNvPr id="2" name="Voiceover 9">
            <a:hlinkClick r:id="" action="ppaction://media"/>
            <a:extLst>
              <a:ext uri="{FF2B5EF4-FFF2-40B4-BE49-F238E27FC236}">
                <a16:creationId xmlns:a16="http://schemas.microsoft.com/office/drawing/2014/main" id="{B8AC92D9-0C8E-24D8-9C43-93C96B92698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16500">
        <p:fade/>
      </p:transition>
    </mc:Choice>
    <mc:Fallback>
      <p:transition spd="med" advTm="16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57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5576"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5455768" y="685800"/>
            <a:ext cx="1280160" cy="1280160"/>
          </a:xfrm>
          <a:prstGeom prst="roundRect">
            <a:avLst>
              <a:gd name="adj" fmla="val 17857"/>
            </a:avLst>
          </a:prstGeom>
          <a:solidFill>
            <a:srgbClr val="F4EFE6"/>
          </a:solidFill>
          <a:ln w="12700">
            <a:solidFill>
              <a:srgbClr val="F4EFE6"/>
            </a:solidFill>
            <a:prstDash val="solid"/>
          </a:ln>
        </p:spPr>
      </p:sp>
      <p:pic>
        <p:nvPicPr>
          <p:cNvPr id="4" name="Image 0" descr="C:\Users\obaid\OneDrive\Desktop\AI Intg Class\Duet\public\icons\icon-512.png"/>
          <p:cNvPicPr>
            <a:picLocks noChangeAspect="1"/>
          </p:cNvPicPr>
          <p:nvPr/>
        </p:nvPicPr>
        <p:blipFill>
          <a:blip r:embed="rId5"/>
          <a:stretch>
            <a:fillRect/>
          </a:stretch>
        </p:blipFill>
        <p:spPr>
          <a:xfrm>
            <a:off x="5592928" y="822960"/>
            <a:ext cx="1005840" cy="1005840"/>
          </a:xfrm>
          <a:prstGeom prst="rect">
            <a:avLst/>
          </a:prstGeom>
        </p:spPr>
      </p:pic>
      <p:sp>
        <p:nvSpPr>
          <p:cNvPr id="5" name="Text 0"/>
          <p:cNvSpPr>
            <a:spLocks noGrp="1"/>
          </p:cNvSpPr>
          <p:nvPr>
            <p:ph type="title" idx="100" hasCustomPrompt="1"/>
          </p:nvPr>
        </p:nvSpPr>
        <p:spPr>
          <a:xfrm>
            <a:off x="457200" y="2240280"/>
            <a:ext cx="11277295" cy="1371600"/>
          </a:xfrm>
          <a:prstGeom prst="rect">
            <a:avLst/>
          </a:prstGeom>
          <a:noFill/>
          <a:ln/>
        </p:spPr>
        <p:txBody>
          <a:bodyPr wrap="square" lIns="0" tIns="0" rIns="0" bIns="0" rtlCol="0" anchor="ctr"/>
          <a:lstStyle/>
          <a:p>
            <a:pPr marL="0" indent="0" algn="ctr">
              <a:buNone/>
            </a:pPr>
            <a:r>
              <a:rPr lang="en-US" sz="5800" b="1" dirty="0">
                <a:solidFill>
                  <a:srgbClr val="FFFDF8"/>
                </a:solidFill>
                <a:latin typeface="Georgia" pitchFamily="34" charset="0"/>
                <a:ea typeface="Georgia" pitchFamily="34" charset="-122"/>
                <a:cs typeface="Georgia" pitchFamily="34" charset="-120"/>
              </a:rPr>
              <a:t>Try Duet with us.</a:t>
            </a:r>
            <a:endParaRPr lang="en-US" sz="5800" dirty="0"/>
          </a:p>
        </p:txBody>
      </p:sp>
      <p:sp>
        <p:nvSpPr>
          <p:cNvPr id="6" name="Shape 2"/>
          <p:cNvSpPr/>
          <p:nvPr/>
        </p:nvSpPr>
        <p:spPr>
          <a:xfrm>
            <a:off x="1432408" y="3977640"/>
            <a:ext cx="2926080" cy="777240"/>
          </a:xfrm>
          <a:prstGeom prst="roundRect">
            <a:avLst>
              <a:gd name="adj" fmla="val 49412"/>
            </a:avLst>
          </a:prstGeom>
          <a:solidFill>
            <a:srgbClr val="3A352F"/>
          </a:solidFill>
          <a:ln w="12700">
            <a:solidFill>
              <a:srgbClr val="4A443D"/>
            </a:solidFill>
            <a:prstDash val="solid"/>
          </a:ln>
        </p:spPr>
      </p:sp>
      <p:sp>
        <p:nvSpPr>
          <p:cNvPr id="7" name="Text 3"/>
          <p:cNvSpPr/>
          <p:nvPr/>
        </p:nvSpPr>
        <p:spPr>
          <a:xfrm>
            <a:off x="1432408" y="3977640"/>
            <a:ext cx="2926080" cy="777240"/>
          </a:xfrm>
          <a:prstGeom prst="rect">
            <a:avLst/>
          </a:prstGeom>
          <a:noFill/>
          <a:ln/>
        </p:spPr>
        <p:txBody>
          <a:bodyPr wrap="square" rtlCol="0" anchor="ctr"/>
          <a:lstStyle/>
          <a:p>
            <a:pPr marL="0" indent="0" algn="ctr">
              <a:buNone/>
            </a:pPr>
            <a:r>
              <a:rPr lang="en-US" sz="2000" b="1" dirty="0">
                <a:solidFill>
                  <a:srgbClr val="FFFDF8"/>
                </a:solidFill>
                <a:latin typeface="Segoe UI" pitchFamily="34" charset="0"/>
                <a:ea typeface="Segoe UI" pitchFamily="34" charset="-122"/>
                <a:cs typeface="Segoe UI" pitchFamily="34" charset="-120"/>
              </a:rPr>
              <a:t>10 families</a:t>
            </a:r>
            <a:endParaRPr lang="en-US" sz="2000" dirty="0"/>
          </a:p>
        </p:txBody>
      </p:sp>
      <p:sp>
        <p:nvSpPr>
          <p:cNvPr id="8" name="Shape 4"/>
          <p:cNvSpPr/>
          <p:nvPr/>
        </p:nvSpPr>
        <p:spPr>
          <a:xfrm>
            <a:off x="4632808" y="3977640"/>
            <a:ext cx="2926080" cy="777240"/>
          </a:xfrm>
          <a:prstGeom prst="roundRect">
            <a:avLst>
              <a:gd name="adj" fmla="val 49412"/>
            </a:avLst>
          </a:prstGeom>
          <a:solidFill>
            <a:srgbClr val="C46A4A"/>
          </a:solidFill>
          <a:ln w="12700">
            <a:solidFill>
              <a:srgbClr val="C46A4A"/>
            </a:solidFill>
            <a:prstDash val="solid"/>
          </a:ln>
        </p:spPr>
      </p:sp>
      <p:sp>
        <p:nvSpPr>
          <p:cNvPr id="9" name="Text 5"/>
          <p:cNvSpPr/>
          <p:nvPr/>
        </p:nvSpPr>
        <p:spPr>
          <a:xfrm>
            <a:off x="4632808" y="3977640"/>
            <a:ext cx="2926080" cy="777240"/>
          </a:xfrm>
          <a:prstGeom prst="rect">
            <a:avLst/>
          </a:prstGeom>
          <a:noFill/>
          <a:ln/>
        </p:spPr>
        <p:txBody>
          <a:bodyPr wrap="square" rtlCol="0" anchor="ctr"/>
          <a:lstStyle/>
          <a:p>
            <a:pPr marL="0" indent="0" algn="ctr">
              <a:buNone/>
            </a:pPr>
            <a:r>
              <a:rPr lang="en-US" sz="2000" b="1" dirty="0">
                <a:solidFill>
                  <a:srgbClr val="FFFDF8"/>
                </a:solidFill>
                <a:latin typeface="Segoe UI" pitchFamily="34" charset="0"/>
                <a:ea typeface="Segoe UI" pitchFamily="34" charset="-122"/>
                <a:cs typeface="Segoe UI" pitchFamily="34" charset="-120"/>
              </a:rPr>
              <a:t>2-week pilot</a:t>
            </a:r>
            <a:endParaRPr lang="en-US" sz="2000" dirty="0"/>
          </a:p>
        </p:txBody>
      </p:sp>
      <p:sp>
        <p:nvSpPr>
          <p:cNvPr id="10" name="Shape 6"/>
          <p:cNvSpPr/>
          <p:nvPr/>
        </p:nvSpPr>
        <p:spPr>
          <a:xfrm>
            <a:off x="7833208" y="3977640"/>
            <a:ext cx="2926080" cy="777240"/>
          </a:xfrm>
          <a:prstGeom prst="roundRect">
            <a:avLst>
              <a:gd name="adj" fmla="val 49412"/>
            </a:avLst>
          </a:prstGeom>
          <a:solidFill>
            <a:srgbClr val="3A352F"/>
          </a:solidFill>
          <a:ln w="12700">
            <a:solidFill>
              <a:srgbClr val="4A443D"/>
            </a:solidFill>
            <a:prstDash val="solid"/>
          </a:ln>
        </p:spPr>
      </p:sp>
      <p:sp>
        <p:nvSpPr>
          <p:cNvPr id="11" name="Text 7"/>
          <p:cNvSpPr/>
          <p:nvPr/>
        </p:nvSpPr>
        <p:spPr>
          <a:xfrm>
            <a:off x="7833208" y="3977640"/>
            <a:ext cx="2926080" cy="777240"/>
          </a:xfrm>
          <a:prstGeom prst="rect">
            <a:avLst/>
          </a:prstGeom>
          <a:noFill/>
          <a:ln/>
        </p:spPr>
        <p:txBody>
          <a:bodyPr wrap="square" rtlCol="0" anchor="ctr"/>
          <a:lstStyle/>
          <a:p>
            <a:pPr marL="0" indent="0" algn="ctr">
              <a:buNone/>
            </a:pPr>
            <a:r>
              <a:rPr lang="en-US" sz="2000" b="1" dirty="0">
                <a:solidFill>
                  <a:srgbClr val="FFFDF8"/>
                </a:solidFill>
                <a:latin typeface="Segoe UI" pitchFamily="34" charset="0"/>
                <a:ea typeface="Segoe UI" pitchFamily="34" charset="-122"/>
                <a:cs typeface="Segoe UI" pitchFamily="34" charset="-120"/>
              </a:rPr>
              <a:t>Your feedback</a:t>
            </a:r>
            <a:endParaRPr lang="en-US" sz="2000" dirty="0"/>
          </a:p>
        </p:txBody>
      </p:sp>
      <p:sp>
        <p:nvSpPr>
          <p:cNvPr id="12" name="Text 8"/>
          <p:cNvSpPr/>
          <p:nvPr/>
        </p:nvSpPr>
        <p:spPr>
          <a:xfrm>
            <a:off x="457200" y="5669280"/>
            <a:ext cx="11277295" cy="457200"/>
          </a:xfrm>
          <a:prstGeom prst="rect">
            <a:avLst/>
          </a:prstGeom>
          <a:noFill/>
          <a:ln/>
        </p:spPr>
        <p:txBody>
          <a:bodyPr wrap="square" rtlCol="0" anchor="ctr"/>
          <a:lstStyle/>
          <a:p>
            <a:pPr marL="0" indent="0" algn="ctr">
              <a:buNone/>
            </a:pPr>
            <a:r>
              <a:rPr lang="en-US" sz="1600" dirty="0">
                <a:solidFill>
                  <a:srgbClr val="B9AFA3"/>
                </a:solidFill>
                <a:latin typeface="Segoe UI" pitchFamily="34" charset="0"/>
                <a:ea typeface="Segoe UI" pitchFamily="34" charset="-122"/>
                <a:cs typeface="Segoe UI" pitchFamily="34" charset="-120"/>
              </a:rPr>
              <a:t>Duet  ·  Talk. Log. Stay in sync.</a:t>
            </a:r>
            <a:endParaRPr lang="en-US" sz="1600" dirty="0"/>
          </a:p>
        </p:txBody>
      </p:sp>
      <p:pic>
        <p:nvPicPr>
          <p:cNvPr id="2" name="Voiceover 10">
            <a:hlinkClick r:id="" action="ppaction://media"/>
            <a:extLst>
              <a:ext uri="{FF2B5EF4-FFF2-40B4-BE49-F238E27FC236}">
                <a16:creationId xmlns:a16="http://schemas.microsoft.com/office/drawing/2014/main" id="{DF750A85-E6DB-59DE-379D-5E5BD09748B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700000" y="254000"/>
            <a:ext cx="508000" cy="50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advTm="16100">
        <p:fade/>
      </p:transition>
    </mc:Choice>
    <mc:Fallback>
      <p:transition spd="med" advTm="161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24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5240"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1089</Words>
  <Application>Microsoft Office PowerPoint</Application>
  <PresentationFormat>Widescreen</PresentationFormat>
  <Paragraphs>109</Paragraphs>
  <Slides>10</Slides>
  <Notes>10</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Georgia</vt:lpstr>
      <vt:lpstr>Segoe UI</vt:lpstr>
      <vt:lpstr>Office Theme</vt:lpstr>
      <vt:lpstr>“Did anyone feed her?”</vt:lpstr>
      <vt:lpstr>Newborn care never stops, and it is shared</vt:lpstr>
      <vt:lpstr>Meet Duet</vt:lpstr>
      <vt:lpstr>One sentence. That’s the whole interface.</vt:lpstr>
      <vt:lpstr>One household, two screens, live</vt:lpstr>
      <vt:lpstr>What makes Duet different</vt:lpstr>
      <vt:lpstr>Every baby comes with a team</vt:lpstr>
      <vt:lpstr>Free to start. Built to grow.</vt:lpstr>
      <vt:lpstr>Built, tested, and working today</vt:lpstr>
      <vt:lpstr>Try Duet with us.</vt:lpstr>
    </vt:vector>
  </TitlesOfParts>
  <Company>AI Integration Class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Duet — sales pitch</dc:title>
  <dc:subject>Voice-first baby log for the whole household</dc:subject>
  <dc:creator>PptxGenJS</dc:creator>
  <cp:lastModifiedBy>Shaik Abdul  Obaid</cp:lastModifiedBy>
  <cp:revision>2</cp:revision>
  <dcterms:created xsi:type="dcterms:W3CDTF">2026-10-05T05:25:29Z</dcterms:created>
  <dcterms:modified xsi:type="dcterms:W3CDTF">2026-10-05T05:26:31Z</dcterms:modified>
</cp:coreProperties>
</file>