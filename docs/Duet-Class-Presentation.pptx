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4933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Duet: a baby log you talk to. Built for the first 12 weeks, when several people share the care and everyone is exhausted. This deck covers what it does, how it is built, and how it was tested — 115 automated checks, all passing.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 points. Hands are full, so tapping through forms is hard. Care is shared, so information is scattered across texts. Existing trackers are built around dashboards and charts, not quick capture.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example: you say a normal sentence, Duet logs it and replies in one line. Everyone in the household sees it live. It answers questions from the shared log, and refuses medical questions — it is a log, not a doctor. And it is free.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Alex on a phone, logging by voice. Right is Sam on a laptop — the entry shows up on the Today timeline without refreshing. Both screenshots come straight from the automated browser test.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 normal website too. The landing page uses the full desktop width; the app itself stays in a comfortable phone-width column on a laptop. Tests confirm nothing scrolls sideways at phone, tablet or desktop sizes.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React web app runs everywhere. It talks to a small Express server with a SQLite database. Each sentence goes to the parser — a built-in rule-based parser, with an optional Claude AI model if an API key is set. When anything changes, the server pushes a live update to every caregiver using Server-Sent Events.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forked code. The same build runs as a website, as an installable app, and inside the Android app. For Android the key detail is networking: the emulator cannot reach "localhost" on the laptop, so the app uses the special address 10.0.2.2.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Chrome, voice uses the built-in Web Speech API. Inside the Android app's web view that API is unreliable, so on Android Duet switches to a native speech-recognition plugin. Both paths produce the same text, which goes through the same parser — so a spoken entry behaves exactly like a typed 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goes from small to big. Unit tests check the sentence parser alone. End-to-end tests act as two caregivers plus an outsider and use every server feature. Browser tests click through the real app in Edge on a phone-sized and a desktop-sized window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scenario the browser test plays out, with two separate browser sessions. Alex is on a phone-sized screen, Sam on a desktop. Every step is checked automatically, including that changes show up on the other screen without refreshing.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area passed in the final run on October 1. The left column is the server-side and parser tests, the right column is what was clicked through in the real browser.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value of testing. None of these showed up in normal clicking around. Each one is fixed, and each now has a test so it cannot come back unnoticed.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worker stores the app on the device. Opened with no connection, Duet shows a clear offline message instead of a blank page, keeps you signed in, and saves entries to send later. When the connection returns it reloads by itself and the saved entry reaches the other caregiver. All of this is checked by the browser test.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these three. The Android project is configured and verified, but it has not been run in an emulator because Android Studio was not installed on the test machine. Real speech cannot be automated. And no iPhone was available.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free and runs locally. Start the server, then run the three test commands; each should end with 0 failed. The browser test saves fresh screenshots every time.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a live demo: open the app on a phone and a laptop side by side, log by voice on one, and show it appear on the other.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UET_CONTENT">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640080" y="6400800"/>
            <a:ext cx="4572000" cy="274320"/>
          </a:xfrm>
          <a:prstGeom prst="rect">
            <a:avLst/>
          </a:prstGeom>
          <a:noFill/>
          <a:ln/>
        </p:spPr>
        <p:txBody>
          <a:bodyPr wrap="square" rtlCol="0" anchor="ctr"/>
          <a:lstStyle/>
          <a:p>
            <a:pPr marL="0" indent="0">
              <a:buNone/>
            </a:pPr>
            <a:r>
              <a:rPr lang="en-US" sz="1000" dirty="0">
                <a:solidFill>
                  <a:srgbClr val="6F675E"/>
                </a:solidFill>
                <a:latin typeface="Segoe UI" pitchFamily="34" charset="0"/>
                <a:ea typeface="Segoe UI" pitchFamily="34" charset="-122"/>
                <a:cs typeface="Segoe UI" pitchFamily="34" charset="-120"/>
              </a:rPr>
              <a:t>Duet · AI Integration Class</a:t>
            </a:r>
            <a:endParaRPr lang="en-US" sz="10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rtlCol="0"/>
          <a:lstStyle>
            <a:lvl1pPr marL="0" indent="0" algn="l">
              <a:buNone/>
              <a:defRPr lang="en-US" sz="3200" b="1" dirty="0">
                <a:solidFill>
                  <a:srgbClr val="2A2622"/>
                </a:solidFill>
                <a:latin typeface="Georgia" pitchFamily="34" charset="0"/>
                <a:ea typeface="Georgia" pitchFamily="34" charset="-122"/>
                <a:cs typeface="Georg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UET_TITLE">
    <p:bg>
      <p:bgPr>
        <a:solidFill>
          <a:srgbClr val="F4EFE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50392" y="2423160"/>
            <a:ext cx="6400800" cy="1188720"/>
          </a:xfrm>
          <a:prstGeom prst="rect">
            <a:avLst/>
          </a:prstGeom>
          <a:noFill/>
          <a:ln/>
        </p:spPr>
        <p:txBody>
          <a:bodyPr wrap="square" rtlCol="0"/>
          <a:lstStyle>
            <a:lvl1pPr marL="0" indent="0" algn="l">
              <a:buNone/>
              <a:defRPr lang="en-US" sz="7200" b="1" dirty="0">
                <a:solidFill>
                  <a:srgbClr val="2A2622"/>
                </a:solidFill>
                <a:latin typeface="Georgia" pitchFamily="34" charset="0"/>
                <a:ea typeface="Georgia" pitchFamily="34" charset="-122"/>
                <a:cs typeface="Georgia" pitchFamily="34" charset="-120"/>
              </a:defRPr>
            </a:lvl1pPr>
          </a:lstStyle>
          <a:p>
            <a:pPr marL="0" indent="0" algn="l">
              <a:buNone/>
            </a:pPr>
            <a:endParaRPr lang="en-US" sz="7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UET_END">
    <p:bg>
      <p:bgPr>
        <a:solidFill>
          <a:srgbClr val="2A262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0" y="2651760"/>
            <a:ext cx="12191695" cy="1097280"/>
          </a:xfrm>
          <a:prstGeom prst="rect">
            <a:avLst/>
          </a:prstGeom>
          <a:noFill/>
          <a:ln/>
        </p:spPr>
        <p:txBody>
          <a:bodyPr wrap="square" rtlCol="0"/>
          <a:lstStyle>
            <a:lvl1pPr marL="0" indent="0" algn="ctr">
              <a:buNone/>
              <a:defRPr lang="en-US" sz="5400" b="1" dirty="0">
                <a:solidFill>
                  <a:srgbClr val="FFFDF8"/>
                </a:solidFill>
                <a:latin typeface="Georgia" pitchFamily="34" charset="0"/>
                <a:ea typeface="Georgia" pitchFamily="34" charset="-122"/>
                <a:cs typeface="Georgia" pitchFamily="34" charset="-120"/>
              </a:defRPr>
            </a:lvl1pPr>
          </a:lstStyle>
          <a:p>
            <a:pPr marL="0" indent="0" algn="ctr">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obaid\OneDrive\Desktop\AI Intg Class\Duet\public\icons\icon-512.png"/>
          <p:cNvPicPr>
            <a:picLocks noChangeAspect="1"/>
          </p:cNvPicPr>
          <p:nvPr/>
        </p:nvPicPr>
        <p:blipFill>
          <a:blip r:embed="rId3"/>
          <a:stretch>
            <a:fillRect/>
          </a:stretch>
        </p:blipFill>
        <p:spPr>
          <a:xfrm>
            <a:off x="822960" y="1143000"/>
            <a:ext cx="1188720" cy="1188720"/>
          </a:xfrm>
          <a:prstGeom prst="rect">
            <a:avLst/>
          </a:prstGeom>
        </p:spPr>
      </p:pic>
      <p:sp>
        <p:nvSpPr>
          <p:cNvPr id="3" name="Text 0"/>
          <p:cNvSpPr>
            <a:spLocks noGrp="1"/>
          </p:cNvSpPr>
          <p:nvPr>
            <p:ph type="title" idx="100" hasCustomPrompt="1"/>
          </p:nvPr>
        </p:nvSpPr>
        <p:spPr>
          <a:xfrm>
            <a:off x="850392" y="2423160"/>
            <a:ext cx="6400800" cy="1188720"/>
          </a:xfrm>
          <a:prstGeom prst="rect">
            <a:avLst/>
          </a:prstGeom>
          <a:noFill/>
          <a:ln/>
        </p:spPr>
        <p:txBody>
          <a:bodyPr wrap="square" lIns="0" tIns="0" rIns="0" bIns="0" rtlCol="0"/>
          <a:lstStyle/>
          <a:p>
            <a:pPr marL="0" indent="0" algn="l">
              <a:buNone/>
            </a:pPr>
            <a:r>
              <a:rPr lang="en-US" sz="7200" b="1" dirty="0">
                <a:solidFill>
                  <a:srgbClr val="2A2622"/>
                </a:solidFill>
                <a:latin typeface="Georgia" pitchFamily="34" charset="0"/>
                <a:ea typeface="Georgia" pitchFamily="34" charset="-122"/>
                <a:cs typeface="Georgia" pitchFamily="34" charset="-120"/>
              </a:rPr>
              <a:t>Duet</a:t>
            </a:r>
            <a:endParaRPr lang="en-US" sz="7200" dirty="0"/>
          </a:p>
        </p:txBody>
      </p:sp>
      <p:sp>
        <p:nvSpPr>
          <p:cNvPr id="4" name="Text 1"/>
          <p:cNvSpPr/>
          <p:nvPr/>
        </p:nvSpPr>
        <p:spPr>
          <a:xfrm>
            <a:off x="822960" y="3566160"/>
            <a:ext cx="6400800" cy="822960"/>
          </a:xfrm>
          <a:prstGeom prst="rect">
            <a:avLst/>
          </a:prstGeom>
          <a:noFill/>
          <a:ln/>
        </p:spPr>
        <p:txBody>
          <a:bodyPr wrap="square" rtlCol="0" anchor="ctr"/>
          <a:lstStyle/>
          <a:p>
            <a:pPr marL="0" indent="0">
              <a:buNone/>
            </a:pPr>
            <a:r>
              <a:rPr lang="en-US" sz="2600" dirty="0">
                <a:solidFill>
                  <a:srgbClr val="2A2622"/>
                </a:solidFill>
                <a:latin typeface="Georgia" pitchFamily="34" charset="0"/>
                <a:ea typeface="Georgia" pitchFamily="34" charset="-122"/>
                <a:cs typeface="Georgia" pitchFamily="34" charset="-120"/>
              </a:rPr>
              <a:t>A voice-first baby log for the whole household</a:t>
            </a:r>
            <a:endParaRPr lang="en-US" sz="2600" dirty="0"/>
          </a:p>
        </p:txBody>
      </p:sp>
      <p:sp>
        <p:nvSpPr>
          <p:cNvPr id="5" name="Text 2"/>
          <p:cNvSpPr/>
          <p:nvPr/>
        </p:nvSpPr>
        <p:spPr>
          <a:xfrm>
            <a:off x="822960" y="4434840"/>
            <a:ext cx="6400800" cy="457200"/>
          </a:xfrm>
          <a:prstGeom prst="rect">
            <a:avLst/>
          </a:prstGeom>
          <a:noFill/>
          <a:ln/>
        </p:spPr>
        <p:txBody>
          <a:bodyPr wrap="square" rtlCol="0" anchor="ctr"/>
          <a:lstStyle/>
          <a:p>
            <a:pPr marL="0" indent="0">
              <a:buNone/>
            </a:pPr>
            <a:r>
              <a:rPr lang="en-US" sz="1800" b="1" dirty="0">
                <a:solidFill>
                  <a:srgbClr val="C46A4A"/>
                </a:solidFill>
                <a:latin typeface="Segoe UI" pitchFamily="34" charset="0"/>
                <a:ea typeface="Segoe UI" pitchFamily="34" charset="-122"/>
                <a:cs typeface="Segoe UI" pitchFamily="34" charset="-120"/>
              </a:rPr>
              <a:t>Talk. Log. Stay in sync.</a:t>
            </a:r>
            <a:endParaRPr lang="en-US" sz="1800" dirty="0"/>
          </a:p>
        </p:txBody>
      </p:sp>
      <p:sp>
        <p:nvSpPr>
          <p:cNvPr id="6" name="Text 3"/>
          <p:cNvSpPr/>
          <p:nvPr/>
        </p:nvSpPr>
        <p:spPr>
          <a:xfrm>
            <a:off x="822960" y="5669280"/>
            <a:ext cx="6400800" cy="365760"/>
          </a:xfrm>
          <a:prstGeom prst="rect">
            <a:avLst/>
          </a:prstGeom>
          <a:noFill/>
          <a:ln/>
        </p:spPr>
        <p:txBody>
          <a:bodyPr wrap="square" rtlCol="0" anchor="ctr"/>
          <a:lstStyle/>
          <a:p>
            <a:pPr marL="0" indent="0">
              <a:buNone/>
            </a:pPr>
            <a:r>
              <a:rPr lang="en-US" sz="1400" dirty="0">
                <a:solidFill>
                  <a:srgbClr val="6F675E"/>
                </a:solidFill>
                <a:latin typeface="Segoe UI" pitchFamily="34" charset="0"/>
                <a:ea typeface="Segoe UI" pitchFamily="34" charset="-122"/>
                <a:cs typeface="Segoe UI" pitchFamily="34" charset="-120"/>
              </a:rPr>
              <a:t>AI Integration Class · Project presentation</a:t>
            </a:r>
            <a:endParaRPr lang="en-US" sz="1400" dirty="0"/>
          </a:p>
        </p:txBody>
      </p:sp>
      <p:sp>
        <p:nvSpPr>
          <p:cNvPr id="7" name="Shape 4"/>
          <p:cNvSpPr/>
          <p:nvPr/>
        </p:nvSpPr>
        <p:spPr>
          <a:xfrm>
            <a:off x="8189873" y="493776"/>
            <a:ext cx="2639774" cy="5870448"/>
          </a:xfrm>
          <a:prstGeom prst="roundRect">
            <a:avLst>
              <a:gd name="adj" fmla="val 4157"/>
            </a:avLst>
          </a:prstGeom>
          <a:solidFill>
            <a:srgbClr val="FFFDF8"/>
          </a:solidFill>
          <a:ln w="12700">
            <a:solidFill>
              <a:srgbClr val="E6DCCD"/>
            </a:solidFill>
            <a:prstDash val="solid"/>
          </a:ln>
          <a:effectLst>
            <a:outerShdw blurRad="101600" dist="38100" dir="5400000" algn="bl" rotWithShape="0">
              <a:srgbClr val="000000">
                <a:alpha val="12000"/>
              </a:srgbClr>
            </a:outerShdw>
          </a:effectLst>
        </p:spPr>
      </p:sp>
      <p:pic>
        <p:nvPicPr>
          <p:cNvPr id="8" name="Image 1" descr="C:\Users\obaid\OneDrive\Desktop\AI Intg Class\Duet\docs\screenshots\05-voice-logged-phone.png"/>
          <p:cNvPicPr>
            <a:picLocks noChangeAspect="1"/>
          </p:cNvPicPr>
          <p:nvPr/>
        </p:nvPicPr>
        <p:blipFill>
          <a:blip r:embed="rId4"/>
          <a:stretch>
            <a:fillRect/>
          </a:stretch>
        </p:blipFill>
        <p:spPr>
          <a:xfrm>
            <a:off x="8244737" y="548640"/>
            <a:ext cx="2530046" cy="576072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THE PROBLEM</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The first 12 weeks are a blur</a:t>
            </a:r>
            <a:endParaRPr lang="en-US" sz="3200" dirty="0"/>
          </a:p>
        </p:txBody>
      </p:sp>
      <p:sp>
        <p:nvSpPr>
          <p:cNvPr id="5" name="Shape 2"/>
          <p:cNvSpPr/>
          <p:nvPr/>
        </p:nvSpPr>
        <p:spPr>
          <a:xfrm>
            <a:off x="640080" y="1783080"/>
            <a:ext cx="3474720" cy="2377440"/>
          </a:xfrm>
          <a:prstGeom prst="roundRect">
            <a:avLst>
              <a:gd name="adj" fmla="val 5769"/>
            </a:avLst>
          </a:prstGeom>
          <a:solidFill>
            <a:srgbClr val="FFFDF8"/>
          </a:solidFill>
          <a:ln w="12700">
            <a:solidFill>
              <a:srgbClr val="E6DCCD"/>
            </a:solidFill>
            <a:prstDash val="solid"/>
          </a:ln>
        </p:spPr>
      </p:sp>
      <p:sp>
        <p:nvSpPr>
          <p:cNvPr id="6" name="Text 3"/>
          <p:cNvSpPr/>
          <p:nvPr/>
        </p:nvSpPr>
        <p:spPr>
          <a:xfrm>
            <a:off x="868680" y="1965960"/>
            <a:ext cx="3017520" cy="2011680"/>
          </a:xfrm>
          <a:prstGeom prst="rect">
            <a:avLst/>
          </a:prstGeom>
          <a:noFill/>
          <a:ln/>
        </p:spPr>
        <p:txBody>
          <a:bodyPr wrap="square" rtlCol="0" anchor="t"/>
          <a:lstStyle/>
          <a:p>
            <a:pPr marL="0" indent="0">
              <a:buNone/>
            </a:pPr>
            <a:r>
              <a:rPr lang="en-US" sz="2000" b="1" dirty="0">
                <a:solidFill>
                  <a:srgbClr val="2A2622"/>
                </a:solidFill>
                <a:latin typeface="Segoe UI" pitchFamily="34" charset="0"/>
                <a:ea typeface="Segoe UI" pitchFamily="34" charset="-122"/>
                <a:cs typeface="Segoe UI" pitchFamily="34" charset="-120"/>
              </a:rPr>
              <a:t>Hands are full</a:t>
            </a:r>
            <a:endParaRPr lang="en-US" sz="2000" dirty="0"/>
          </a:p>
          <a:p>
            <a:pPr marL="0" indent="0">
              <a:buNone/>
            </a:pPr>
            <a:r>
              <a:rPr lang="en-US" sz="600" dirty="0">
                <a:solidFill>
                  <a:srgbClr val="000000"/>
                </a:solidFill>
              </a:rPr>
              <a:t> </a:t>
            </a:r>
            <a:endParaRPr lang="en-US" sz="2000" dirty="0"/>
          </a:p>
          <a:p>
            <a:pPr marL="0" indent="0">
              <a:buNone/>
            </a:pPr>
            <a:r>
              <a:rPr lang="en-US" sz="1700" dirty="0">
                <a:solidFill>
                  <a:srgbClr val="6F675E"/>
                </a:solidFill>
                <a:latin typeface="Segoe UI" pitchFamily="34" charset="0"/>
                <a:ea typeface="Segoe UI" pitchFamily="34" charset="-122"/>
                <a:cs typeface="Segoe UI" pitchFamily="34" charset="-120"/>
              </a:rPr>
              <a:t>Feeding, rocking, burping — there is rarely a free hand to tap through a form at 3 AM.</a:t>
            </a:r>
            <a:endParaRPr lang="en-US" sz="2000" dirty="0"/>
          </a:p>
        </p:txBody>
      </p:sp>
      <p:sp>
        <p:nvSpPr>
          <p:cNvPr id="7" name="Shape 4"/>
          <p:cNvSpPr/>
          <p:nvPr/>
        </p:nvSpPr>
        <p:spPr>
          <a:xfrm>
            <a:off x="4343400" y="1783080"/>
            <a:ext cx="3474720" cy="2377440"/>
          </a:xfrm>
          <a:prstGeom prst="roundRect">
            <a:avLst>
              <a:gd name="adj" fmla="val 5769"/>
            </a:avLst>
          </a:prstGeom>
          <a:solidFill>
            <a:srgbClr val="FFFDF8"/>
          </a:solidFill>
          <a:ln w="12700">
            <a:solidFill>
              <a:srgbClr val="E6DCCD"/>
            </a:solidFill>
            <a:prstDash val="solid"/>
          </a:ln>
        </p:spPr>
      </p:sp>
      <p:sp>
        <p:nvSpPr>
          <p:cNvPr id="8" name="Text 5"/>
          <p:cNvSpPr/>
          <p:nvPr/>
        </p:nvSpPr>
        <p:spPr>
          <a:xfrm>
            <a:off x="4572000" y="1965960"/>
            <a:ext cx="3017520" cy="2011680"/>
          </a:xfrm>
          <a:prstGeom prst="rect">
            <a:avLst/>
          </a:prstGeom>
          <a:noFill/>
          <a:ln/>
        </p:spPr>
        <p:txBody>
          <a:bodyPr wrap="square" rtlCol="0" anchor="t"/>
          <a:lstStyle/>
          <a:p>
            <a:pPr marL="0" indent="0">
              <a:buNone/>
            </a:pPr>
            <a:r>
              <a:rPr lang="en-US" sz="2000" b="1" dirty="0">
                <a:solidFill>
                  <a:srgbClr val="2A2622"/>
                </a:solidFill>
                <a:latin typeface="Segoe UI" pitchFamily="34" charset="0"/>
                <a:ea typeface="Segoe UI" pitchFamily="34" charset="-122"/>
                <a:cs typeface="Segoe UI" pitchFamily="34" charset="-120"/>
              </a:rPr>
              <a:t>Care is shared</a:t>
            </a:r>
            <a:endParaRPr lang="en-US" sz="2000" dirty="0"/>
          </a:p>
          <a:p>
            <a:pPr marL="0" indent="0">
              <a:buNone/>
            </a:pPr>
            <a:r>
              <a:rPr lang="en-US" sz="600" dirty="0">
                <a:solidFill>
                  <a:srgbClr val="000000"/>
                </a:solidFill>
              </a:rPr>
              <a:t> </a:t>
            </a:r>
            <a:endParaRPr lang="en-US" sz="2000" dirty="0"/>
          </a:p>
          <a:p>
            <a:pPr marL="0" indent="0">
              <a:buNone/>
            </a:pPr>
            <a:r>
              <a:rPr lang="en-US" sz="1700" dirty="0">
                <a:solidFill>
                  <a:srgbClr val="6F675E"/>
                </a:solidFill>
                <a:latin typeface="Segoe UI" pitchFamily="34" charset="0"/>
                <a:ea typeface="Segoe UI" pitchFamily="34" charset="-122"/>
                <a:cs typeface="Segoe UI" pitchFamily="34" charset="-120"/>
              </a:rPr>
              <a:t>Parents, grandparents and night nurses each hold part of the picture. "Did she eat yet?" lives in group texts.</a:t>
            </a:r>
            <a:endParaRPr lang="en-US" sz="2000" dirty="0"/>
          </a:p>
        </p:txBody>
      </p:sp>
      <p:sp>
        <p:nvSpPr>
          <p:cNvPr id="9" name="Shape 6"/>
          <p:cNvSpPr/>
          <p:nvPr/>
        </p:nvSpPr>
        <p:spPr>
          <a:xfrm>
            <a:off x="8046720" y="1783080"/>
            <a:ext cx="3474720" cy="2377440"/>
          </a:xfrm>
          <a:prstGeom prst="roundRect">
            <a:avLst>
              <a:gd name="adj" fmla="val 5769"/>
            </a:avLst>
          </a:prstGeom>
          <a:solidFill>
            <a:srgbClr val="FFFDF8"/>
          </a:solidFill>
          <a:ln w="12700">
            <a:solidFill>
              <a:srgbClr val="E6DCCD"/>
            </a:solidFill>
            <a:prstDash val="solid"/>
          </a:ln>
        </p:spPr>
      </p:sp>
      <p:sp>
        <p:nvSpPr>
          <p:cNvPr id="10" name="Text 7"/>
          <p:cNvSpPr/>
          <p:nvPr/>
        </p:nvSpPr>
        <p:spPr>
          <a:xfrm>
            <a:off x="8275320" y="1965960"/>
            <a:ext cx="3017520" cy="2011680"/>
          </a:xfrm>
          <a:prstGeom prst="rect">
            <a:avLst/>
          </a:prstGeom>
          <a:noFill/>
          <a:ln/>
        </p:spPr>
        <p:txBody>
          <a:bodyPr wrap="square" rtlCol="0" anchor="t"/>
          <a:lstStyle/>
          <a:p>
            <a:pPr marL="0" indent="0">
              <a:buNone/>
            </a:pPr>
            <a:r>
              <a:rPr lang="en-US" sz="2000" b="1" dirty="0">
                <a:solidFill>
                  <a:srgbClr val="2A2622"/>
                </a:solidFill>
                <a:latin typeface="Segoe UI" pitchFamily="34" charset="0"/>
                <a:ea typeface="Segoe UI" pitchFamily="34" charset="-122"/>
                <a:cs typeface="Segoe UI" pitchFamily="34" charset="-120"/>
              </a:rPr>
              <a:t>Trackers are form-heavy</a:t>
            </a:r>
            <a:endParaRPr lang="en-US" sz="2000" dirty="0"/>
          </a:p>
          <a:p>
            <a:pPr marL="0" indent="0">
              <a:buNone/>
            </a:pPr>
            <a:r>
              <a:rPr lang="en-US" sz="600" dirty="0">
                <a:solidFill>
                  <a:srgbClr val="000000"/>
                </a:solidFill>
              </a:rPr>
              <a:t> </a:t>
            </a:r>
            <a:endParaRPr lang="en-US" sz="2000" dirty="0"/>
          </a:p>
          <a:p>
            <a:pPr marL="0" indent="0">
              <a:buNone/>
            </a:pPr>
            <a:r>
              <a:rPr lang="en-US" sz="1700" dirty="0">
                <a:solidFill>
                  <a:srgbClr val="6F675E"/>
                </a:solidFill>
                <a:latin typeface="Segoe UI" pitchFamily="34" charset="0"/>
                <a:ea typeface="Segoe UI" pitchFamily="34" charset="-122"/>
                <a:cs typeface="Segoe UI" pitchFamily="34" charset="-120"/>
              </a:rPr>
              <a:t>Popular apps are built around charts and dashboards. Logging one bottle takes several taps.</a:t>
            </a:r>
            <a:endParaRPr lang="en-US" sz="2000" dirty="0"/>
          </a:p>
        </p:txBody>
      </p:sp>
      <p:sp>
        <p:nvSpPr>
          <p:cNvPr id="11" name="Shape 8"/>
          <p:cNvSpPr/>
          <p:nvPr/>
        </p:nvSpPr>
        <p:spPr>
          <a:xfrm>
            <a:off x="640080" y="4526280"/>
            <a:ext cx="10881360" cy="1280160"/>
          </a:xfrm>
          <a:prstGeom prst="roundRect">
            <a:avLst>
              <a:gd name="adj" fmla="val 10714"/>
            </a:avLst>
          </a:prstGeom>
          <a:solidFill>
            <a:srgbClr val="E4EEE7"/>
          </a:solidFill>
          <a:ln w="12700">
            <a:solidFill>
              <a:srgbClr val="E6DCCD"/>
            </a:solidFill>
            <a:prstDash val="solid"/>
          </a:ln>
        </p:spPr>
      </p:sp>
      <p:sp>
        <p:nvSpPr>
          <p:cNvPr id="12" name="Text 9"/>
          <p:cNvSpPr/>
          <p:nvPr/>
        </p:nvSpPr>
        <p:spPr>
          <a:xfrm>
            <a:off x="914400" y="4526280"/>
            <a:ext cx="10332720" cy="1280160"/>
          </a:xfrm>
          <a:prstGeom prst="rect">
            <a:avLst/>
          </a:prstGeom>
          <a:noFill/>
          <a:ln/>
        </p:spPr>
        <p:txBody>
          <a:bodyPr wrap="square" rtlCol="0" anchor="ctr"/>
          <a:lstStyle/>
          <a:p>
            <a:pPr marL="0" indent="0">
              <a:buNone/>
            </a:pPr>
            <a:r>
              <a:rPr lang="en-US" sz="2100" b="1" dirty="0">
                <a:solidFill>
                  <a:srgbClr val="C46A4A"/>
                </a:solidFill>
                <a:latin typeface="Segoe UI" pitchFamily="34" charset="0"/>
                <a:ea typeface="Segoe UI" pitchFamily="34" charset="-122"/>
                <a:cs typeface="Segoe UI" pitchFamily="34" charset="-120"/>
              </a:rPr>
              <a:t>Goal  </a:t>
            </a:r>
            <a:r>
              <a:rPr lang="en-US" sz="2100" b="1" dirty="0">
                <a:solidFill>
                  <a:srgbClr val="4F6F5C"/>
                </a:solidFill>
                <a:latin typeface="Segoe UI" pitchFamily="34" charset="0"/>
                <a:ea typeface="Segoe UI" pitchFamily="34" charset="-122"/>
                <a:cs typeface="Segoe UI" pitchFamily="34" charset="-120"/>
              </a:rPr>
              <a:t>Logging should take one sentence, and everyone should see it instantly.</a:t>
            </a:r>
            <a:endParaRPr lang="en-US" sz="2100" dirty="0"/>
          </a:p>
        </p:txBody>
      </p:sp>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2</a:t>
            </a:fld>
            <a:endParaRPr lang="en-US"/>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THE SOLUTION</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Talk. Log. Stay in sync.</a:t>
            </a:r>
            <a:endParaRPr lang="en-US" sz="3200" dirty="0"/>
          </a:p>
        </p:txBody>
      </p:sp>
      <p:sp>
        <p:nvSpPr>
          <p:cNvPr id="5" name="Shape 2"/>
          <p:cNvSpPr/>
          <p:nvPr/>
        </p:nvSpPr>
        <p:spPr>
          <a:xfrm>
            <a:off x="685800" y="1801368"/>
            <a:ext cx="292608" cy="292608"/>
          </a:xfrm>
          <a:prstGeom prst="ellipse">
            <a:avLst/>
          </a:prstGeom>
          <a:solidFill>
            <a:srgbClr val="C46A4A"/>
          </a:solidFill>
          <a:ln w="12700">
            <a:solidFill>
              <a:srgbClr val="C46A4A"/>
            </a:solidFill>
            <a:prstDash val="solid"/>
          </a:ln>
        </p:spPr>
      </p:sp>
      <p:sp>
        <p:nvSpPr>
          <p:cNvPr id="6" name="Text 3"/>
          <p:cNvSpPr/>
          <p:nvPr/>
        </p:nvSpPr>
        <p:spPr>
          <a:xfrm>
            <a:off x="1143000" y="1691640"/>
            <a:ext cx="5760720" cy="548640"/>
          </a:xfrm>
          <a:prstGeom prst="rect">
            <a:avLst/>
          </a:prstGeom>
          <a:noFill/>
          <a:ln/>
        </p:spPr>
        <p:txBody>
          <a:bodyPr wrap="square" rtlCol="0" anchor="ctr"/>
          <a:lstStyle/>
          <a:p>
            <a:pPr marL="0" indent="0">
              <a:buNone/>
            </a:pPr>
            <a:r>
              <a:rPr lang="en-US" sz="1500" b="1" dirty="0">
                <a:solidFill>
                  <a:srgbClr val="2A2622"/>
                </a:solidFill>
                <a:latin typeface="Segoe UI" pitchFamily="34" charset="0"/>
                <a:ea typeface="Segoe UI" pitchFamily="34" charset="-122"/>
                <a:cs typeface="Segoe UI" pitchFamily="34" charset="-120"/>
              </a:rPr>
              <a:t>Speak naturally  </a:t>
            </a:r>
            <a:r>
              <a:rPr lang="en-US" sz="1500" dirty="0">
                <a:solidFill>
                  <a:srgbClr val="6F675E"/>
                </a:solidFill>
                <a:latin typeface="Segoe UI" pitchFamily="34" charset="0"/>
                <a:ea typeface="Segoe UI" pitchFamily="34" charset="-122"/>
                <a:cs typeface="Segoe UI" pitchFamily="34" charset="-120"/>
              </a:rPr>
              <a:t>"Just gave her a 3 ounce bottle" becomes a logged feed.</a:t>
            </a:r>
            <a:endParaRPr lang="en-US" sz="1500" dirty="0"/>
          </a:p>
        </p:txBody>
      </p:sp>
      <p:sp>
        <p:nvSpPr>
          <p:cNvPr id="7" name="Shape 4"/>
          <p:cNvSpPr/>
          <p:nvPr/>
        </p:nvSpPr>
        <p:spPr>
          <a:xfrm>
            <a:off x="685800" y="2670048"/>
            <a:ext cx="292608" cy="292608"/>
          </a:xfrm>
          <a:prstGeom prst="ellipse">
            <a:avLst/>
          </a:prstGeom>
          <a:solidFill>
            <a:srgbClr val="C46A4A"/>
          </a:solidFill>
          <a:ln w="12700">
            <a:solidFill>
              <a:srgbClr val="C46A4A"/>
            </a:solidFill>
            <a:prstDash val="solid"/>
          </a:ln>
        </p:spPr>
      </p:sp>
      <p:sp>
        <p:nvSpPr>
          <p:cNvPr id="8" name="Text 5"/>
          <p:cNvSpPr/>
          <p:nvPr/>
        </p:nvSpPr>
        <p:spPr>
          <a:xfrm>
            <a:off x="1143000" y="2560320"/>
            <a:ext cx="5760720" cy="548640"/>
          </a:xfrm>
          <a:prstGeom prst="rect">
            <a:avLst/>
          </a:prstGeom>
          <a:noFill/>
          <a:ln/>
        </p:spPr>
        <p:txBody>
          <a:bodyPr wrap="square" rtlCol="0" anchor="ctr"/>
          <a:lstStyle/>
          <a:p>
            <a:pPr marL="0" indent="0">
              <a:buNone/>
            </a:pPr>
            <a:r>
              <a:rPr lang="en-US" sz="1500" b="1" dirty="0">
                <a:solidFill>
                  <a:srgbClr val="2A2622"/>
                </a:solidFill>
                <a:latin typeface="Segoe UI" pitchFamily="34" charset="0"/>
                <a:ea typeface="Segoe UI" pitchFamily="34" charset="-122"/>
                <a:cs typeface="Segoe UI" pitchFamily="34" charset="-120"/>
              </a:rPr>
              <a:t>Everyone sees it live  </a:t>
            </a:r>
            <a:r>
              <a:rPr lang="en-US" sz="1500" dirty="0">
                <a:solidFill>
                  <a:srgbClr val="6F675E"/>
                </a:solidFill>
                <a:latin typeface="Segoe UI" pitchFamily="34" charset="0"/>
                <a:ea typeface="Segoe UI" pitchFamily="34" charset="-122"/>
                <a:cs typeface="Segoe UI" pitchFamily="34" charset="-120"/>
              </a:rPr>
              <a:t>Every caregiver's screen updates within a second.</a:t>
            </a:r>
            <a:endParaRPr lang="en-US" sz="1500" dirty="0"/>
          </a:p>
        </p:txBody>
      </p:sp>
      <p:sp>
        <p:nvSpPr>
          <p:cNvPr id="9" name="Shape 6"/>
          <p:cNvSpPr/>
          <p:nvPr/>
        </p:nvSpPr>
        <p:spPr>
          <a:xfrm>
            <a:off x="685800" y="3538728"/>
            <a:ext cx="292608" cy="292608"/>
          </a:xfrm>
          <a:prstGeom prst="ellipse">
            <a:avLst/>
          </a:prstGeom>
          <a:solidFill>
            <a:srgbClr val="C46A4A"/>
          </a:solidFill>
          <a:ln w="12700">
            <a:solidFill>
              <a:srgbClr val="C46A4A"/>
            </a:solidFill>
            <a:prstDash val="solid"/>
          </a:ln>
        </p:spPr>
      </p:sp>
      <p:sp>
        <p:nvSpPr>
          <p:cNvPr id="10" name="Text 7"/>
          <p:cNvSpPr/>
          <p:nvPr/>
        </p:nvSpPr>
        <p:spPr>
          <a:xfrm>
            <a:off x="1143000" y="3429000"/>
            <a:ext cx="5760720" cy="548640"/>
          </a:xfrm>
          <a:prstGeom prst="rect">
            <a:avLst/>
          </a:prstGeom>
          <a:noFill/>
          <a:ln/>
        </p:spPr>
        <p:txBody>
          <a:bodyPr wrap="square" rtlCol="0" anchor="ctr"/>
          <a:lstStyle/>
          <a:p>
            <a:pPr marL="0" indent="0">
              <a:buNone/>
            </a:pPr>
            <a:r>
              <a:rPr lang="en-US" sz="1500" b="1" dirty="0">
                <a:solidFill>
                  <a:srgbClr val="2A2622"/>
                </a:solidFill>
                <a:latin typeface="Segoe UI" pitchFamily="34" charset="0"/>
                <a:ea typeface="Segoe UI" pitchFamily="34" charset="-122"/>
                <a:cs typeface="Segoe UI" pitchFamily="34" charset="-120"/>
              </a:rPr>
              <a:t>Ask the log  </a:t>
            </a:r>
            <a:r>
              <a:rPr lang="en-US" sz="1500" dirty="0">
                <a:solidFill>
                  <a:srgbClr val="6F675E"/>
                </a:solidFill>
                <a:latin typeface="Segoe UI" pitchFamily="34" charset="0"/>
                <a:ea typeface="Segoe UI" pitchFamily="34" charset="-122"/>
                <a:cs typeface="Segoe UI" pitchFamily="34" charset="-120"/>
              </a:rPr>
              <a:t>"When did she last eat?" is answered from today's entries.</a:t>
            </a:r>
            <a:endParaRPr lang="en-US" sz="1500" dirty="0"/>
          </a:p>
        </p:txBody>
      </p:sp>
      <p:sp>
        <p:nvSpPr>
          <p:cNvPr id="11" name="Shape 8"/>
          <p:cNvSpPr/>
          <p:nvPr/>
        </p:nvSpPr>
        <p:spPr>
          <a:xfrm>
            <a:off x="685800" y="4407408"/>
            <a:ext cx="292608" cy="292608"/>
          </a:xfrm>
          <a:prstGeom prst="ellipse">
            <a:avLst/>
          </a:prstGeom>
          <a:solidFill>
            <a:srgbClr val="C46A4A"/>
          </a:solidFill>
          <a:ln w="12700">
            <a:solidFill>
              <a:srgbClr val="C46A4A"/>
            </a:solidFill>
            <a:prstDash val="solid"/>
          </a:ln>
        </p:spPr>
      </p:sp>
      <p:sp>
        <p:nvSpPr>
          <p:cNvPr id="12" name="Text 9"/>
          <p:cNvSpPr/>
          <p:nvPr/>
        </p:nvSpPr>
        <p:spPr>
          <a:xfrm>
            <a:off x="1143000" y="4297680"/>
            <a:ext cx="5760720" cy="548640"/>
          </a:xfrm>
          <a:prstGeom prst="rect">
            <a:avLst/>
          </a:prstGeom>
          <a:noFill/>
          <a:ln/>
        </p:spPr>
        <p:txBody>
          <a:bodyPr wrap="square" rtlCol="0" anchor="ctr"/>
          <a:lstStyle/>
          <a:p>
            <a:pPr marL="0" indent="0">
              <a:buNone/>
            </a:pPr>
            <a:r>
              <a:rPr lang="en-US" sz="1500" b="1" dirty="0">
                <a:solidFill>
                  <a:srgbClr val="2A2622"/>
                </a:solidFill>
                <a:latin typeface="Segoe UI" pitchFamily="34" charset="0"/>
                <a:ea typeface="Segoe UI" pitchFamily="34" charset="-122"/>
                <a:cs typeface="Segoe UI" pitchFamily="34" charset="-120"/>
              </a:rPr>
              <a:t>Never gives medical advice  </a:t>
            </a:r>
            <a:r>
              <a:rPr lang="en-US" sz="1500" dirty="0">
                <a:solidFill>
                  <a:srgbClr val="6F675E"/>
                </a:solidFill>
                <a:latin typeface="Segoe UI" pitchFamily="34" charset="0"/>
                <a:ea typeface="Segoe UI" pitchFamily="34" charset="-122"/>
                <a:cs typeface="Segoe UI" pitchFamily="34" charset="-120"/>
              </a:rPr>
              <a:t>Symptom or medicine questions are redirected to the pediatrician.</a:t>
            </a:r>
            <a:endParaRPr lang="en-US" sz="1500" dirty="0"/>
          </a:p>
        </p:txBody>
      </p:sp>
      <p:sp>
        <p:nvSpPr>
          <p:cNvPr id="13" name="Shape 10"/>
          <p:cNvSpPr/>
          <p:nvPr/>
        </p:nvSpPr>
        <p:spPr>
          <a:xfrm>
            <a:off x="685800" y="5276088"/>
            <a:ext cx="292608" cy="292608"/>
          </a:xfrm>
          <a:prstGeom prst="ellipse">
            <a:avLst/>
          </a:prstGeom>
          <a:solidFill>
            <a:srgbClr val="C46A4A"/>
          </a:solidFill>
          <a:ln w="12700">
            <a:solidFill>
              <a:srgbClr val="C46A4A"/>
            </a:solidFill>
            <a:prstDash val="solid"/>
          </a:ln>
        </p:spPr>
      </p:sp>
      <p:sp>
        <p:nvSpPr>
          <p:cNvPr id="14" name="Text 11"/>
          <p:cNvSpPr/>
          <p:nvPr/>
        </p:nvSpPr>
        <p:spPr>
          <a:xfrm>
            <a:off x="1143000" y="5166360"/>
            <a:ext cx="5760720" cy="548640"/>
          </a:xfrm>
          <a:prstGeom prst="rect">
            <a:avLst/>
          </a:prstGeom>
          <a:noFill/>
          <a:ln/>
        </p:spPr>
        <p:txBody>
          <a:bodyPr wrap="square" rtlCol="0" anchor="ctr"/>
          <a:lstStyle/>
          <a:p>
            <a:pPr marL="0" indent="0">
              <a:buNone/>
            </a:pPr>
            <a:r>
              <a:rPr lang="en-US" sz="1500" b="1" dirty="0">
                <a:solidFill>
                  <a:srgbClr val="2A2622"/>
                </a:solidFill>
                <a:latin typeface="Segoe UI" pitchFamily="34" charset="0"/>
                <a:ea typeface="Segoe UI" pitchFamily="34" charset="-122"/>
                <a:cs typeface="Segoe UI" pitchFamily="34" charset="-120"/>
              </a:rPr>
              <a:t>Free  </a:t>
            </a:r>
            <a:r>
              <a:rPr lang="en-US" sz="1500" dirty="0">
                <a:solidFill>
                  <a:srgbClr val="6F675E"/>
                </a:solidFill>
                <a:latin typeface="Segoe UI" pitchFamily="34" charset="0"/>
                <a:ea typeface="Segoe UI" pitchFamily="34" charset="-122"/>
                <a:cs typeface="Segoe UI" pitchFamily="34" charset="-120"/>
              </a:rPr>
              <a:t>No paywall, no credit card. Invite as many caregivers as you need.</a:t>
            </a:r>
            <a:endParaRPr lang="en-US" sz="1500" dirty="0"/>
          </a:p>
        </p:txBody>
      </p:sp>
      <p:sp>
        <p:nvSpPr>
          <p:cNvPr id="15" name="Shape 12"/>
          <p:cNvSpPr/>
          <p:nvPr/>
        </p:nvSpPr>
        <p:spPr>
          <a:xfrm>
            <a:off x="7315200" y="1737360"/>
            <a:ext cx="4206240" cy="4114800"/>
          </a:xfrm>
          <a:prstGeom prst="roundRect">
            <a:avLst>
              <a:gd name="adj" fmla="val 3333"/>
            </a:avLst>
          </a:prstGeom>
          <a:solidFill>
            <a:srgbClr val="FFFDF8"/>
          </a:solidFill>
          <a:ln w="12700">
            <a:solidFill>
              <a:srgbClr val="E6DCCD"/>
            </a:solidFill>
            <a:prstDash val="solid"/>
          </a:ln>
        </p:spPr>
      </p:sp>
      <p:sp>
        <p:nvSpPr>
          <p:cNvPr id="16" name="Text 13"/>
          <p:cNvSpPr/>
          <p:nvPr/>
        </p:nvSpPr>
        <p:spPr>
          <a:xfrm>
            <a:off x="7589520" y="1874520"/>
            <a:ext cx="3657600" cy="365760"/>
          </a:xfrm>
          <a:prstGeom prst="rect">
            <a:avLst/>
          </a:prstGeom>
          <a:noFill/>
          <a:ln/>
        </p:spPr>
        <p:txBody>
          <a:bodyPr wrap="square" rtlCol="0" anchor="ctr"/>
          <a:lstStyle/>
          <a:p>
            <a:pPr marL="0" indent="0">
              <a:buNone/>
            </a:pPr>
            <a:r>
              <a:rPr lang="en-US" sz="1200" b="1" dirty="0">
                <a:solidFill>
                  <a:srgbClr val="C46A4A"/>
                </a:solidFill>
                <a:latin typeface="Segoe UI" pitchFamily="34" charset="0"/>
                <a:ea typeface="Segoe UI" pitchFamily="34" charset="-122"/>
                <a:cs typeface="Segoe UI" pitchFamily="34" charset="-120"/>
              </a:rPr>
              <a:t>Example</a:t>
            </a:r>
            <a:endParaRPr lang="en-US" sz="1200" dirty="0"/>
          </a:p>
        </p:txBody>
      </p:sp>
      <p:sp>
        <p:nvSpPr>
          <p:cNvPr id="17" name="Shape 14"/>
          <p:cNvSpPr/>
          <p:nvPr/>
        </p:nvSpPr>
        <p:spPr>
          <a:xfrm>
            <a:off x="7589520" y="2377440"/>
            <a:ext cx="3657600" cy="822960"/>
          </a:xfrm>
          <a:prstGeom prst="roundRect">
            <a:avLst>
              <a:gd name="adj" fmla="val 16667"/>
            </a:avLst>
          </a:prstGeom>
          <a:solidFill>
            <a:srgbClr val="F4EFE6"/>
          </a:solidFill>
          <a:ln w="12700">
            <a:solidFill>
              <a:srgbClr val="E6DCCD"/>
            </a:solidFill>
            <a:prstDash val="solid"/>
          </a:ln>
        </p:spPr>
      </p:sp>
      <p:sp>
        <p:nvSpPr>
          <p:cNvPr id="18" name="Text 15"/>
          <p:cNvSpPr/>
          <p:nvPr/>
        </p:nvSpPr>
        <p:spPr>
          <a:xfrm>
            <a:off x="7726680" y="2377440"/>
            <a:ext cx="3383280" cy="822960"/>
          </a:xfrm>
          <a:prstGeom prst="rect">
            <a:avLst/>
          </a:prstGeom>
          <a:noFill/>
          <a:ln/>
        </p:spPr>
        <p:txBody>
          <a:bodyPr wrap="square" rtlCol="0" anchor="ctr"/>
          <a:lstStyle/>
          <a:p>
            <a:pPr marL="0" indent="0">
              <a:buNone/>
            </a:pPr>
            <a:r>
              <a:rPr lang="en-US" sz="1400" dirty="0">
                <a:solidFill>
                  <a:srgbClr val="2A2622"/>
                </a:solidFill>
                <a:latin typeface="Segoe UI" pitchFamily="34" charset="0"/>
                <a:ea typeface="Segoe UI" pitchFamily="34" charset="-122"/>
                <a:cs typeface="Segoe UI" pitchFamily="34" charset="-120"/>
              </a:rPr>
              <a:t>You say: "Just gave her a 3 ounce bottle."</a:t>
            </a:r>
            <a:endParaRPr lang="en-US" sz="1400" dirty="0"/>
          </a:p>
        </p:txBody>
      </p:sp>
      <p:sp>
        <p:nvSpPr>
          <p:cNvPr id="19" name="Shape 16"/>
          <p:cNvSpPr/>
          <p:nvPr/>
        </p:nvSpPr>
        <p:spPr>
          <a:xfrm>
            <a:off x="7589520" y="3383280"/>
            <a:ext cx="3657600" cy="731520"/>
          </a:xfrm>
          <a:prstGeom prst="roundRect">
            <a:avLst>
              <a:gd name="adj" fmla="val 18750"/>
            </a:avLst>
          </a:prstGeom>
          <a:solidFill>
            <a:srgbClr val="E4EEE7"/>
          </a:solidFill>
          <a:ln w="12700">
            <a:solidFill>
              <a:srgbClr val="E4EEE7"/>
            </a:solidFill>
            <a:prstDash val="solid"/>
          </a:ln>
        </p:spPr>
      </p:sp>
      <p:sp>
        <p:nvSpPr>
          <p:cNvPr id="20" name="Text 17"/>
          <p:cNvSpPr/>
          <p:nvPr/>
        </p:nvSpPr>
        <p:spPr>
          <a:xfrm>
            <a:off x="7726680" y="3383280"/>
            <a:ext cx="3383280" cy="731520"/>
          </a:xfrm>
          <a:prstGeom prst="rect">
            <a:avLst/>
          </a:prstGeom>
          <a:noFill/>
          <a:ln/>
        </p:spPr>
        <p:txBody>
          <a:bodyPr wrap="square" rtlCol="0" anchor="ctr"/>
          <a:lstStyle/>
          <a:p>
            <a:pPr marL="0" indent="0">
              <a:buNone/>
            </a:pPr>
            <a:r>
              <a:rPr lang="en-US" sz="1400" b="1" dirty="0">
                <a:solidFill>
                  <a:srgbClr val="4F6F5C"/>
                </a:solidFill>
                <a:latin typeface="Segoe UI" pitchFamily="34" charset="0"/>
                <a:ea typeface="Segoe UI" pitchFamily="34" charset="-122"/>
                <a:cs typeface="Segoe UI" pitchFamily="34" charset="-120"/>
              </a:rPr>
              <a:t>Duet: "Logged bottle, 3 oz."</a:t>
            </a:r>
            <a:endParaRPr lang="en-US" sz="1400" dirty="0"/>
          </a:p>
        </p:txBody>
      </p:sp>
      <p:sp>
        <p:nvSpPr>
          <p:cNvPr id="21" name="Shape 18"/>
          <p:cNvSpPr/>
          <p:nvPr/>
        </p:nvSpPr>
        <p:spPr>
          <a:xfrm>
            <a:off x="7589520" y="4297680"/>
            <a:ext cx="3657600" cy="1280160"/>
          </a:xfrm>
          <a:prstGeom prst="roundRect">
            <a:avLst>
              <a:gd name="adj" fmla="val 10714"/>
            </a:avLst>
          </a:prstGeom>
          <a:solidFill>
            <a:srgbClr val="F8E6DE"/>
          </a:solidFill>
          <a:ln w="12700">
            <a:solidFill>
              <a:srgbClr val="F8E6DE"/>
            </a:solidFill>
            <a:prstDash val="solid"/>
          </a:ln>
        </p:spPr>
      </p:sp>
      <p:sp>
        <p:nvSpPr>
          <p:cNvPr id="22" name="Text 19"/>
          <p:cNvSpPr/>
          <p:nvPr/>
        </p:nvSpPr>
        <p:spPr>
          <a:xfrm>
            <a:off x="7726680" y="4297680"/>
            <a:ext cx="3383280" cy="1280160"/>
          </a:xfrm>
          <a:prstGeom prst="rect">
            <a:avLst/>
          </a:prstGeom>
          <a:noFill/>
          <a:ln/>
        </p:spPr>
        <p:txBody>
          <a:bodyPr wrap="square" rtlCol="0" anchor="ctr"/>
          <a:lstStyle/>
          <a:p>
            <a:pPr marL="0" indent="0">
              <a:buNone/>
            </a:pPr>
            <a:r>
              <a:rPr lang="en-US" sz="1400" dirty="0">
                <a:solidFill>
                  <a:srgbClr val="2A2622"/>
                </a:solidFill>
                <a:latin typeface="Segoe UI" pitchFamily="34" charset="0"/>
                <a:ea typeface="Segoe UI" pitchFamily="34" charset="-122"/>
                <a:cs typeface="Segoe UI" pitchFamily="34" charset="-120"/>
              </a:rPr>
              <a:t>Partner's phone updates instantly: "Bottle, 3 oz — Alex · just now"</a:t>
            </a:r>
            <a:endParaRPr lang="en-US" sz="1400" dirty="0"/>
          </a:p>
        </p:txBody>
      </p:sp>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3</a:t>
            </a:fld>
            <a:endParaRPr lang="en-US"/>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WHAT IT LOOKS LIKE</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One household, two screens, live</a:t>
            </a:r>
            <a:endParaRPr lang="en-US" sz="3200" dirty="0"/>
          </a:p>
        </p:txBody>
      </p:sp>
      <p:sp>
        <p:nvSpPr>
          <p:cNvPr id="5" name="Shape 2"/>
          <p:cNvSpPr/>
          <p:nvPr/>
        </p:nvSpPr>
        <p:spPr>
          <a:xfrm>
            <a:off x="2018909" y="1545336"/>
            <a:ext cx="1997223" cy="4407408"/>
          </a:xfrm>
          <a:prstGeom prst="roundRect">
            <a:avLst>
              <a:gd name="adj" fmla="val 5494"/>
            </a:avLst>
          </a:prstGeom>
          <a:solidFill>
            <a:srgbClr val="FFFDF8"/>
          </a:solidFill>
          <a:ln w="12700">
            <a:solidFill>
              <a:srgbClr val="E6DCCD"/>
            </a:solidFill>
            <a:prstDash val="solid"/>
          </a:ln>
          <a:effectLst>
            <a:outerShdw blurRad="101600" dist="38100" dir="5400000" algn="bl" rotWithShape="0">
              <a:srgbClr val="000000">
                <a:alpha val="12000"/>
              </a:srgbClr>
            </a:outerShdw>
          </a:effectLst>
        </p:spPr>
      </p:sp>
      <p:pic>
        <p:nvPicPr>
          <p:cNvPr id="6" name="Image 0" descr="C:\Users\obaid\OneDrive\Desktop\AI Intg Class\Duet\docs\screenshots\05-voice-logged-phone.png"/>
          <p:cNvPicPr>
            <a:picLocks noChangeAspect="1"/>
          </p:cNvPicPr>
          <p:nvPr/>
        </p:nvPicPr>
        <p:blipFill>
          <a:blip r:embed="rId3"/>
          <a:stretch>
            <a:fillRect/>
          </a:stretch>
        </p:blipFill>
        <p:spPr>
          <a:xfrm>
            <a:off x="2073773" y="1600200"/>
            <a:ext cx="1887495" cy="4297680"/>
          </a:xfrm>
          <a:prstGeom prst="rect">
            <a:avLst/>
          </a:prstGeom>
        </p:spPr>
      </p:pic>
      <p:sp>
        <p:nvSpPr>
          <p:cNvPr id="7" name="Shape 3"/>
          <p:cNvSpPr/>
          <p:nvPr/>
        </p:nvSpPr>
        <p:spPr>
          <a:xfrm>
            <a:off x="6504753" y="1545336"/>
            <a:ext cx="4181214" cy="4407408"/>
          </a:xfrm>
          <a:prstGeom prst="roundRect">
            <a:avLst>
              <a:gd name="adj" fmla="val 2624"/>
            </a:avLst>
          </a:prstGeom>
          <a:solidFill>
            <a:srgbClr val="FFFDF8"/>
          </a:solidFill>
          <a:ln w="12700">
            <a:solidFill>
              <a:srgbClr val="E6DCCD"/>
            </a:solidFill>
            <a:prstDash val="solid"/>
          </a:ln>
          <a:effectLst>
            <a:outerShdw blurRad="101600" dist="38100" dir="5400000" algn="bl" rotWithShape="0">
              <a:srgbClr val="000000">
                <a:alpha val="12000"/>
              </a:srgbClr>
            </a:outerShdw>
          </a:effectLst>
        </p:spPr>
      </p:sp>
      <p:pic>
        <p:nvPicPr>
          <p:cNvPr id="8" name="Image 1" descr="C:\Users\obaid\OneDrive\Desktop\AI Intg Class\Duet\docs\screenshots\04-today-desktop.png"/>
          <p:cNvPicPr>
            <a:picLocks noChangeAspect="1"/>
          </p:cNvPicPr>
          <p:nvPr/>
        </p:nvPicPr>
        <p:blipFill>
          <a:blip r:embed="rId4"/>
          <a:srcRect l="20000" r="20000"/>
          <a:stretch/>
        </p:blipFill>
        <p:spPr>
          <a:xfrm>
            <a:off x="6559617" y="1600200"/>
            <a:ext cx="4071486" cy="4297680"/>
          </a:xfrm>
          <a:prstGeom prst="rect">
            <a:avLst/>
          </a:prstGeom>
        </p:spPr>
      </p:pic>
      <p:sp>
        <p:nvSpPr>
          <p:cNvPr id="9" name="Text 4"/>
          <p:cNvSpPr/>
          <p:nvPr/>
        </p:nvSpPr>
        <p:spPr>
          <a:xfrm>
            <a:off x="1097280" y="5989320"/>
            <a:ext cx="3840480" cy="32004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Alex on a phone logs by voice</a:t>
            </a:r>
            <a:endParaRPr lang="en-US" sz="1400" dirty="0"/>
          </a:p>
        </p:txBody>
      </p:sp>
      <p:sp>
        <p:nvSpPr>
          <p:cNvPr id="10" name="Text 5"/>
          <p:cNvSpPr/>
          <p:nvPr/>
        </p:nvSpPr>
        <p:spPr>
          <a:xfrm>
            <a:off x="6035040" y="5989320"/>
            <a:ext cx="5120640" cy="32004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Sam on a laptop sees the shared timeline</a:t>
            </a:r>
            <a:endParaRPr lang="en-US" sz="1400" dirty="0"/>
          </a:p>
        </p:txBody>
      </p:sp>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4</a:t>
            </a:fld>
            <a:endParaRPr lang="en-US"/>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RESPONSIVE</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Works on a phone and on a full desktop screen</a:t>
            </a:r>
            <a:endParaRPr lang="en-US" sz="3200" dirty="0"/>
          </a:p>
        </p:txBody>
      </p:sp>
      <p:sp>
        <p:nvSpPr>
          <p:cNvPr id="5" name="Shape 2"/>
          <p:cNvSpPr/>
          <p:nvPr/>
        </p:nvSpPr>
        <p:spPr>
          <a:xfrm>
            <a:off x="1913591" y="1545336"/>
            <a:ext cx="4402418" cy="4315968"/>
          </a:xfrm>
          <a:prstGeom prst="roundRect">
            <a:avLst>
              <a:gd name="adj" fmla="val 2542"/>
            </a:avLst>
          </a:prstGeom>
          <a:solidFill>
            <a:srgbClr val="FFFDF8"/>
          </a:solidFill>
          <a:ln w="12700">
            <a:solidFill>
              <a:srgbClr val="E6DCCD"/>
            </a:solidFill>
            <a:prstDash val="solid"/>
          </a:ln>
          <a:effectLst>
            <a:outerShdw blurRad="101600" dist="38100" dir="5400000" algn="bl" rotWithShape="0">
              <a:srgbClr val="000000">
                <a:alpha val="12000"/>
              </a:srgbClr>
            </a:outerShdw>
          </a:effectLst>
        </p:spPr>
      </p:sp>
      <p:pic>
        <p:nvPicPr>
          <p:cNvPr id="6" name="Image 0" descr="C:\Users\obaid\OneDrive\Desktop\AI Intg Class\Duet\docs\screenshots\01-landing-desktop.png"/>
          <p:cNvPicPr>
            <a:picLocks noChangeAspect="1"/>
          </p:cNvPicPr>
          <p:nvPr/>
        </p:nvPicPr>
        <p:blipFill>
          <a:blip r:embed="rId3"/>
          <a:stretch>
            <a:fillRect/>
          </a:stretch>
        </p:blipFill>
        <p:spPr>
          <a:xfrm>
            <a:off x="1968455" y="1600200"/>
            <a:ext cx="4292690" cy="4206240"/>
          </a:xfrm>
          <a:prstGeom prst="rect">
            <a:avLst/>
          </a:prstGeom>
        </p:spPr>
      </p:pic>
      <p:sp>
        <p:nvSpPr>
          <p:cNvPr id="7" name="Shape 3"/>
          <p:cNvSpPr/>
          <p:nvPr/>
        </p:nvSpPr>
        <p:spPr>
          <a:xfrm>
            <a:off x="8677656" y="1545336"/>
            <a:ext cx="2212848" cy="4315968"/>
          </a:xfrm>
          <a:prstGeom prst="roundRect">
            <a:avLst>
              <a:gd name="adj" fmla="val 4959"/>
            </a:avLst>
          </a:prstGeom>
          <a:solidFill>
            <a:srgbClr val="FFFDF8"/>
          </a:solidFill>
          <a:ln w="12700">
            <a:solidFill>
              <a:srgbClr val="E6DCCD"/>
            </a:solidFill>
            <a:prstDash val="solid"/>
          </a:ln>
          <a:effectLst>
            <a:outerShdw blurRad="101600" dist="38100" dir="5400000" algn="bl" rotWithShape="0">
              <a:srgbClr val="000000">
                <a:alpha val="12000"/>
              </a:srgbClr>
            </a:outerShdw>
          </a:effectLst>
        </p:spPr>
      </p:sp>
      <p:pic>
        <p:nvPicPr>
          <p:cNvPr id="8" name="Image 1" descr="C:\Users\obaid\OneDrive\Desktop\AI Intg Class\Duet\docs\screenshots\06-today-phone.png"/>
          <p:cNvPicPr>
            <a:picLocks noChangeAspect="1"/>
          </p:cNvPicPr>
          <p:nvPr/>
        </p:nvPicPr>
        <p:blipFill>
          <a:blip r:embed="rId4"/>
          <a:srcRect b="12162"/>
          <a:stretch/>
        </p:blipFill>
        <p:spPr>
          <a:xfrm>
            <a:off x="8732520" y="1600200"/>
            <a:ext cx="2103120" cy="4206240"/>
          </a:xfrm>
          <a:prstGeom prst="rect">
            <a:avLst/>
          </a:prstGeom>
        </p:spPr>
      </p:pic>
      <p:sp>
        <p:nvSpPr>
          <p:cNvPr id="9" name="Text 4"/>
          <p:cNvSpPr/>
          <p:nvPr/>
        </p:nvSpPr>
        <p:spPr>
          <a:xfrm>
            <a:off x="640080" y="5943600"/>
            <a:ext cx="6949440" cy="32004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Desktop: full-width landing page</a:t>
            </a:r>
            <a:endParaRPr lang="en-US" sz="1400" dirty="0"/>
          </a:p>
        </p:txBody>
      </p:sp>
      <p:sp>
        <p:nvSpPr>
          <p:cNvPr id="10" name="Text 5"/>
          <p:cNvSpPr/>
          <p:nvPr/>
        </p:nvSpPr>
        <p:spPr>
          <a:xfrm>
            <a:off x="8138160" y="5943600"/>
            <a:ext cx="3291840" cy="32004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Phone: Today timeline</a:t>
            </a:r>
            <a:endParaRPr lang="en-US" sz="1400" dirty="0"/>
          </a:p>
        </p:txBody>
      </p:sp>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5</a:t>
            </a:fld>
            <a:endParaRPr lang="en-US"/>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HOW IT IS BUILT</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Architecture</a:t>
            </a:r>
            <a:endParaRPr lang="en-US" sz="3200" dirty="0"/>
          </a:p>
        </p:txBody>
      </p:sp>
      <p:sp>
        <p:nvSpPr>
          <p:cNvPr id="5" name="Shape 2"/>
          <p:cNvSpPr/>
          <p:nvPr/>
        </p:nvSpPr>
        <p:spPr>
          <a:xfrm>
            <a:off x="640080" y="1737360"/>
            <a:ext cx="2468880" cy="1005840"/>
          </a:xfrm>
          <a:prstGeom prst="roundRect">
            <a:avLst>
              <a:gd name="adj" fmla="val 13636"/>
            </a:avLst>
          </a:prstGeom>
          <a:solidFill>
            <a:srgbClr val="FFFDF8"/>
          </a:solidFill>
          <a:ln w="12700">
            <a:solidFill>
              <a:srgbClr val="E6DCCD"/>
            </a:solidFill>
            <a:prstDash val="solid"/>
          </a:ln>
        </p:spPr>
      </p:sp>
      <p:sp>
        <p:nvSpPr>
          <p:cNvPr id="6" name="Text 3"/>
          <p:cNvSpPr/>
          <p:nvPr/>
        </p:nvSpPr>
        <p:spPr>
          <a:xfrm>
            <a:off x="640080" y="1737360"/>
            <a:ext cx="2468880" cy="100584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Browser</a:t>
            </a:r>
            <a:endParaRPr lang="en-US" sz="1400" dirty="0"/>
          </a:p>
          <a:p>
            <a:pPr marL="0" indent="0" algn="ctr">
              <a:buNone/>
            </a:pPr>
            <a:r>
              <a:rPr lang="en-US" sz="1100" dirty="0">
                <a:solidFill>
                  <a:srgbClr val="6F675E"/>
                </a:solidFill>
                <a:latin typeface="Segoe UI" pitchFamily="34" charset="0"/>
                <a:ea typeface="Segoe UI" pitchFamily="34" charset="-122"/>
                <a:cs typeface="Segoe UI" pitchFamily="34" charset="-120"/>
              </a:rPr>
              <a:t>phone or desktop</a:t>
            </a:r>
            <a:endParaRPr lang="en-US" sz="1400" dirty="0"/>
          </a:p>
        </p:txBody>
      </p:sp>
      <p:sp>
        <p:nvSpPr>
          <p:cNvPr id="7" name="Shape 4"/>
          <p:cNvSpPr/>
          <p:nvPr/>
        </p:nvSpPr>
        <p:spPr>
          <a:xfrm>
            <a:off x="640080" y="2926080"/>
            <a:ext cx="2468880" cy="1005840"/>
          </a:xfrm>
          <a:prstGeom prst="roundRect">
            <a:avLst>
              <a:gd name="adj" fmla="val 13636"/>
            </a:avLst>
          </a:prstGeom>
          <a:solidFill>
            <a:srgbClr val="FFFDF8"/>
          </a:solidFill>
          <a:ln w="12700">
            <a:solidFill>
              <a:srgbClr val="E6DCCD"/>
            </a:solidFill>
            <a:prstDash val="solid"/>
          </a:ln>
        </p:spPr>
      </p:sp>
      <p:sp>
        <p:nvSpPr>
          <p:cNvPr id="8" name="Text 5"/>
          <p:cNvSpPr/>
          <p:nvPr/>
        </p:nvSpPr>
        <p:spPr>
          <a:xfrm>
            <a:off x="640080" y="2926080"/>
            <a:ext cx="2468880" cy="100584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Installed web app</a:t>
            </a:r>
            <a:endParaRPr lang="en-US" sz="1400" dirty="0"/>
          </a:p>
          <a:p>
            <a:pPr marL="0" indent="0" algn="ctr">
              <a:buNone/>
            </a:pPr>
            <a:r>
              <a:rPr lang="en-US" sz="1100" dirty="0">
                <a:solidFill>
                  <a:srgbClr val="6F675E"/>
                </a:solidFill>
                <a:latin typeface="Segoe UI" pitchFamily="34" charset="0"/>
                <a:ea typeface="Segoe UI" pitchFamily="34" charset="-122"/>
                <a:cs typeface="Segoe UI" pitchFamily="34" charset="-120"/>
              </a:rPr>
              <a:t>Add to Home Screen</a:t>
            </a:r>
            <a:endParaRPr lang="en-US" sz="1400" dirty="0"/>
          </a:p>
        </p:txBody>
      </p:sp>
      <p:sp>
        <p:nvSpPr>
          <p:cNvPr id="9" name="Shape 6"/>
          <p:cNvSpPr/>
          <p:nvPr/>
        </p:nvSpPr>
        <p:spPr>
          <a:xfrm>
            <a:off x="640080" y="4114800"/>
            <a:ext cx="2468880" cy="1005840"/>
          </a:xfrm>
          <a:prstGeom prst="roundRect">
            <a:avLst>
              <a:gd name="adj" fmla="val 13636"/>
            </a:avLst>
          </a:prstGeom>
          <a:solidFill>
            <a:srgbClr val="FFFDF8"/>
          </a:solidFill>
          <a:ln w="12700">
            <a:solidFill>
              <a:srgbClr val="E6DCCD"/>
            </a:solidFill>
            <a:prstDash val="solid"/>
          </a:ln>
        </p:spPr>
      </p:sp>
      <p:sp>
        <p:nvSpPr>
          <p:cNvPr id="10" name="Text 7"/>
          <p:cNvSpPr/>
          <p:nvPr/>
        </p:nvSpPr>
        <p:spPr>
          <a:xfrm>
            <a:off x="640080" y="4114800"/>
            <a:ext cx="2468880" cy="100584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Android app</a:t>
            </a:r>
            <a:endParaRPr lang="en-US" sz="1400" dirty="0"/>
          </a:p>
          <a:p>
            <a:pPr marL="0" indent="0" algn="ctr">
              <a:buNone/>
            </a:pPr>
            <a:r>
              <a:rPr lang="en-US" sz="1100" dirty="0">
                <a:solidFill>
                  <a:srgbClr val="6F675E"/>
                </a:solidFill>
                <a:latin typeface="Segoe UI" pitchFamily="34" charset="0"/>
                <a:ea typeface="Segoe UI" pitchFamily="34" charset="-122"/>
                <a:cs typeface="Segoe UI" pitchFamily="34" charset="-120"/>
              </a:rPr>
              <a:t>Capacitor wrapper</a:t>
            </a:r>
            <a:endParaRPr lang="en-US" sz="1400" dirty="0"/>
          </a:p>
        </p:txBody>
      </p:sp>
      <p:sp>
        <p:nvSpPr>
          <p:cNvPr id="11" name="Shape 8"/>
          <p:cNvSpPr/>
          <p:nvPr/>
        </p:nvSpPr>
        <p:spPr>
          <a:xfrm>
            <a:off x="3931920" y="2743200"/>
            <a:ext cx="2560320" cy="1371600"/>
          </a:xfrm>
          <a:prstGeom prst="roundRect">
            <a:avLst>
              <a:gd name="adj" fmla="val 10000"/>
            </a:avLst>
          </a:prstGeom>
          <a:solidFill>
            <a:srgbClr val="F8E6DE"/>
          </a:solidFill>
          <a:ln w="12700">
            <a:solidFill>
              <a:srgbClr val="E6DCCD"/>
            </a:solidFill>
            <a:prstDash val="solid"/>
          </a:ln>
        </p:spPr>
      </p:sp>
      <p:sp>
        <p:nvSpPr>
          <p:cNvPr id="12" name="Text 9"/>
          <p:cNvSpPr/>
          <p:nvPr/>
        </p:nvSpPr>
        <p:spPr>
          <a:xfrm>
            <a:off x="3931920" y="2743200"/>
            <a:ext cx="2560320" cy="137160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React app</a:t>
            </a:r>
            <a:endParaRPr lang="en-US" sz="1400" dirty="0"/>
          </a:p>
          <a:p>
            <a:pPr marL="0" indent="0" algn="ctr">
              <a:buNone/>
            </a:pPr>
            <a:r>
              <a:rPr lang="en-US" sz="1100" dirty="0">
                <a:solidFill>
                  <a:srgbClr val="6F675E"/>
                </a:solidFill>
                <a:latin typeface="Segoe UI" pitchFamily="34" charset="0"/>
                <a:ea typeface="Segoe UI" pitchFamily="34" charset="-122"/>
                <a:cs typeface="Segoe UI" pitchFamily="34" charset="-120"/>
              </a:rPr>
              <a:t>one codebase (Vite)</a:t>
            </a:r>
            <a:endParaRPr lang="en-US" sz="1400" dirty="0"/>
          </a:p>
        </p:txBody>
      </p:sp>
      <p:sp>
        <p:nvSpPr>
          <p:cNvPr id="13" name="Shape 10"/>
          <p:cNvSpPr/>
          <p:nvPr/>
        </p:nvSpPr>
        <p:spPr>
          <a:xfrm>
            <a:off x="7315200" y="2743200"/>
            <a:ext cx="2194560" cy="1371600"/>
          </a:xfrm>
          <a:prstGeom prst="roundRect">
            <a:avLst>
              <a:gd name="adj" fmla="val 10000"/>
            </a:avLst>
          </a:prstGeom>
          <a:solidFill>
            <a:srgbClr val="E4EEE7"/>
          </a:solidFill>
          <a:ln w="12700">
            <a:solidFill>
              <a:srgbClr val="E6DCCD"/>
            </a:solidFill>
            <a:prstDash val="solid"/>
          </a:ln>
        </p:spPr>
      </p:sp>
      <p:sp>
        <p:nvSpPr>
          <p:cNvPr id="14" name="Text 11"/>
          <p:cNvSpPr/>
          <p:nvPr/>
        </p:nvSpPr>
        <p:spPr>
          <a:xfrm>
            <a:off x="7315200" y="2743200"/>
            <a:ext cx="2194560" cy="137160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Express API</a:t>
            </a:r>
            <a:endParaRPr lang="en-US" sz="1400" dirty="0"/>
          </a:p>
          <a:p>
            <a:pPr marL="0" indent="0" algn="ctr">
              <a:buNone/>
            </a:pPr>
            <a:r>
              <a:rPr lang="en-US" sz="1100" dirty="0">
                <a:solidFill>
                  <a:srgbClr val="6F675E"/>
                </a:solidFill>
                <a:latin typeface="Segoe UI" pitchFamily="34" charset="0"/>
                <a:ea typeface="Segoe UI" pitchFamily="34" charset="-122"/>
                <a:cs typeface="Segoe UI" pitchFamily="34" charset="-120"/>
              </a:rPr>
              <a:t>Node.js server</a:t>
            </a:r>
            <a:endParaRPr lang="en-US" sz="1400" dirty="0"/>
          </a:p>
        </p:txBody>
      </p:sp>
      <p:sp>
        <p:nvSpPr>
          <p:cNvPr id="15" name="Shape 12"/>
          <p:cNvSpPr/>
          <p:nvPr/>
        </p:nvSpPr>
        <p:spPr>
          <a:xfrm>
            <a:off x="10149840" y="2743200"/>
            <a:ext cx="1463040" cy="1371600"/>
          </a:xfrm>
          <a:prstGeom prst="roundRect">
            <a:avLst>
              <a:gd name="adj" fmla="val 10000"/>
            </a:avLst>
          </a:prstGeom>
          <a:solidFill>
            <a:srgbClr val="FFFDF8"/>
          </a:solidFill>
          <a:ln w="12700">
            <a:solidFill>
              <a:srgbClr val="E6DCCD"/>
            </a:solidFill>
            <a:prstDash val="solid"/>
          </a:ln>
        </p:spPr>
      </p:sp>
      <p:sp>
        <p:nvSpPr>
          <p:cNvPr id="16" name="Text 13"/>
          <p:cNvSpPr/>
          <p:nvPr/>
        </p:nvSpPr>
        <p:spPr>
          <a:xfrm>
            <a:off x="10149840" y="2743200"/>
            <a:ext cx="1463040" cy="137160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SQLite</a:t>
            </a:r>
            <a:endParaRPr lang="en-US" sz="1400" dirty="0"/>
          </a:p>
          <a:p>
            <a:pPr marL="0" indent="0" algn="ctr">
              <a:buNone/>
            </a:pPr>
            <a:r>
              <a:rPr lang="en-US" sz="1100" dirty="0">
                <a:solidFill>
                  <a:srgbClr val="6F675E"/>
                </a:solidFill>
                <a:latin typeface="Segoe UI" pitchFamily="34" charset="0"/>
                <a:ea typeface="Segoe UI" pitchFamily="34" charset="-122"/>
                <a:cs typeface="Segoe UI" pitchFamily="34" charset="-120"/>
              </a:rPr>
              <a:t>database</a:t>
            </a:r>
            <a:endParaRPr lang="en-US" sz="1400" dirty="0"/>
          </a:p>
        </p:txBody>
      </p:sp>
      <p:sp>
        <p:nvSpPr>
          <p:cNvPr id="17" name="Shape 14"/>
          <p:cNvSpPr/>
          <p:nvPr/>
        </p:nvSpPr>
        <p:spPr>
          <a:xfrm>
            <a:off x="6949440" y="4754880"/>
            <a:ext cx="2926080" cy="1097280"/>
          </a:xfrm>
          <a:prstGeom prst="roundRect">
            <a:avLst>
              <a:gd name="adj" fmla="val 12500"/>
            </a:avLst>
          </a:prstGeom>
          <a:solidFill>
            <a:srgbClr val="FFFDF8"/>
          </a:solidFill>
          <a:ln w="12700">
            <a:solidFill>
              <a:srgbClr val="E6DCCD"/>
            </a:solidFill>
            <a:prstDash val="solid"/>
          </a:ln>
        </p:spPr>
      </p:sp>
      <p:sp>
        <p:nvSpPr>
          <p:cNvPr id="18" name="Text 15"/>
          <p:cNvSpPr/>
          <p:nvPr/>
        </p:nvSpPr>
        <p:spPr>
          <a:xfrm>
            <a:off x="6949440" y="4754880"/>
            <a:ext cx="2926080" cy="109728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Sentence parser</a:t>
            </a:r>
            <a:endParaRPr lang="en-US" sz="1400" dirty="0"/>
          </a:p>
          <a:p>
            <a:pPr marL="0" indent="0" algn="ctr">
              <a:buNone/>
            </a:pPr>
            <a:r>
              <a:rPr lang="en-US" sz="1100" dirty="0">
                <a:solidFill>
                  <a:srgbClr val="6F675E"/>
                </a:solidFill>
                <a:latin typeface="Segoe UI" pitchFamily="34" charset="0"/>
                <a:ea typeface="Segoe UI" pitchFamily="34" charset="-122"/>
                <a:cs typeface="Segoe UI" pitchFamily="34" charset="-120"/>
              </a:rPr>
              <a:t>local rules · optional Claude AI</a:t>
            </a:r>
            <a:endParaRPr lang="en-US" sz="1400" dirty="0"/>
          </a:p>
        </p:txBody>
      </p:sp>
      <p:sp>
        <p:nvSpPr>
          <p:cNvPr id="19" name="Shape 16"/>
          <p:cNvSpPr/>
          <p:nvPr/>
        </p:nvSpPr>
        <p:spPr>
          <a:xfrm>
            <a:off x="6949440" y="1463040"/>
            <a:ext cx="2926080" cy="914400"/>
          </a:xfrm>
          <a:prstGeom prst="roundRect">
            <a:avLst>
              <a:gd name="adj" fmla="val 15000"/>
            </a:avLst>
          </a:prstGeom>
          <a:solidFill>
            <a:srgbClr val="FFFDF8"/>
          </a:solidFill>
          <a:ln w="12700">
            <a:solidFill>
              <a:srgbClr val="E6DCCD"/>
            </a:solidFill>
            <a:prstDash val="solid"/>
          </a:ln>
        </p:spPr>
      </p:sp>
      <p:sp>
        <p:nvSpPr>
          <p:cNvPr id="20" name="Text 17"/>
          <p:cNvSpPr/>
          <p:nvPr/>
        </p:nvSpPr>
        <p:spPr>
          <a:xfrm>
            <a:off x="6949440" y="1463040"/>
            <a:ext cx="2926080" cy="91440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Live sync</a:t>
            </a:r>
            <a:endParaRPr lang="en-US" sz="1400" dirty="0"/>
          </a:p>
          <a:p>
            <a:pPr marL="0" indent="0" algn="ctr">
              <a:buNone/>
            </a:pPr>
            <a:r>
              <a:rPr lang="en-US" sz="1100" dirty="0">
                <a:solidFill>
                  <a:srgbClr val="6F675E"/>
                </a:solidFill>
                <a:latin typeface="Segoe UI" pitchFamily="34" charset="0"/>
                <a:ea typeface="Segoe UI" pitchFamily="34" charset="-122"/>
                <a:cs typeface="Segoe UI" pitchFamily="34" charset="-120"/>
              </a:rPr>
              <a:t>Server-Sent Events</a:t>
            </a:r>
            <a:endParaRPr lang="en-US" sz="1400" dirty="0"/>
          </a:p>
        </p:txBody>
      </p:sp>
      <p:sp>
        <p:nvSpPr>
          <p:cNvPr id="21" name="Shape 18"/>
          <p:cNvSpPr/>
          <p:nvPr/>
        </p:nvSpPr>
        <p:spPr>
          <a:xfrm>
            <a:off x="3108960" y="2240280"/>
            <a:ext cx="822960" cy="868680"/>
          </a:xfrm>
          <a:prstGeom prst="line">
            <a:avLst/>
          </a:prstGeom>
          <a:noFill/>
          <a:ln w="25400">
            <a:solidFill>
              <a:srgbClr val="6F675E"/>
            </a:solidFill>
            <a:prstDash val="solid"/>
            <a:tailEnd type="triangle"/>
          </a:ln>
        </p:spPr>
      </p:sp>
      <p:sp>
        <p:nvSpPr>
          <p:cNvPr id="22" name="Shape 19"/>
          <p:cNvSpPr/>
          <p:nvPr/>
        </p:nvSpPr>
        <p:spPr>
          <a:xfrm>
            <a:off x="3108960" y="3429000"/>
            <a:ext cx="822960" cy="914"/>
          </a:xfrm>
          <a:prstGeom prst="line">
            <a:avLst/>
          </a:prstGeom>
          <a:noFill/>
          <a:ln w="25400">
            <a:solidFill>
              <a:srgbClr val="6F675E"/>
            </a:solidFill>
            <a:prstDash val="solid"/>
            <a:tailEnd type="triangle"/>
          </a:ln>
        </p:spPr>
      </p:sp>
      <p:sp>
        <p:nvSpPr>
          <p:cNvPr id="23" name="Shape 20"/>
          <p:cNvSpPr/>
          <p:nvPr/>
        </p:nvSpPr>
        <p:spPr>
          <a:xfrm flipV="1">
            <a:off x="3108960" y="3749040"/>
            <a:ext cx="822960" cy="868680"/>
          </a:xfrm>
          <a:prstGeom prst="line">
            <a:avLst/>
          </a:prstGeom>
          <a:noFill/>
          <a:ln w="25400">
            <a:solidFill>
              <a:srgbClr val="6F675E"/>
            </a:solidFill>
            <a:prstDash val="solid"/>
            <a:tailEnd type="triangle"/>
          </a:ln>
        </p:spPr>
      </p:sp>
      <p:sp>
        <p:nvSpPr>
          <p:cNvPr id="24" name="Shape 21"/>
          <p:cNvSpPr/>
          <p:nvPr/>
        </p:nvSpPr>
        <p:spPr>
          <a:xfrm>
            <a:off x="6492240" y="3429000"/>
            <a:ext cx="822960" cy="914"/>
          </a:xfrm>
          <a:prstGeom prst="line">
            <a:avLst/>
          </a:prstGeom>
          <a:noFill/>
          <a:ln w="25400">
            <a:solidFill>
              <a:srgbClr val="6F675E"/>
            </a:solidFill>
            <a:prstDash val="solid"/>
            <a:tailEnd type="triangle"/>
          </a:ln>
        </p:spPr>
      </p:sp>
      <p:sp>
        <p:nvSpPr>
          <p:cNvPr id="25" name="Shape 22"/>
          <p:cNvSpPr/>
          <p:nvPr/>
        </p:nvSpPr>
        <p:spPr>
          <a:xfrm>
            <a:off x="9509760" y="3429000"/>
            <a:ext cx="640080" cy="914"/>
          </a:xfrm>
          <a:prstGeom prst="line">
            <a:avLst/>
          </a:prstGeom>
          <a:noFill/>
          <a:ln w="25400">
            <a:solidFill>
              <a:srgbClr val="6F675E"/>
            </a:solidFill>
            <a:prstDash val="solid"/>
            <a:tailEnd type="triangle"/>
          </a:ln>
        </p:spPr>
      </p:sp>
      <p:sp>
        <p:nvSpPr>
          <p:cNvPr id="26" name="Shape 23"/>
          <p:cNvSpPr/>
          <p:nvPr/>
        </p:nvSpPr>
        <p:spPr>
          <a:xfrm>
            <a:off x="8412480" y="4114800"/>
            <a:ext cx="914" cy="640080"/>
          </a:xfrm>
          <a:prstGeom prst="line">
            <a:avLst/>
          </a:prstGeom>
          <a:noFill/>
          <a:ln w="25400">
            <a:solidFill>
              <a:srgbClr val="6F675E"/>
            </a:solidFill>
            <a:prstDash val="solid"/>
            <a:tailEnd type="triangle"/>
          </a:ln>
        </p:spPr>
      </p:sp>
      <p:sp>
        <p:nvSpPr>
          <p:cNvPr id="27" name="Shape 24"/>
          <p:cNvSpPr/>
          <p:nvPr/>
        </p:nvSpPr>
        <p:spPr>
          <a:xfrm flipV="1">
            <a:off x="8412480" y="2377440"/>
            <a:ext cx="914" cy="365760"/>
          </a:xfrm>
          <a:prstGeom prst="line">
            <a:avLst/>
          </a:prstGeom>
          <a:noFill/>
          <a:ln w="25400">
            <a:solidFill>
              <a:srgbClr val="6F675E"/>
            </a:solidFill>
            <a:prstDash val="solid"/>
            <a:tailEnd type="triangle"/>
          </a:ln>
        </p:spPr>
      </p:sp>
      <p:sp>
        <p:nvSpPr>
          <p:cNvPr id="28" name="Shape 25"/>
          <p:cNvSpPr/>
          <p:nvPr/>
        </p:nvSpPr>
        <p:spPr>
          <a:xfrm flipH="1">
            <a:off x="5212080" y="1920240"/>
            <a:ext cx="1737360" cy="822960"/>
          </a:xfrm>
          <a:prstGeom prst="line">
            <a:avLst/>
          </a:prstGeom>
          <a:noFill/>
          <a:ln w="25400">
            <a:solidFill>
              <a:srgbClr val="C46A4A"/>
            </a:solidFill>
            <a:prstDash val="solid"/>
            <a:tailEnd type="triangle"/>
          </a:ln>
        </p:spPr>
      </p:sp>
      <p:sp>
        <p:nvSpPr>
          <p:cNvPr id="29" name="Text 26"/>
          <p:cNvSpPr/>
          <p:nvPr/>
        </p:nvSpPr>
        <p:spPr>
          <a:xfrm>
            <a:off x="3931920" y="1828800"/>
            <a:ext cx="2743200" cy="365760"/>
          </a:xfrm>
          <a:prstGeom prst="rect">
            <a:avLst/>
          </a:prstGeom>
          <a:noFill/>
          <a:ln/>
        </p:spPr>
        <p:txBody>
          <a:bodyPr wrap="square" rtlCol="0" anchor="ctr"/>
          <a:lstStyle/>
          <a:p>
            <a:pPr marL="0" indent="0">
              <a:buNone/>
            </a:pPr>
            <a:r>
              <a:rPr lang="en-US" sz="1100" i="1" dirty="0">
                <a:solidFill>
                  <a:srgbClr val="C46A4A"/>
                </a:solidFill>
                <a:latin typeface="Segoe UI" pitchFamily="34" charset="0"/>
                <a:ea typeface="Segoe UI" pitchFamily="34" charset="-122"/>
                <a:cs typeface="Segoe UI" pitchFamily="34" charset="-120"/>
              </a:rPr>
              <a:t>pushes updates to every caregiver</a:t>
            </a:r>
            <a:endParaRPr lang="en-US" sz="1100" dirty="0"/>
          </a:p>
        </p:txBody>
      </p:sp>
      <p:sp>
        <p:nvSpPr>
          <p:cNvPr id="4"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6</a:t>
            </a:fld>
            <a:endParaRPr lang="en-US"/>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ONE CODEBASE</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Three ways to run the same app</a:t>
            </a:r>
            <a:endParaRPr lang="en-US" sz="3200" dirty="0"/>
          </a:p>
        </p:txBody>
      </p:sp>
      <p:sp>
        <p:nvSpPr>
          <p:cNvPr id="5" name="Shape 2"/>
          <p:cNvSpPr/>
          <p:nvPr/>
        </p:nvSpPr>
        <p:spPr>
          <a:xfrm>
            <a:off x="640080" y="1737360"/>
            <a:ext cx="3474720" cy="3429000"/>
          </a:xfrm>
          <a:prstGeom prst="roundRect">
            <a:avLst>
              <a:gd name="adj" fmla="val 4000"/>
            </a:avLst>
          </a:prstGeom>
          <a:solidFill>
            <a:srgbClr val="FFFDF8"/>
          </a:solidFill>
          <a:ln w="12700">
            <a:solidFill>
              <a:srgbClr val="E6DCCD"/>
            </a:solidFill>
            <a:prstDash val="solid"/>
          </a:ln>
        </p:spPr>
      </p:sp>
      <p:sp>
        <p:nvSpPr>
          <p:cNvPr id="6" name="Text 3"/>
          <p:cNvSpPr/>
          <p:nvPr/>
        </p:nvSpPr>
        <p:spPr>
          <a:xfrm>
            <a:off x="868680" y="1920240"/>
            <a:ext cx="3017520" cy="3063240"/>
          </a:xfrm>
          <a:prstGeom prst="rect">
            <a:avLst/>
          </a:prstGeom>
          <a:noFill/>
          <a:ln/>
        </p:spPr>
        <p:txBody>
          <a:bodyPr wrap="square" rtlCol="0" anchor="t"/>
          <a:lstStyle/>
          <a:p>
            <a:pPr marL="0" indent="0">
              <a:buNone/>
            </a:pPr>
            <a:r>
              <a:rPr lang="en-US" sz="1700" b="1" dirty="0">
                <a:solidFill>
                  <a:srgbClr val="2A2622"/>
                </a:solidFill>
                <a:latin typeface="Segoe UI" pitchFamily="34" charset="0"/>
                <a:ea typeface="Segoe UI" pitchFamily="34" charset="-122"/>
                <a:cs typeface="Segoe UI" pitchFamily="34" charset="-120"/>
              </a:rPr>
              <a:t>Website</a:t>
            </a:r>
            <a:endParaRPr lang="en-US" sz="1700" dirty="0"/>
          </a:p>
          <a:p>
            <a:pPr marL="0" indent="0">
              <a:buNone/>
            </a:pPr>
            <a:r>
              <a:rPr lang="en-US" sz="600" dirty="0">
                <a:solidFill>
                  <a:srgbClr val="000000"/>
                </a:solidFill>
              </a:rPr>
              <a:t> </a:t>
            </a:r>
            <a:endParaRPr lang="en-US" sz="1700" dirty="0"/>
          </a:p>
          <a:p>
            <a:pPr marL="0" indent="0">
              <a:buNone/>
            </a:pPr>
            <a:r>
              <a:rPr lang="en-US" sz="1400" dirty="0">
                <a:solidFill>
                  <a:srgbClr val="6F675E"/>
                </a:solidFill>
                <a:latin typeface="Segoe UI" pitchFamily="34" charset="0"/>
                <a:ea typeface="Segoe UI" pitchFamily="34" charset="-122"/>
                <a:cs typeface="Segoe UI" pitchFamily="34" charset="-120"/>
              </a:rPr>
              <a:t>Opens in any browser.</a:t>
            </a:r>
            <a:endParaRPr lang="en-US" sz="1700" dirty="0"/>
          </a:p>
          <a:p>
            <a:pPr marL="0" indent="0">
              <a:buNone/>
            </a:pPr>
            <a:endParaRPr lang="en-US" sz="1700" dirty="0"/>
          </a:p>
          <a:p>
            <a:pPr marL="0" indent="0">
              <a:buNone/>
            </a:pPr>
            <a:r>
              <a:rPr lang="en-US" sz="1400" dirty="0">
                <a:solidFill>
                  <a:srgbClr val="6F675E"/>
                </a:solidFill>
                <a:latin typeface="Segoe UI" pitchFamily="34" charset="0"/>
                <a:ea typeface="Segoe UI" pitchFamily="34" charset="-122"/>
                <a:cs typeface="Segoe UI" pitchFamily="34" charset="-120"/>
              </a:rPr>
              <a:t>Phone layout on small screens, full-width landing page on desktop.</a:t>
            </a:r>
            <a:endParaRPr lang="en-US" sz="1700" dirty="0"/>
          </a:p>
          <a:p>
            <a:pPr marL="0" indent="0">
              <a:buNone/>
            </a:pPr>
            <a:endParaRPr lang="en-US" sz="1700" dirty="0"/>
          </a:p>
          <a:p>
            <a:pPr marL="0" indent="0">
              <a:buNone/>
            </a:pPr>
            <a:r>
              <a:rPr lang="en-US" sz="1400" dirty="0">
                <a:solidFill>
                  <a:srgbClr val="6F675E"/>
                </a:solidFill>
                <a:latin typeface="Segoe UI" pitchFamily="34" charset="0"/>
                <a:ea typeface="Segoe UI" pitchFamily="34" charset="-122"/>
                <a:cs typeface="Segoe UI" pitchFamily="34" charset="-120"/>
              </a:rPr>
              <a:t>Same accounts and live sync everywhere.</a:t>
            </a:r>
            <a:endParaRPr lang="en-US" sz="1700" dirty="0"/>
          </a:p>
        </p:txBody>
      </p:sp>
      <p:sp>
        <p:nvSpPr>
          <p:cNvPr id="7" name="Shape 4"/>
          <p:cNvSpPr/>
          <p:nvPr/>
        </p:nvSpPr>
        <p:spPr>
          <a:xfrm>
            <a:off x="4343400" y="1737360"/>
            <a:ext cx="3474720" cy="3429000"/>
          </a:xfrm>
          <a:prstGeom prst="roundRect">
            <a:avLst>
              <a:gd name="adj" fmla="val 4000"/>
            </a:avLst>
          </a:prstGeom>
          <a:solidFill>
            <a:srgbClr val="F8E6DE"/>
          </a:solidFill>
          <a:ln w="12700">
            <a:solidFill>
              <a:srgbClr val="E6DCCD"/>
            </a:solidFill>
            <a:prstDash val="solid"/>
          </a:ln>
        </p:spPr>
      </p:sp>
      <p:sp>
        <p:nvSpPr>
          <p:cNvPr id="8" name="Text 5"/>
          <p:cNvSpPr/>
          <p:nvPr/>
        </p:nvSpPr>
        <p:spPr>
          <a:xfrm>
            <a:off x="4572000" y="1920240"/>
            <a:ext cx="3017520" cy="3063240"/>
          </a:xfrm>
          <a:prstGeom prst="rect">
            <a:avLst/>
          </a:prstGeom>
          <a:noFill/>
          <a:ln/>
        </p:spPr>
        <p:txBody>
          <a:bodyPr wrap="square" rtlCol="0" anchor="t"/>
          <a:lstStyle/>
          <a:p>
            <a:pPr marL="0" indent="0">
              <a:buNone/>
            </a:pPr>
            <a:r>
              <a:rPr lang="en-US" sz="1700" b="1" dirty="0">
                <a:solidFill>
                  <a:srgbClr val="2A2622"/>
                </a:solidFill>
                <a:latin typeface="Segoe UI" pitchFamily="34" charset="0"/>
                <a:ea typeface="Segoe UI" pitchFamily="34" charset="-122"/>
                <a:cs typeface="Segoe UI" pitchFamily="34" charset="-120"/>
              </a:rPr>
              <a:t>Installable web app</a:t>
            </a:r>
            <a:endParaRPr lang="en-US" sz="1700" dirty="0"/>
          </a:p>
          <a:p>
            <a:pPr marL="0" indent="0">
              <a:buNone/>
            </a:pPr>
            <a:r>
              <a:rPr lang="en-US" sz="600" dirty="0">
                <a:solidFill>
                  <a:srgbClr val="000000"/>
                </a:solidFill>
              </a:rPr>
              <a:t> </a:t>
            </a:r>
            <a:endParaRPr lang="en-US" sz="1700" dirty="0"/>
          </a:p>
          <a:p>
            <a:pPr marL="0" indent="0">
              <a:buNone/>
            </a:pPr>
            <a:r>
              <a:rPr lang="en-US" sz="1400" dirty="0">
                <a:solidFill>
                  <a:srgbClr val="6F675E"/>
                </a:solidFill>
                <a:latin typeface="Segoe UI" pitchFamily="34" charset="0"/>
                <a:ea typeface="Segoe UI" pitchFamily="34" charset="-122"/>
                <a:cs typeface="Segoe UI" pitchFamily="34" charset="-120"/>
              </a:rPr>
              <a:t>Web app manifest with name, colors and "standalone" display.</a:t>
            </a:r>
            <a:endParaRPr lang="en-US" sz="1700" dirty="0"/>
          </a:p>
          <a:p>
            <a:pPr marL="0" indent="0">
              <a:buNone/>
            </a:pPr>
            <a:endParaRPr lang="en-US" sz="1700" dirty="0"/>
          </a:p>
          <a:p>
            <a:pPr marL="0" indent="0">
              <a:buNone/>
            </a:pPr>
            <a:r>
              <a:rPr lang="en-US" sz="1400" dirty="0">
                <a:solidFill>
                  <a:srgbClr val="6F675E"/>
                </a:solidFill>
                <a:latin typeface="Segoe UI" pitchFamily="34" charset="0"/>
                <a:ea typeface="Segoe UI" pitchFamily="34" charset="-122"/>
                <a:cs typeface="Segoe UI" pitchFamily="34" charset="-120"/>
              </a:rPr>
              <a:t>Icons from 48 to 512 px, plus a maskable icon.</a:t>
            </a:r>
            <a:endParaRPr lang="en-US" sz="1700" dirty="0"/>
          </a:p>
          <a:p>
            <a:pPr marL="0" indent="0">
              <a:buNone/>
            </a:pPr>
            <a:endParaRPr lang="en-US" sz="1700" dirty="0"/>
          </a:p>
          <a:p>
            <a:pPr marL="0" indent="0">
              <a:buNone/>
            </a:pPr>
            <a:r>
              <a:rPr lang="en-US" sz="1400" dirty="0">
                <a:solidFill>
                  <a:srgbClr val="6F675E"/>
                </a:solidFill>
                <a:latin typeface="Segoe UI" pitchFamily="34" charset="0"/>
                <a:ea typeface="Segoe UI" pitchFamily="34" charset="-122"/>
                <a:cs typeface="Segoe UI" pitchFamily="34" charset="-120"/>
              </a:rPr>
              <a:t>Service worker stores the app for offline use.</a:t>
            </a:r>
            <a:endParaRPr lang="en-US" sz="1700" dirty="0"/>
          </a:p>
          <a:p>
            <a:pPr marL="0" indent="0">
              <a:buNone/>
            </a:pPr>
            <a:endParaRPr lang="en-US" sz="1700" dirty="0"/>
          </a:p>
          <a:p>
            <a:pPr marL="0" indent="0">
              <a:buNone/>
            </a:pPr>
            <a:r>
              <a:rPr lang="en-US" sz="1400" dirty="0">
                <a:solidFill>
                  <a:srgbClr val="6F675E"/>
                </a:solidFill>
                <a:latin typeface="Segoe UI" pitchFamily="34" charset="0"/>
                <a:ea typeface="Segoe UI" pitchFamily="34" charset="-122"/>
                <a:cs typeface="Segoe UI" pitchFamily="34" charset="-120"/>
              </a:rPr>
              <a:t>Separate iPhone tags and home-screen icon.</a:t>
            </a:r>
            <a:endParaRPr lang="en-US" sz="1700" dirty="0"/>
          </a:p>
        </p:txBody>
      </p:sp>
      <p:sp>
        <p:nvSpPr>
          <p:cNvPr id="9" name="Shape 6"/>
          <p:cNvSpPr/>
          <p:nvPr/>
        </p:nvSpPr>
        <p:spPr>
          <a:xfrm>
            <a:off x="8046720" y="1737360"/>
            <a:ext cx="3474720" cy="3429000"/>
          </a:xfrm>
          <a:prstGeom prst="roundRect">
            <a:avLst>
              <a:gd name="adj" fmla="val 4000"/>
            </a:avLst>
          </a:prstGeom>
          <a:solidFill>
            <a:srgbClr val="E4EEE7"/>
          </a:solidFill>
          <a:ln w="12700">
            <a:solidFill>
              <a:srgbClr val="E6DCCD"/>
            </a:solidFill>
            <a:prstDash val="solid"/>
          </a:ln>
        </p:spPr>
      </p:sp>
      <p:sp>
        <p:nvSpPr>
          <p:cNvPr id="10" name="Text 7"/>
          <p:cNvSpPr/>
          <p:nvPr/>
        </p:nvSpPr>
        <p:spPr>
          <a:xfrm>
            <a:off x="8275320" y="1920240"/>
            <a:ext cx="3017520" cy="3063240"/>
          </a:xfrm>
          <a:prstGeom prst="rect">
            <a:avLst/>
          </a:prstGeom>
          <a:noFill/>
          <a:ln/>
        </p:spPr>
        <p:txBody>
          <a:bodyPr wrap="square" rtlCol="0" anchor="t"/>
          <a:lstStyle/>
          <a:p>
            <a:pPr marL="0" indent="0">
              <a:buNone/>
            </a:pPr>
            <a:r>
              <a:rPr lang="en-US" sz="1700" b="1" dirty="0">
                <a:solidFill>
                  <a:srgbClr val="2A2622"/>
                </a:solidFill>
                <a:latin typeface="Segoe UI" pitchFamily="34" charset="0"/>
                <a:ea typeface="Segoe UI" pitchFamily="34" charset="-122"/>
                <a:cs typeface="Segoe UI" pitchFamily="34" charset="-120"/>
              </a:rPr>
              <a:t>Android app</a:t>
            </a:r>
            <a:endParaRPr lang="en-US" sz="1700" dirty="0"/>
          </a:p>
          <a:p>
            <a:pPr marL="0" indent="0">
              <a:buNone/>
            </a:pPr>
            <a:r>
              <a:rPr lang="en-US" sz="600" dirty="0">
                <a:solidFill>
                  <a:srgbClr val="000000"/>
                </a:solidFill>
              </a:rPr>
              <a:t> </a:t>
            </a:r>
            <a:endParaRPr lang="en-US" sz="1700" dirty="0"/>
          </a:p>
          <a:p>
            <a:pPr marL="0" indent="0">
              <a:buNone/>
            </a:pPr>
            <a:r>
              <a:rPr lang="en-US" sz="1400" dirty="0">
                <a:solidFill>
                  <a:srgbClr val="6F675E"/>
                </a:solidFill>
                <a:latin typeface="Segoe UI" pitchFamily="34" charset="0"/>
                <a:ea typeface="Segoe UI" pitchFamily="34" charset="-122"/>
                <a:cs typeface="Segoe UI" pitchFamily="34" charset="-120"/>
              </a:rPr>
              <a:t>Capacitor wraps the same build.</a:t>
            </a:r>
            <a:endParaRPr lang="en-US" sz="1700" dirty="0"/>
          </a:p>
          <a:p>
            <a:pPr marL="0" indent="0">
              <a:buNone/>
            </a:pPr>
            <a:endParaRPr lang="en-US" sz="1700" dirty="0"/>
          </a:p>
          <a:p>
            <a:pPr marL="0" indent="0">
              <a:buNone/>
            </a:pPr>
            <a:r>
              <a:rPr lang="en-US" sz="1400" dirty="0">
                <a:solidFill>
                  <a:srgbClr val="6F675E"/>
                </a:solidFill>
                <a:latin typeface="Segoe UI" pitchFamily="34" charset="0"/>
                <a:ea typeface="Segoe UI" pitchFamily="34" charset="-122"/>
                <a:cs typeface="Segoe UI" pitchFamily="34" charset="-120"/>
              </a:rPr>
              <a:t>App ID com.duet.household, Duet icon and splash.</a:t>
            </a:r>
            <a:endParaRPr lang="en-US" sz="1700" dirty="0"/>
          </a:p>
          <a:p>
            <a:pPr marL="0" indent="0">
              <a:buNone/>
            </a:pPr>
            <a:endParaRPr lang="en-US" sz="1700" dirty="0"/>
          </a:p>
          <a:p>
            <a:pPr marL="0" indent="0">
              <a:buNone/>
            </a:pPr>
            <a:r>
              <a:rPr lang="en-US" sz="1400" dirty="0">
                <a:solidFill>
                  <a:srgbClr val="6F675E"/>
                </a:solidFill>
                <a:latin typeface="Segoe UI" pitchFamily="34" charset="0"/>
                <a:ea typeface="Segoe UI" pitchFamily="34" charset="-122"/>
                <a:cs typeface="Segoe UI" pitchFamily="34" charset="-120"/>
              </a:rPr>
              <a:t>Emulator reaches the laptop at 10.0.2.2:5000.</a:t>
            </a:r>
            <a:endParaRPr lang="en-US" sz="1700" dirty="0"/>
          </a:p>
          <a:p>
            <a:pPr marL="0" indent="0">
              <a:buNone/>
            </a:pPr>
            <a:endParaRPr lang="en-US" sz="1700" dirty="0"/>
          </a:p>
          <a:p>
            <a:pPr marL="0" indent="0">
              <a:buNone/>
            </a:pPr>
            <a:r>
              <a:rPr lang="en-US" sz="1400" dirty="0">
                <a:solidFill>
                  <a:srgbClr val="6F675E"/>
                </a:solidFill>
                <a:latin typeface="Segoe UI" pitchFamily="34" charset="0"/>
                <a:ea typeface="Segoe UI" pitchFamily="34" charset="-122"/>
                <a:cs typeface="Segoe UI" pitchFamily="34" charset="-120"/>
              </a:rPr>
              <a:t>Microphone permission for voice.</a:t>
            </a:r>
            <a:endParaRPr lang="en-US" sz="1700" dirty="0"/>
          </a:p>
        </p:txBody>
      </p:sp>
      <p:sp>
        <p:nvSpPr>
          <p:cNvPr id="11" name="Text 8"/>
          <p:cNvSpPr/>
          <p:nvPr/>
        </p:nvSpPr>
        <p:spPr>
          <a:xfrm>
            <a:off x="640080" y="5440680"/>
            <a:ext cx="10881360" cy="457200"/>
          </a:xfrm>
          <a:prstGeom prst="rect">
            <a:avLst/>
          </a:prstGeom>
          <a:noFill/>
          <a:ln/>
        </p:spPr>
        <p:txBody>
          <a:bodyPr wrap="square" rtlCol="0" anchor="ctr"/>
          <a:lstStyle/>
          <a:p>
            <a:pPr marL="0" indent="0">
              <a:buNone/>
            </a:pPr>
            <a:r>
              <a:rPr lang="en-US" sz="1600" b="1" dirty="0">
                <a:solidFill>
                  <a:srgbClr val="C46A4A"/>
                </a:solidFill>
                <a:latin typeface="Segoe UI" pitchFamily="34" charset="0"/>
                <a:ea typeface="Segoe UI" pitchFamily="34" charset="-122"/>
                <a:cs typeface="Segoe UI" pitchFamily="34" charset="-120"/>
              </a:rPr>
              <a:t>No forked code: </a:t>
            </a:r>
            <a:r>
              <a:rPr lang="en-US" sz="1600" dirty="0">
                <a:solidFill>
                  <a:srgbClr val="2A2622"/>
                </a:solidFill>
                <a:latin typeface="Segoe UI" pitchFamily="34" charset="0"/>
                <a:ea typeface="Segoe UI" pitchFamily="34" charset="-122"/>
                <a:cs typeface="Segoe UI" pitchFamily="34" charset="-120"/>
              </a:rPr>
              <a:t>one command (npm run cap:sync) copies the latest web build into the Android project.</a:t>
            </a:r>
            <a:endParaRPr lang="en-US" sz="1600" dirty="0"/>
          </a:p>
        </p:txBody>
      </p:sp>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7</a:t>
            </a:fld>
            <a:endParaRPr lang="en-US"/>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VOICE</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Voice works in the browser and in the Android app</a:t>
            </a:r>
            <a:endParaRPr lang="en-US" sz="3200" dirty="0"/>
          </a:p>
        </p:txBody>
      </p:sp>
      <p:sp>
        <p:nvSpPr>
          <p:cNvPr id="5" name="Shape 2"/>
          <p:cNvSpPr/>
          <p:nvPr/>
        </p:nvSpPr>
        <p:spPr>
          <a:xfrm>
            <a:off x="640080" y="1828800"/>
            <a:ext cx="2926080" cy="1097280"/>
          </a:xfrm>
          <a:prstGeom prst="roundRect">
            <a:avLst>
              <a:gd name="adj" fmla="val 12500"/>
            </a:avLst>
          </a:prstGeom>
          <a:solidFill>
            <a:srgbClr val="FFFDF8"/>
          </a:solidFill>
          <a:ln w="12700">
            <a:solidFill>
              <a:srgbClr val="E6DCCD"/>
            </a:solidFill>
            <a:prstDash val="solid"/>
          </a:ln>
        </p:spPr>
      </p:sp>
      <p:sp>
        <p:nvSpPr>
          <p:cNvPr id="6" name="Text 3"/>
          <p:cNvSpPr/>
          <p:nvPr/>
        </p:nvSpPr>
        <p:spPr>
          <a:xfrm>
            <a:off x="640080" y="1828800"/>
            <a:ext cx="2926080" cy="109728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In the browser</a:t>
            </a:r>
            <a:endParaRPr lang="en-US" sz="1400" dirty="0"/>
          </a:p>
          <a:p>
            <a:pPr marL="0" indent="0" algn="ctr">
              <a:buNone/>
            </a:pPr>
            <a:r>
              <a:rPr lang="en-US" sz="1100" dirty="0">
                <a:solidFill>
                  <a:srgbClr val="6F675E"/>
                </a:solidFill>
                <a:latin typeface="Segoe UI" pitchFamily="34" charset="0"/>
                <a:ea typeface="Segoe UI" pitchFamily="34" charset="-122"/>
                <a:cs typeface="Segoe UI" pitchFamily="34" charset="-120"/>
              </a:rPr>
              <a:t>Web Speech API</a:t>
            </a:r>
            <a:endParaRPr lang="en-US" sz="1400" dirty="0"/>
          </a:p>
        </p:txBody>
      </p:sp>
      <p:sp>
        <p:nvSpPr>
          <p:cNvPr id="7" name="Shape 4"/>
          <p:cNvSpPr/>
          <p:nvPr/>
        </p:nvSpPr>
        <p:spPr>
          <a:xfrm>
            <a:off x="640080" y="3566160"/>
            <a:ext cx="2926080" cy="1097280"/>
          </a:xfrm>
          <a:prstGeom prst="roundRect">
            <a:avLst>
              <a:gd name="adj" fmla="val 12500"/>
            </a:avLst>
          </a:prstGeom>
          <a:solidFill>
            <a:srgbClr val="FFFDF8"/>
          </a:solidFill>
          <a:ln w="12700">
            <a:solidFill>
              <a:srgbClr val="E6DCCD"/>
            </a:solidFill>
            <a:prstDash val="solid"/>
          </a:ln>
        </p:spPr>
      </p:sp>
      <p:sp>
        <p:nvSpPr>
          <p:cNvPr id="8" name="Text 5"/>
          <p:cNvSpPr/>
          <p:nvPr/>
        </p:nvSpPr>
        <p:spPr>
          <a:xfrm>
            <a:off x="640080" y="3566160"/>
            <a:ext cx="2926080" cy="109728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In the Android app</a:t>
            </a:r>
            <a:endParaRPr lang="en-US" sz="1400" dirty="0"/>
          </a:p>
          <a:p>
            <a:pPr marL="0" indent="0" algn="ctr">
              <a:buNone/>
            </a:pPr>
            <a:r>
              <a:rPr lang="en-US" sz="1100" dirty="0">
                <a:solidFill>
                  <a:srgbClr val="6F675E"/>
                </a:solidFill>
                <a:latin typeface="Segoe UI" pitchFamily="34" charset="0"/>
                <a:ea typeface="Segoe UI" pitchFamily="34" charset="-122"/>
                <a:cs typeface="Segoe UI" pitchFamily="34" charset="-120"/>
              </a:rPr>
              <a:t>native speech plugin</a:t>
            </a:r>
            <a:endParaRPr lang="en-US" sz="1400" dirty="0"/>
          </a:p>
        </p:txBody>
      </p:sp>
      <p:sp>
        <p:nvSpPr>
          <p:cNvPr id="9" name="Shape 6"/>
          <p:cNvSpPr/>
          <p:nvPr/>
        </p:nvSpPr>
        <p:spPr>
          <a:xfrm>
            <a:off x="640080" y="5120640"/>
            <a:ext cx="2926080" cy="822960"/>
          </a:xfrm>
          <a:prstGeom prst="roundRect">
            <a:avLst>
              <a:gd name="adj" fmla="val 16667"/>
            </a:avLst>
          </a:prstGeom>
          <a:solidFill>
            <a:srgbClr val="FFFDF8"/>
          </a:solidFill>
          <a:ln w="12700">
            <a:solidFill>
              <a:srgbClr val="E6DCCD"/>
            </a:solidFill>
            <a:prstDash val="solid"/>
          </a:ln>
        </p:spPr>
      </p:sp>
      <p:sp>
        <p:nvSpPr>
          <p:cNvPr id="10" name="Text 7"/>
          <p:cNvSpPr/>
          <p:nvPr/>
        </p:nvSpPr>
        <p:spPr>
          <a:xfrm>
            <a:off x="640080" y="5120640"/>
            <a:ext cx="2926080" cy="822960"/>
          </a:xfrm>
          <a:prstGeom prst="rect">
            <a:avLst/>
          </a:prstGeom>
          <a:noFill/>
          <a:ln/>
        </p:spPr>
        <p:txBody>
          <a:bodyPr wrap="square" rtlCol="0" anchor="ctr"/>
          <a:lstStyle/>
          <a:p>
            <a:pPr marL="0" indent="0" algn="ctr">
              <a:buNone/>
            </a:pPr>
            <a:r>
              <a:rPr lang="en-US" sz="1300" b="1" dirty="0">
                <a:solidFill>
                  <a:srgbClr val="2A2622"/>
                </a:solidFill>
                <a:latin typeface="Segoe UI" pitchFamily="34" charset="0"/>
                <a:ea typeface="Segoe UI" pitchFamily="34" charset="-122"/>
                <a:cs typeface="Segoe UI" pitchFamily="34" charset="-120"/>
              </a:rPr>
              <a:t>Or just type</a:t>
            </a:r>
            <a:endParaRPr lang="en-US" sz="1300" dirty="0"/>
          </a:p>
        </p:txBody>
      </p:sp>
      <p:sp>
        <p:nvSpPr>
          <p:cNvPr id="11" name="Shape 8"/>
          <p:cNvSpPr/>
          <p:nvPr/>
        </p:nvSpPr>
        <p:spPr>
          <a:xfrm>
            <a:off x="4480560" y="3017520"/>
            <a:ext cx="2286000" cy="1188720"/>
          </a:xfrm>
          <a:prstGeom prst="roundRect">
            <a:avLst>
              <a:gd name="adj" fmla="val 11538"/>
            </a:avLst>
          </a:prstGeom>
          <a:solidFill>
            <a:srgbClr val="F8E6DE"/>
          </a:solidFill>
          <a:ln w="12700">
            <a:solidFill>
              <a:srgbClr val="E6DCCD"/>
            </a:solidFill>
            <a:prstDash val="solid"/>
          </a:ln>
        </p:spPr>
      </p:sp>
      <p:sp>
        <p:nvSpPr>
          <p:cNvPr id="12" name="Text 9"/>
          <p:cNvSpPr/>
          <p:nvPr/>
        </p:nvSpPr>
        <p:spPr>
          <a:xfrm>
            <a:off x="4480560" y="3017520"/>
            <a:ext cx="2286000" cy="118872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Transcript</a:t>
            </a:r>
            <a:endParaRPr lang="en-US" sz="1400" dirty="0"/>
          </a:p>
          <a:p>
            <a:pPr marL="0" indent="0" algn="ctr">
              <a:buNone/>
            </a:pPr>
            <a:r>
              <a:rPr lang="en-US" sz="1100" dirty="0">
                <a:solidFill>
                  <a:srgbClr val="6F675E"/>
                </a:solidFill>
                <a:latin typeface="Segoe UI" pitchFamily="34" charset="0"/>
                <a:ea typeface="Segoe UI" pitchFamily="34" charset="-122"/>
                <a:cs typeface="Segoe UI" pitchFamily="34" charset="-120"/>
              </a:rPr>
              <a:t>"um, she had 4 ounces"</a:t>
            </a:r>
            <a:endParaRPr lang="en-US" sz="1400" dirty="0"/>
          </a:p>
        </p:txBody>
      </p:sp>
      <p:sp>
        <p:nvSpPr>
          <p:cNvPr id="13" name="Shape 10"/>
          <p:cNvSpPr/>
          <p:nvPr/>
        </p:nvSpPr>
        <p:spPr>
          <a:xfrm>
            <a:off x="7589520" y="3017520"/>
            <a:ext cx="1828800" cy="1188720"/>
          </a:xfrm>
          <a:prstGeom prst="roundRect">
            <a:avLst>
              <a:gd name="adj" fmla="val 11538"/>
            </a:avLst>
          </a:prstGeom>
          <a:solidFill>
            <a:srgbClr val="E4EEE7"/>
          </a:solidFill>
          <a:ln w="12700">
            <a:solidFill>
              <a:srgbClr val="E6DCCD"/>
            </a:solidFill>
            <a:prstDash val="solid"/>
          </a:ln>
        </p:spPr>
      </p:sp>
      <p:sp>
        <p:nvSpPr>
          <p:cNvPr id="14" name="Text 11"/>
          <p:cNvSpPr/>
          <p:nvPr/>
        </p:nvSpPr>
        <p:spPr>
          <a:xfrm>
            <a:off x="7589520" y="3017520"/>
            <a:ext cx="1828800" cy="118872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Parser</a:t>
            </a:r>
            <a:endParaRPr lang="en-US" sz="1400" dirty="0"/>
          </a:p>
          <a:p>
            <a:pPr marL="0" indent="0" algn="ctr">
              <a:buNone/>
            </a:pPr>
            <a:r>
              <a:rPr lang="en-US" sz="1100" dirty="0">
                <a:solidFill>
                  <a:srgbClr val="6F675E"/>
                </a:solidFill>
                <a:latin typeface="Segoe UI" pitchFamily="34" charset="0"/>
                <a:ea typeface="Segoe UI" pitchFamily="34" charset="-122"/>
                <a:cs typeface="Segoe UI" pitchFamily="34" charset="-120"/>
              </a:rPr>
              <a:t>feed · 120 ml</a:t>
            </a:r>
            <a:endParaRPr lang="en-US" sz="1400" dirty="0"/>
          </a:p>
        </p:txBody>
      </p:sp>
      <p:sp>
        <p:nvSpPr>
          <p:cNvPr id="15" name="Shape 12"/>
          <p:cNvSpPr/>
          <p:nvPr/>
        </p:nvSpPr>
        <p:spPr>
          <a:xfrm>
            <a:off x="10058400" y="3017520"/>
            <a:ext cx="1554480" cy="1188720"/>
          </a:xfrm>
          <a:prstGeom prst="roundRect">
            <a:avLst>
              <a:gd name="adj" fmla="val 11538"/>
            </a:avLst>
          </a:prstGeom>
          <a:solidFill>
            <a:srgbClr val="FFFDF8"/>
          </a:solidFill>
          <a:ln w="12700">
            <a:solidFill>
              <a:srgbClr val="E6DCCD"/>
            </a:solidFill>
            <a:prstDash val="solid"/>
          </a:ln>
        </p:spPr>
      </p:sp>
      <p:sp>
        <p:nvSpPr>
          <p:cNvPr id="16" name="Text 13"/>
          <p:cNvSpPr/>
          <p:nvPr/>
        </p:nvSpPr>
        <p:spPr>
          <a:xfrm>
            <a:off x="10058400" y="3017520"/>
            <a:ext cx="1554480" cy="1188720"/>
          </a:xfrm>
          <a:prstGeom prst="rect">
            <a:avLst/>
          </a:prstGeom>
          <a:noFill/>
          <a:ln/>
        </p:spPr>
        <p:txBody>
          <a:bodyPr wrap="square" rtlCol="0" anchor="ctr"/>
          <a:lstStyle/>
          <a:p>
            <a:pPr marL="0" indent="0" algn="ctr">
              <a:buNone/>
            </a:pPr>
            <a:r>
              <a:rPr lang="en-US" sz="1400" b="1" dirty="0">
                <a:solidFill>
                  <a:srgbClr val="2A2622"/>
                </a:solidFill>
                <a:latin typeface="Segoe UI" pitchFamily="34" charset="0"/>
                <a:ea typeface="Segoe UI" pitchFamily="34" charset="-122"/>
                <a:cs typeface="Segoe UI" pitchFamily="34" charset="-120"/>
              </a:rPr>
              <a:t>Logged</a:t>
            </a:r>
            <a:endParaRPr lang="en-US" sz="1400" dirty="0"/>
          </a:p>
          <a:p>
            <a:pPr marL="0" indent="0" algn="ctr">
              <a:buNone/>
            </a:pPr>
            <a:r>
              <a:rPr lang="en-US" sz="1100" dirty="0">
                <a:solidFill>
                  <a:srgbClr val="6F675E"/>
                </a:solidFill>
                <a:latin typeface="Segoe UI" pitchFamily="34" charset="0"/>
                <a:ea typeface="Segoe UI" pitchFamily="34" charset="-122"/>
                <a:cs typeface="Segoe UI" pitchFamily="34" charset="-120"/>
              </a:rPr>
              <a:t>+ live sync</a:t>
            </a:r>
            <a:endParaRPr lang="en-US" sz="1400" dirty="0"/>
          </a:p>
        </p:txBody>
      </p:sp>
      <p:sp>
        <p:nvSpPr>
          <p:cNvPr id="17" name="Shape 14"/>
          <p:cNvSpPr/>
          <p:nvPr/>
        </p:nvSpPr>
        <p:spPr>
          <a:xfrm>
            <a:off x="3566160" y="2377440"/>
            <a:ext cx="914400" cy="1005840"/>
          </a:xfrm>
          <a:prstGeom prst="line">
            <a:avLst/>
          </a:prstGeom>
          <a:noFill/>
          <a:ln w="25400">
            <a:solidFill>
              <a:srgbClr val="6F675E"/>
            </a:solidFill>
            <a:prstDash val="solid"/>
            <a:tailEnd type="triangle"/>
          </a:ln>
        </p:spPr>
      </p:sp>
      <p:sp>
        <p:nvSpPr>
          <p:cNvPr id="18" name="Shape 15"/>
          <p:cNvSpPr/>
          <p:nvPr/>
        </p:nvSpPr>
        <p:spPr>
          <a:xfrm flipV="1">
            <a:off x="3566160" y="3657600"/>
            <a:ext cx="914400" cy="457200"/>
          </a:xfrm>
          <a:prstGeom prst="line">
            <a:avLst/>
          </a:prstGeom>
          <a:noFill/>
          <a:ln w="25400">
            <a:solidFill>
              <a:srgbClr val="6F675E"/>
            </a:solidFill>
            <a:prstDash val="solid"/>
            <a:tailEnd type="triangle"/>
          </a:ln>
        </p:spPr>
      </p:sp>
      <p:sp>
        <p:nvSpPr>
          <p:cNvPr id="19" name="Shape 16"/>
          <p:cNvSpPr/>
          <p:nvPr/>
        </p:nvSpPr>
        <p:spPr>
          <a:xfrm flipV="1">
            <a:off x="3566160" y="4023360"/>
            <a:ext cx="914400" cy="1508760"/>
          </a:xfrm>
          <a:prstGeom prst="line">
            <a:avLst/>
          </a:prstGeom>
          <a:noFill/>
          <a:ln w="25400">
            <a:solidFill>
              <a:srgbClr val="6F675E"/>
            </a:solidFill>
            <a:prstDash val="solid"/>
            <a:tailEnd type="triangle"/>
          </a:ln>
        </p:spPr>
      </p:sp>
      <p:sp>
        <p:nvSpPr>
          <p:cNvPr id="20" name="Shape 17"/>
          <p:cNvSpPr/>
          <p:nvPr/>
        </p:nvSpPr>
        <p:spPr>
          <a:xfrm>
            <a:off x="6766560" y="3611880"/>
            <a:ext cx="822960" cy="914"/>
          </a:xfrm>
          <a:prstGeom prst="line">
            <a:avLst/>
          </a:prstGeom>
          <a:noFill/>
          <a:ln w="25400">
            <a:solidFill>
              <a:srgbClr val="6F675E"/>
            </a:solidFill>
            <a:prstDash val="solid"/>
            <a:tailEnd type="triangle"/>
          </a:ln>
        </p:spPr>
      </p:sp>
      <p:sp>
        <p:nvSpPr>
          <p:cNvPr id="21" name="Shape 18"/>
          <p:cNvSpPr/>
          <p:nvPr/>
        </p:nvSpPr>
        <p:spPr>
          <a:xfrm>
            <a:off x="9418320" y="3611880"/>
            <a:ext cx="640080" cy="914"/>
          </a:xfrm>
          <a:prstGeom prst="line">
            <a:avLst/>
          </a:prstGeom>
          <a:noFill/>
          <a:ln w="25400">
            <a:solidFill>
              <a:srgbClr val="6F675E"/>
            </a:solidFill>
            <a:prstDash val="solid"/>
            <a:tailEnd type="triangle"/>
          </a:ln>
        </p:spPr>
      </p:sp>
      <p:sp>
        <p:nvSpPr>
          <p:cNvPr id="22" name="Shape 19"/>
          <p:cNvSpPr/>
          <p:nvPr/>
        </p:nvSpPr>
        <p:spPr>
          <a:xfrm>
            <a:off x="4480560" y="4663440"/>
            <a:ext cx="7132320" cy="1280160"/>
          </a:xfrm>
          <a:prstGeom prst="roundRect">
            <a:avLst>
              <a:gd name="adj" fmla="val 10714"/>
            </a:avLst>
          </a:prstGeom>
          <a:solidFill>
            <a:srgbClr val="FFFDF8"/>
          </a:solidFill>
          <a:ln w="12700">
            <a:solidFill>
              <a:srgbClr val="E6DCCD"/>
            </a:solidFill>
            <a:prstDash val="solid"/>
          </a:ln>
        </p:spPr>
      </p:sp>
      <p:sp>
        <p:nvSpPr>
          <p:cNvPr id="23" name="Text 20"/>
          <p:cNvSpPr/>
          <p:nvPr/>
        </p:nvSpPr>
        <p:spPr>
          <a:xfrm>
            <a:off x="4709160" y="4663440"/>
            <a:ext cx="6675120" cy="1280160"/>
          </a:xfrm>
          <a:prstGeom prst="rect">
            <a:avLst/>
          </a:prstGeom>
          <a:noFill/>
          <a:ln/>
        </p:spPr>
        <p:txBody>
          <a:bodyPr wrap="square" rtlCol="0" anchor="ctr"/>
          <a:lstStyle/>
          <a:p>
            <a:pPr marL="0" indent="0">
              <a:buNone/>
            </a:pPr>
            <a:r>
              <a:rPr lang="en-US" sz="1400" b="1" dirty="0">
                <a:solidFill>
                  <a:srgbClr val="2A2622"/>
                </a:solidFill>
                <a:latin typeface="Segoe UI" pitchFamily="34" charset="0"/>
                <a:ea typeface="Segoe UI" pitchFamily="34" charset="-122"/>
                <a:cs typeface="Segoe UI" pitchFamily="34" charset="-120"/>
              </a:rPr>
              <a:t>Why a native plugin on Android?</a:t>
            </a:r>
            <a:endParaRPr lang="en-US" sz="1400" dirty="0"/>
          </a:p>
          <a:p>
            <a:pPr marL="0" indent="0">
              <a:buNone/>
            </a:pPr>
            <a:r>
              <a:rPr lang="en-US" sz="1400" dirty="0">
                <a:solidFill>
                  <a:srgbClr val="6F675E"/>
                </a:solidFill>
                <a:latin typeface="Segoe UI" pitchFamily="34" charset="0"/>
                <a:ea typeface="Segoe UI" pitchFamily="34" charset="-122"/>
                <a:cs typeface="Segoe UI" pitchFamily="34" charset="-120"/>
              </a:rPr>
              <a:t>The browser speech API is unreliable inside the Android app's built-in web view. On Android: tap the mic to start, tap again when finished.</a:t>
            </a:r>
            <a:endParaRPr lang="en-US" sz="1400" dirty="0"/>
          </a:p>
        </p:txBody>
      </p:sp>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8</a:t>
            </a:fld>
            <a:endParaRPr lang="en-US"/>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TESTING</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Three layers of automated tests</a:t>
            </a:r>
            <a:endParaRPr lang="en-US" sz="3200" dirty="0"/>
          </a:p>
        </p:txBody>
      </p:sp>
      <p:sp>
        <p:nvSpPr>
          <p:cNvPr id="5" name="Shape 2"/>
          <p:cNvSpPr/>
          <p:nvPr/>
        </p:nvSpPr>
        <p:spPr>
          <a:xfrm>
            <a:off x="1737360" y="1737360"/>
            <a:ext cx="5852160" cy="1188720"/>
          </a:xfrm>
          <a:prstGeom prst="roundRect">
            <a:avLst>
              <a:gd name="adj" fmla="val 11538"/>
            </a:avLst>
          </a:prstGeom>
          <a:solidFill>
            <a:srgbClr val="E4EEE7"/>
          </a:solidFill>
          <a:ln w="12700">
            <a:solidFill>
              <a:srgbClr val="E6DCCD"/>
            </a:solidFill>
            <a:prstDash val="solid"/>
          </a:ln>
        </p:spPr>
      </p:sp>
      <p:sp>
        <p:nvSpPr>
          <p:cNvPr id="6" name="Text 3"/>
          <p:cNvSpPr/>
          <p:nvPr/>
        </p:nvSpPr>
        <p:spPr>
          <a:xfrm>
            <a:off x="1920240" y="1737360"/>
            <a:ext cx="1188720" cy="1188720"/>
          </a:xfrm>
          <a:prstGeom prst="rect">
            <a:avLst/>
          </a:prstGeom>
          <a:noFill/>
          <a:ln/>
        </p:spPr>
        <p:txBody>
          <a:bodyPr wrap="square" rtlCol="0" anchor="ctr"/>
          <a:lstStyle/>
          <a:p>
            <a:pPr marL="0" indent="0">
              <a:buNone/>
            </a:pPr>
            <a:r>
              <a:rPr lang="en-US" sz="3600" b="1" dirty="0">
                <a:solidFill>
                  <a:srgbClr val="C46A4A"/>
                </a:solidFill>
                <a:latin typeface="Georgia" pitchFamily="34" charset="0"/>
                <a:ea typeface="Georgia" pitchFamily="34" charset="-122"/>
                <a:cs typeface="Georgia" pitchFamily="34" charset="-120"/>
              </a:rPr>
              <a:t>31</a:t>
            </a:r>
            <a:endParaRPr lang="en-US" sz="3600" dirty="0"/>
          </a:p>
        </p:txBody>
      </p:sp>
      <p:sp>
        <p:nvSpPr>
          <p:cNvPr id="7" name="Text 4"/>
          <p:cNvSpPr/>
          <p:nvPr/>
        </p:nvSpPr>
        <p:spPr>
          <a:xfrm>
            <a:off x="3108960" y="1737360"/>
            <a:ext cx="4297680" cy="1188720"/>
          </a:xfrm>
          <a:prstGeom prst="rect">
            <a:avLst/>
          </a:prstGeom>
          <a:noFill/>
          <a:ln/>
        </p:spPr>
        <p:txBody>
          <a:bodyPr wrap="square" rtlCol="0" anchor="ctr"/>
          <a:lstStyle/>
          <a:p>
            <a:pPr marL="0" indent="0">
              <a:buNone/>
            </a:pPr>
            <a:r>
              <a:rPr lang="en-US" sz="1600" b="1" dirty="0">
                <a:solidFill>
                  <a:srgbClr val="2A2622"/>
                </a:solidFill>
                <a:latin typeface="Segoe UI" pitchFamily="34" charset="0"/>
                <a:ea typeface="Segoe UI" pitchFamily="34" charset="-122"/>
                <a:cs typeface="Segoe UI" pitchFamily="34" charset="-120"/>
              </a:rPr>
              <a:t>Browser tests</a:t>
            </a:r>
            <a:endParaRPr lang="en-US" sz="1600" dirty="0"/>
          </a:p>
          <a:p>
            <a:pPr marL="0" indent="0">
              <a:buNone/>
            </a:pPr>
            <a:r>
              <a:rPr lang="en-US" sz="1300" dirty="0">
                <a:solidFill>
                  <a:srgbClr val="6F675E"/>
                </a:solidFill>
                <a:latin typeface="Segoe UI" pitchFamily="34" charset="0"/>
                <a:ea typeface="Segoe UI" pitchFamily="34" charset="-122"/>
                <a:cs typeface="Segoe UI" pitchFamily="34" charset="-120"/>
              </a:rPr>
              <a:t>Does the real app work on phone and desktop, live, even offline?</a:t>
            </a:r>
            <a:endParaRPr lang="en-US" sz="1600" dirty="0"/>
          </a:p>
        </p:txBody>
      </p:sp>
      <p:sp>
        <p:nvSpPr>
          <p:cNvPr id="8" name="Shape 5"/>
          <p:cNvSpPr/>
          <p:nvPr/>
        </p:nvSpPr>
        <p:spPr>
          <a:xfrm>
            <a:off x="1188720" y="3108960"/>
            <a:ext cx="6949440" cy="1188720"/>
          </a:xfrm>
          <a:prstGeom prst="roundRect">
            <a:avLst>
              <a:gd name="adj" fmla="val 11538"/>
            </a:avLst>
          </a:prstGeom>
          <a:solidFill>
            <a:srgbClr val="F8E6DE"/>
          </a:solidFill>
          <a:ln w="12700">
            <a:solidFill>
              <a:srgbClr val="E6DCCD"/>
            </a:solidFill>
            <a:prstDash val="solid"/>
          </a:ln>
        </p:spPr>
      </p:sp>
      <p:sp>
        <p:nvSpPr>
          <p:cNvPr id="9" name="Text 6"/>
          <p:cNvSpPr/>
          <p:nvPr/>
        </p:nvSpPr>
        <p:spPr>
          <a:xfrm>
            <a:off x="1371600" y="3108960"/>
            <a:ext cx="1188720" cy="1188720"/>
          </a:xfrm>
          <a:prstGeom prst="rect">
            <a:avLst/>
          </a:prstGeom>
          <a:noFill/>
          <a:ln/>
        </p:spPr>
        <p:txBody>
          <a:bodyPr wrap="square" rtlCol="0" anchor="ctr"/>
          <a:lstStyle/>
          <a:p>
            <a:pPr marL="0" indent="0">
              <a:buNone/>
            </a:pPr>
            <a:r>
              <a:rPr lang="en-US" sz="3600" b="1" dirty="0">
                <a:solidFill>
                  <a:srgbClr val="C46A4A"/>
                </a:solidFill>
                <a:latin typeface="Georgia" pitchFamily="34" charset="0"/>
                <a:ea typeface="Georgia" pitchFamily="34" charset="-122"/>
                <a:cs typeface="Georgia" pitchFamily="34" charset="-120"/>
              </a:rPr>
              <a:t>73</a:t>
            </a:r>
            <a:endParaRPr lang="en-US" sz="3600" dirty="0"/>
          </a:p>
        </p:txBody>
      </p:sp>
      <p:sp>
        <p:nvSpPr>
          <p:cNvPr id="10" name="Text 7"/>
          <p:cNvSpPr/>
          <p:nvPr/>
        </p:nvSpPr>
        <p:spPr>
          <a:xfrm>
            <a:off x="2560320" y="3108960"/>
            <a:ext cx="5394960" cy="1188720"/>
          </a:xfrm>
          <a:prstGeom prst="rect">
            <a:avLst/>
          </a:prstGeom>
          <a:noFill/>
          <a:ln/>
        </p:spPr>
        <p:txBody>
          <a:bodyPr wrap="square" rtlCol="0" anchor="ctr"/>
          <a:lstStyle/>
          <a:p>
            <a:pPr marL="0" indent="0">
              <a:buNone/>
            </a:pPr>
            <a:r>
              <a:rPr lang="en-US" sz="1600" b="1" dirty="0">
                <a:solidFill>
                  <a:srgbClr val="2A2622"/>
                </a:solidFill>
                <a:latin typeface="Segoe UI" pitchFamily="34" charset="0"/>
                <a:ea typeface="Segoe UI" pitchFamily="34" charset="-122"/>
                <a:cs typeface="Segoe UI" pitchFamily="34" charset="-120"/>
              </a:rPr>
              <a:t>End-to-end tests</a:t>
            </a:r>
            <a:endParaRPr lang="en-US" sz="1600" dirty="0"/>
          </a:p>
          <a:p>
            <a:pPr marL="0" indent="0">
              <a:buNone/>
            </a:pPr>
            <a:r>
              <a:rPr lang="en-US" sz="1300" dirty="0">
                <a:solidFill>
                  <a:srgbClr val="6F675E"/>
                </a:solidFill>
                <a:latin typeface="Segoe UI" pitchFamily="34" charset="0"/>
                <a:ea typeface="Segoe UI" pitchFamily="34" charset="-122"/>
                <a:cs typeface="Segoe UI" pitchFamily="34" charset="-120"/>
              </a:rPr>
              <a:t>Does every feature work for two caregivers, and keep outsiders out?</a:t>
            </a:r>
            <a:endParaRPr lang="en-US" sz="1600" dirty="0"/>
          </a:p>
        </p:txBody>
      </p:sp>
      <p:sp>
        <p:nvSpPr>
          <p:cNvPr id="11" name="Shape 8"/>
          <p:cNvSpPr/>
          <p:nvPr/>
        </p:nvSpPr>
        <p:spPr>
          <a:xfrm>
            <a:off x="640080" y="4480560"/>
            <a:ext cx="8046720" cy="1188720"/>
          </a:xfrm>
          <a:prstGeom prst="roundRect">
            <a:avLst>
              <a:gd name="adj" fmla="val 11538"/>
            </a:avLst>
          </a:prstGeom>
          <a:solidFill>
            <a:srgbClr val="FFFDF8"/>
          </a:solidFill>
          <a:ln w="12700">
            <a:solidFill>
              <a:srgbClr val="E6DCCD"/>
            </a:solidFill>
            <a:prstDash val="solid"/>
          </a:ln>
        </p:spPr>
      </p:sp>
      <p:sp>
        <p:nvSpPr>
          <p:cNvPr id="12" name="Text 9"/>
          <p:cNvSpPr/>
          <p:nvPr/>
        </p:nvSpPr>
        <p:spPr>
          <a:xfrm>
            <a:off x="822960" y="4480560"/>
            <a:ext cx="1188720" cy="1188720"/>
          </a:xfrm>
          <a:prstGeom prst="rect">
            <a:avLst/>
          </a:prstGeom>
          <a:noFill/>
          <a:ln/>
        </p:spPr>
        <p:txBody>
          <a:bodyPr wrap="square" rtlCol="0" anchor="ctr"/>
          <a:lstStyle/>
          <a:p>
            <a:pPr marL="0" indent="0">
              <a:buNone/>
            </a:pPr>
            <a:r>
              <a:rPr lang="en-US" sz="3600" b="1" dirty="0">
                <a:solidFill>
                  <a:srgbClr val="C46A4A"/>
                </a:solidFill>
                <a:latin typeface="Georgia" pitchFamily="34" charset="0"/>
                <a:ea typeface="Georgia" pitchFamily="34" charset="-122"/>
                <a:cs typeface="Georgia" pitchFamily="34" charset="-120"/>
              </a:rPr>
              <a:t>11</a:t>
            </a:r>
            <a:endParaRPr lang="en-US" sz="3600" dirty="0"/>
          </a:p>
        </p:txBody>
      </p:sp>
      <p:sp>
        <p:nvSpPr>
          <p:cNvPr id="13" name="Text 10"/>
          <p:cNvSpPr/>
          <p:nvPr/>
        </p:nvSpPr>
        <p:spPr>
          <a:xfrm>
            <a:off x="2011680" y="4480560"/>
            <a:ext cx="6492240" cy="1188720"/>
          </a:xfrm>
          <a:prstGeom prst="rect">
            <a:avLst/>
          </a:prstGeom>
          <a:noFill/>
          <a:ln/>
        </p:spPr>
        <p:txBody>
          <a:bodyPr wrap="square" rtlCol="0" anchor="ctr"/>
          <a:lstStyle/>
          <a:p>
            <a:pPr marL="0" indent="0">
              <a:buNone/>
            </a:pPr>
            <a:r>
              <a:rPr lang="en-US" sz="1600" b="1" dirty="0">
                <a:solidFill>
                  <a:srgbClr val="2A2622"/>
                </a:solidFill>
                <a:latin typeface="Segoe UI" pitchFamily="34" charset="0"/>
                <a:ea typeface="Segoe UI" pitchFamily="34" charset="-122"/>
                <a:cs typeface="Segoe UI" pitchFamily="34" charset="-120"/>
              </a:rPr>
              <a:t>Unit tests</a:t>
            </a:r>
            <a:endParaRPr lang="en-US" sz="1600" dirty="0"/>
          </a:p>
          <a:p>
            <a:pPr marL="0" indent="0">
              <a:buNone/>
            </a:pPr>
            <a:r>
              <a:rPr lang="en-US" sz="1300" dirty="0">
                <a:solidFill>
                  <a:srgbClr val="6F675E"/>
                </a:solidFill>
                <a:latin typeface="Segoe UI" pitchFamily="34" charset="0"/>
                <a:ea typeface="Segoe UI" pitchFamily="34" charset="-122"/>
                <a:cs typeface="Segoe UI" pitchFamily="34" charset="-120"/>
              </a:rPr>
              <a:t>Does Duet understand the sentence?</a:t>
            </a:r>
            <a:endParaRPr lang="en-US" sz="1600" dirty="0"/>
          </a:p>
        </p:txBody>
      </p:sp>
      <p:sp>
        <p:nvSpPr>
          <p:cNvPr id="14" name="Shape 11"/>
          <p:cNvSpPr/>
          <p:nvPr/>
        </p:nvSpPr>
        <p:spPr>
          <a:xfrm>
            <a:off x="9144000" y="1737360"/>
            <a:ext cx="2377440" cy="3931920"/>
          </a:xfrm>
          <a:prstGeom prst="roundRect">
            <a:avLst>
              <a:gd name="adj" fmla="val 5769"/>
            </a:avLst>
          </a:prstGeom>
          <a:solidFill>
            <a:srgbClr val="2A2622"/>
          </a:solidFill>
          <a:ln w="12700">
            <a:solidFill>
              <a:srgbClr val="E6DCCD"/>
            </a:solidFill>
            <a:prstDash val="solid"/>
          </a:ln>
        </p:spPr>
      </p:sp>
      <p:sp>
        <p:nvSpPr>
          <p:cNvPr id="15" name="Text 12"/>
          <p:cNvSpPr/>
          <p:nvPr/>
        </p:nvSpPr>
        <p:spPr>
          <a:xfrm>
            <a:off x="9144000" y="1737360"/>
            <a:ext cx="2377440" cy="3931920"/>
          </a:xfrm>
          <a:prstGeom prst="rect">
            <a:avLst/>
          </a:prstGeom>
          <a:noFill/>
          <a:ln/>
        </p:spPr>
        <p:txBody>
          <a:bodyPr wrap="square" rtlCol="0" anchor="ctr"/>
          <a:lstStyle/>
          <a:p>
            <a:pPr marL="0" indent="0" algn="ctr">
              <a:buNone/>
            </a:pPr>
            <a:r>
              <a:rPr lang="en-US" sz="6000" b="1" dirty="0">
                <a:solidFill>
                  <a:srgbClr val="FFFDF8"/>
                </a:solidFill>
                <a:latin typeface="Georgia" pitchFamily="34" charset="0"/>
                <a:ea typeface="Georgia" pitchFamily="34" charset="-122"/>
                <a:cs typeface="Georgia" pitchFamily="34" charset="-120"/>
              </a:rPr>
              <a:t>115</a:t>
            </a:r>
            <a:endParaRPr lang="en-US" sz="6000" dirty="0"/>
          </a:p>
          <a:p>
            <a:pPr marL="0" indent="0" algn="ctr">
              <a:buNone/>
            </a:pPr>
            <a:r>
              <a:rPr lang="en-US" sz="1600" dirty="0">
                <a:solidFill>
                  <a:srgbClr val="F4EFE6"/>
                </a:solidFill>
                <a:latin typeface="Segoe UI" pitchFamily="34" charset="0"/>
                <a:ea typeface="Segoe UI" pitchFamily="34" charset="-122"/>
                <a:cs typeface="Segoe UI" pitchFamily="34" charset="-120"/>
              </a:rPr>
              <a:t>automated checks</a:t>
            </a:r>
            <a:endParaRPr lang="en-US" sz="6000" dirty="0"/>
          </a:p>
        </p:txBody>
      </p:sp>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9</a:t>
            </a:fld>
            <a:endParaRPr lang="en-US"/>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TESTING</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What the browser test actually does</a:t>
            </a:r>
            <a:endParaRPr lang="en-US" sz="3200" dirty="0"/>
          </a:p>
        </p:txBody>
      </p:sp>
      <p:sp>
        <p:nvSpPr>
          <p:cNvPr id="5" name="Shape 2"/>
          <p:cNvSpPr/>
          <p:nvPr/>
        </p:nvSpPr>
        <p:spPr>
          <a:xfrm>
            <a:off x="640080" y="1737360"/>
            <a:ext cx="2560320" cy="1554480"/>
          </a:xfrm>
          <a:prstGeom prst="roundRect">
            <a:avLst>
              <a:gd name="adj" fmla="val 8824"/>
            </a:avLst>
          </a:prstGeom>
          <a:solidFill>
            <a:srgbClr val="F8E6DE"/>
          </a:solidFill>
          <a:ln w="12700">
            <a:solidFill>
              <a:srgbClr val="E6DCCD"/>
            </a:solidFill>
            <a:prstDash val="solid"/>
          </a:ln>
        </p:spPr>
      </p:sp>
      <p:sp>
        <p:nvSpPr>
          <p:cNvPr id="6" name="Shape 3"/>
          <p:cNvSpPr/>
          <p:nvPr/>
        </p:nvSpPr>
        <p:spPr>
          <a:xfrm>
            <a:off x="822960" y="1920240"/>
            <a:ext cx="457200" cy="457200"/>
          </a:xfrm>
          <a:prstGeom prst="ellipse">
            <a:avLst/>
          </a:prstGeom>
          <a:solidFill>
            <a:srgbClr val="2A2622"/>
          </a:solidFill>
          <a:ln w="12700">
            <a:solidFill>
              <a:srgbClr val="2A2622"/>
            </a:solidFill>
            <a:prstDash val="solid"/>
          </a:ln>
        </p:spPr>
      </p:sp>
      <p:sp>
        <p:nvSpPr>
          <p:cNvPr id="7" name="Text 4"/>
          <p:cNvSpPr/>
          <p:nvPr/>
        </p:nvSpPr>
        <p:spPr>
          <a:xfrm>
            <a:off x="822960" y="1920240"/>
            <a:ext cx="457200" cy="457200"/>
          </a:xfrm>
          <a:prstGeom prst="rect">
            <a:avLst/>
          </a:prstGeom>
          <a:noFill/>
          <a:ln/>
        </p:spPr>
        <p:txBody>
          <a:bodyPr wrap="square" rtlCol="0" anchor="ctr"/>
          <a:lstStyle/>
          <a:p>
            <a:pPr marL="0" indent="0" algn="ctr">
              <a:buNone/>
            </a:pPr>
            <a:r>
              <a:rPr lang="en-US" sz="1400" b="1" dirty="0">
                <a:solidFill>
                  <a:srgbClr val="FFFDF8"/>
                </a:solidFill>
                <a:latin typeface="Segoe UI" pitchFamily="34" charset="0"/>
                <a:ea typeface="Segoe UI" pitchFamily="34" charset="-122"/>
                <a:cs typeface="Segoe UI" pitchFamily="34" charset="-120"/>
              </a:rPr>
              <a:t>1</a:t>
            </a:r>
            <a:endParaRPr lang="en-US" sz="1400" dirty="0"/>
          </a:p>
        </p:txBody>
      </p:sp>
      <p:sp>
        <p:nvSpPr>
          <p:cNvPr id="8" name="Text 5"/>
          <p:cNvSpPr/>
          <p:nvPr/>
        </p:nvSpPr>
        <p:spPr>
          <a:xfrm>
            <a:off x="1371600" y="1920240"/>
            <a:ext cx="1737360" cy="457200"/>
          </a:xfrm>
          <a:prstGeom prst="rect">
            <a:avLst/>
          </a:prstGeom>
          <a:noFill/>
          <a:ln/>
        </p:spPr>
        <p:txBody>
          <a:bodyPr wrap="square" rtlCol="0" anchor="ctr"/>
          <a:lstStyle/>
          <a:p>
            <a:pPr marL="0" indent="0">
              <a:buNone/>
            </a:pPr>
            <a:r>
              <a:rPr lang="en-US" sz="1200" dirty="0">
                <a:solidFill>
                  <a:srgbClr val="6F675E"/>
                </a:solidFill>
                <a:latin typeface="Segoe UI" pitchFamily="34" charset="0"/>
                <a:ea typeface="Segoe UI" pitchFamily="34" charset="-122"/>
                <a:cs typeface="Segoe UI" pitchFamily="34" charset="-120"/>
              </a:rPr>
              <a:t>Alex · phone</a:t>
            </a:r>
            <a:endParaRPr lang="en-US" sz="1200" dirty="0"/>
          </a:p>
        </p:txBody>
      </p:sp>
      <p:sp>
        <p:nvSpPr>
          <p:cNvPr id="9" name="Text 6"/>
          <p:cNvSpPr/>
          <p:nvPr/>
        </p:nvSpPr>
        <p:spPr>
          <a:xfrm>
            <a:off x="822960" y="2468880"/>
            <a:ext cx="2194560" cy="731520"/>
          </a:xfrm>
          <a:prstGeom prst="rect">
            <a:avLst/>
          </a:prstGeom>
          <a:noFill/>
          <a:ln/>
        </p:spPr>
        <p:txBody>
          <a:bodyPr wrap="square" rtlCol="0" anchor="t"/>
          <a:lstStyle/>
          <a:p>
            <a:pPr marL="0" indent="0">
              <a:buNone/>
            </a:pPr>
            <a:r>
              <a:rPr lang="en-US" sz="1600" b="1" dirty="0">
                <a:solidFill>
                  <a:srgbClr val="2A2622"/>
                </a:solidFill>
                <a:latin typeface="Segoe UI" pitchFamily="34" charset="0"/>
                <a:ea typeface="Segoe UI" pitchFamily="34" charset="-122"/>
                <a:cs typeface="Segoe UI" pitchFamily="34" charset="-120"/>
              </a:rPr>
              <a:t>Alex signs up</a:t>
            </a:r>
            <a:endParaRPr lang="en-US" sz="1600" dirty="0"/>
          </a:p>
        </p:txBody>
      </p:sp>
      <p:sp>
        <p:nvSpPr>
          <p:cNvPr id="10" name="Shape 7"/>
          <p:cNvSpPr/>
          <p:nvPr/>
        </p:nvSpPr>
        <p:spPr>
          <a:xfrm>
            <a:off x="3429000" y="1737360"/>
            <a:ext cx="2560320" cy="1554480"/>
          </a:xfrm>
          <a:prstGeom prst="roundRect">
            <a:avLst>
              <a:gd name="adj" fmla="val 8824"/>
            </a:avLst>
          </a:prstGeom>
          <a:solidFill>
            <a:srgbClr val="F8E6DE"/>
          </a:solidFill>
          <a:ln w="12700">
            <a:solidFill>
              <a:srgbClr val="E6DCCD"/>
            </a:solidFill>
            <a:prstDash val="solid"/>
          </a:ln>
        </p:spPr>
      </p:sp>
      <p:sp>
        <p:nvSpPr>
          <p:cNvPr id="11" name="Shape 8"/>
          <p:cNvSpPr/>
          <p:nvPr/>
        </p:nvSpPr>
        <p:spPr>
          <a:xfrm>
            <a:off x="3611880" y="1920240"/>
            <a:ext cx="457200" cy="457200"/>
          </a:xfrm>
          <a:prstGeom prst="ellipse">
            <a:avLst/>
          </a:prstGeom>
          <a:solidFill>
            <a:srgbClr val="2A2622"/>
          </a:solidFill>
          <a:ln w="12700">
            <a:solidFill>
              <a:srgbClr val="2A2622"/>
            </a:solidFill>
            <a:prstDash val="solid"/>
          </a:ln>
        </p:spPr>
      </p:sp>
      <p:sp>
        <p:nvSpPr>
          <p:cNvPr id="12" name="Text 9"/>
          <p:cNvSpPr/>
          <p:nvPr/>
        </p:nvSpPr>
        <p:spPr>
          <a:xfrm>
            <a:off x="3611880" y="1920240"/>
            <a:ext cx="457200" cy="457200"/>
          </a:xfrm>
          <a:prstGeom prst="rect">
            <a:avLst/>
          </a:prstGeom>
          <a:noFill/>
          <a:ln/>
        </p:spPr>
        <p:txBody>
          <a:bodyPr wrap="square" rtlCol="0" anchor="ctr"/>
          <a:lstStyle/>
          <a:p>
            <a:pPr marL="0" indent="0" algn="ctr">
              <a:buNone/>
            </a:pPr>
            <a:r>
              <a:rPr lang="en-US" sz="1400" b="1" dirty="0">
                <a:solidFill>
                  <a:srgbClr val="FFFDF8"/>
                </a:solidFill>
                <a:latin typeface="Segoe UI" pitchFamily="34" charset="0"/>
                <a:ea typeface="Segoe UI" pitchFamily="34" charset="-122"/>
                <a:cs typeface="Segoe UI" pitchFamily="34" charset="-120"/>
              </a:rPr>
              <a:t>2</a:t>
            </a:r>
            <a:endParaRPr lang="en-US" sz="1400" dirty="0"/>
          </a:p>
        </p:txBody>
      </p:sp>
      <p:sp>
        <p:nvSpPr>
          <p:cNvPr id="13" name="Text 10"/>
          <p:cNvSpPr/>
          <p:nvPr/>
        </p:nvSpPr>
        <p:spPr>
          <a:xfrm>
            <a:off x="4160520" y="1920240"/>
            <a:ext cx="1737360" cy="457200"/>
          </a:xfrm>
          <a:prstGeom prst="rect">
            <a:avLst/>
          </a:prstGeom>
          <a:noFill/>
          <a:ln/>
        </p:spPr>
        <p:txBody>
          <a:bodyPr wrap="square" rtlCol="0" anchor="ctr"/>
          <a:lstStyle/>
          <a:p>
            <a:pPr marL="0" indent="0">
              <a:buNone/>
            </a:pPr>
            <a:r>
              <a:rPr lang="en-US" sz="1200" dirty="0">
                <a:solidFill>
                  <a:srgbClr val="6F675E"/>
                </a:solidFill>
                <a:latin typeface="Segoe UI" pitchFamily="34" charset="0"/>
                <a:ea typeface="Segoe UI" pitchFamily="34" charset="-122"/>
                <a:cs typeface="Segoe UI" pitchFamily="34" charset="-120"/>
              </a:rPr>
              <a:t>Alex · phone</a:t>
            </a:r>
            <a:endParaRPr lang="en-US" sz="1200" dirty="0"/>
          </a:p>
        </p:txBody>
      </p:sp>
      <p:sp>
        <p:nvSpPr>
          <p:cNvPr id="14" name="Text 11"/>
          <p:cNvSpPr/>
          <p:nvPr/>
        </p:nvSpPr>
        <p:spPr>
          <a:xfrm>
            <a:off x="3611880" y="2468880"/>
            <a:ext cx="2194560" cy="731520"/>
          </a:xfrm>
          <a:prstGeom prst="rect">
            <a:avLst/>
          </a:prstGeom>
          <a:noFill/>
          <a:ln/>
        </p:spPr>
        <p:txBody>
          <a:bodyPr wrap="square" rtlCol="0" anchor="t"/>
          <a:lstStyle/>
          <a:p>
            <a:pPr marL="0" indent="0">
              <a:buNone/>
            </a:pPr>
            <a:r>
              <a:rPr lang="en-US" sz="1600" b="1" dirty="0">
                <a:solidFill>
                  <a:srgbClr val="2A2622"/>
                </a:solidFill>
                <a:latin typeface="Segoe UI" pitchFamily="34" charset="0"/>
                <a:ea typeface="Segoe UI" pitchFamily="34" charset="-122"/>
                <a:cs typeface="Segoe UI" pitchFamily="34" charset="-120"/>
              </a:rPr>
              <a:t>Creates household, gets invite code</a:t>
            </a:r>
            <a:endParaRPr lang="en-US" sz="1600" dirty="0"/>
          </a:p>
        </p:txBody>
      </p:sp>
      <p:sp>
        <p:nvSpPr>
          <p:cNvPr id="15" name="Shape 12"/>
          <p:cNvSpPr/>
          <p:nvPr/>
        </p:nvSpPr>
        <p:spPr>
          <a:xfrm>
            <a:off x="6217920" y="1737360"/>
            <a:ext cx="2560320" cy="1554480"/>
          </a:xfrm>
          <a:prstGeom prst="roundRect">
            <a:avLst>
              <a:gd name="adj" fmla="val 8824"/>
            </a:avLst>
          </a:prstGeom>
          <a:solidFill>
            <a:srgbClr val="E4EEE7"/>
          </a:solidFill>
          <a:ln w="12700">
            <a:solidFill>
              <a:srgbClr val="E6DCCD"/>
            </a:solidFill>
            <a:prstDash val="solid"/>
          </a:ln>
        </p:spPr>
      </p:sp>
      <p:sp>
        <p:nvSpPr>
          <p:cNvPr id="16" name="Shape 13"/>
          <p:cNvSpPr/>
          <p:nvPr/>
        </p:nvSpPr>
        <p:spPr>
          <a:xfrm>
            <a:off x="6400800" y="1920240"/>
            <a:ext cx="457200" cy="457200"/>
          </a:xfrm>
          <a:prstGeom prst="ellipse">
            <a:avLst/>
          </a:prstGeom>
          <a:solidFill>
            <a:srgbClr val="2A2622"/>
          </a:solidFill>
          <a:ln w="12700">
            <a:solidFill>
              <a:srgbClr val="2A2622"/>
            </a:solidFill>
            <a:prstDash val="solid"/>
          </a:ln>
        </p:spPr>
      </p:sp>
      <p:sp>
        <p:nvSpPr>
          <p:cNvPr id="17" name="Text 14"/>
          <p:cNvSpPr/>
          <p:nvPr/>
        </p:nvSpPr>
        <p:spPr>
          <a:xfrm>
            <a:off x="6400800" y="1920240"/>
            <a:ext cx="457200" cy="457200"/>
          </a:xfrm>
          <a:prstGeom prst="rect">
            <a:avLst/>
          </a:prstGeom>
          <a:noFill/>
          <a:ln/>
        </p:spPr>
        <p:txBody>
          <a:bodyPr wrap="square" rtlCol="0" anchor="ctr"/>
          <a:lstStyle/>
          <a:p>
            <a:pPr marL="0" indent="0" algn="ctr">
              <a:buNone/>
            </a:pPr>
            <a:r>
              <a:rPr lang="en-US" sz="1400" b="1" dirty="0">
                <a:solidFill>
                  <a:srgbClr val="FFFDF8"/>
                </a:solidFill>
                <a:latin typeface="Segoe UI" pitchFamily="34" charset="0"/>
                <a:ea typeface="Segoe UI" pitchFamily="34" charset="-122"/>
                <a:cs typeface="Segoe UI" pitchFamily="34" charset="-120"/>
              </a:rPr>
              <a:t>3</a:t>
            </a:r>
            <a:endParaRPr lang="en-US" sz="1400" dirty="0"/>
          </a:p>
        </p:txBody>
      </p:sp>
      <p:sp>
        <p:nvSpPr>
          <p:cNvPr id="18" name="Text 15"/>
          <p:cNvSpPr/>
          <p:nvPr/>
        </p:nvSpPr>
        <p:spPr>
          <a:xfrm>
            <a:off x="6949440" y="1920240"/>
            <a:ext cx="1737360" cy="457200"/>
          </a:xfrm>
          <a:prstGeom prst="rect">
            <a:avLst/>
          </a:prstGeom>
          <a:noFill/>
          <a:ln/>
        </p:spPr>
        <p:txBody>
          <a:bodyPr wrap="square" rtlCol="0" anchor="ctr"/>
          <a:lstStyle/>
          <a:p>
            <a:pPr marL="0" indent="0">
              <a:buNone/>
            </a:pPr>
            <a:r>
              <a:rPr lang="en-US" sz="1200" dirty="0">
                <a:solidFill>
                  <a:srgbClr val="6F675E"/>
                </a:solidFill>
                <a:latin typeface="Segoe UI" pitchFamily="34" charset="0"/>
                <a:ea typeface="Segoe UI" pitchFamily="34" charset="-122"/>
                <a:cs typeface="Segoe UI" pitchFamily="34" charset="-120"/>
              </a:rPr>
              <a:t>Sam · desktop</a:t>
            </a:r>
            <a:endParaRPr lang="en-US" sz="1200" dirty="0"/>
          </a:p>
        </p:txBody>
      </p:sp>
      <p:sp>
        <p:nvSpPr>
          <p:cNvPr id="19" name="Text 16"/>
          <p:cNvSpPr/>
          <p:nvPr/>
        </p:nvSpPr>
        <p:spPr>
          <a:xfrm>
            <a:off x="6400800" y="2468880"/>
            <a:ext cx="2194560" cy="731520"/>
          </a:xfrm>
          <a:prstGeom prst="rect">
            <a:avLst/>
          </a:prstGeom>
          <a:noFill/>
          <a:ln/>
        </p:spPr>
        <p:txBody>
          <a:bodyPr wrap="square" rtlCol="0" anchor="t"/>
          <a:lstStyle/>
          <a:p>
            <a:pPr marL="0" indent="0">
              <a:buNone/>
            </a:pPr>
            <a:r>
              <a:rPr lang="en-US" sz="1600" b="1" dirty="0">
                <a:solidFill>
                  <a:srgbClr val="2A2622"/>
                </a:solidFill>
                <a:latin typeface="Segoe UI" pitchFamily="34" charset="0"/>
                <a:ea typeface="Segoe UI" pitchFamily="34" charset="-122"/>
                <a:cs typeface="Segoe UI" pitchFamily="34" charset="-120"/>
              </a:rPr>
              <a:t>Sam joins with the code</a:t>
            </a:r>
            <a:endParaRPr lang="en-US" sz="1600" dirty="0"/>
          </a:p>
        </p:txBody>
      </p:sp>
      <p:sp>
        <p:nvSpPr>
          <p:cNvPr id="20" name="Shape 17"/>
          <p:cNvSpPr/>
          <p:nvPr/>
        </p:nvSpPr>
        <p:spPr>
          <a:xfrm>
            <a:off x="9006840" y="1737360"/>
            <a:ext cx="2560320" cy="1554480"/>
          </a:xfrm>
          <a:prstGeom prst="roundRect">
            <a:avLst>
              <a:gd name="adj" fmla="val 8824"/>
            </a:avLst>
          </a:prstGeom>
          <a:solidFill>
            <a:srgbClr val="F8E6DE"/>
          </a:solidFill>
          <a:ln w="12700">
            <a:solidFill>
              <a:srgbClr val="E6DCCD"/>
            </a:solidFill>
            <a:prstDash val="solid"/>
          </a:ln>
        </p:spPr>
      </p:sp>
      <p:sp>
        <p:nvSpPr>
          <p:cNvPr id="21" name="Shape 18"/>
          <p:cNvSpPr/>
          <p:nvPr/>
        </p:nvSpPr>
        <p:spPr>
          <a:xfrm>
            <a:off x="9189720" y="1920240"/>
            <a:ext cx="457200" cy="457200"/>
          </a:xfrm>
          <a:prstGeom prst="ellipse">
            <a:avLst/>
          </a:prstGeom>
          <a:solidFill>
            <a:srgbClr val="2A2622"/>
          </a:solidFill>
          <a:ln w="12700">
            <a:solidFill>
              <a:srgbClr val="2A2622"/>
            </a:solidFill>
            <a:prstDash val="solid"/>
          </a:ln>
        </p:spPr>
      </p:sp>
      <p:sp>
        <p:nvSpPr>
          <p:cNvPr id="22" name="Text 19"/>
          <p:cNvSpPr/>
          <p:nvPr/>
        </p:nvSpPr>
        <p:spPr>
          <a:xfrm>
            <a:off x="9189720" y="1920240"/>
            <a:ext cx="457200" cy="457200"/>
          </a:xfrm>
          <a:prstGeom prst="rect">
            <a:avLst/>
          </a:prstGeom>
          <a:noFill/>
          <a:ln/>
        </p:spPr>
        <p:txBody>
          <a:bodyPr wrap="square" rtlCol="0" anchor="ctr"/>
          <a:lstStyle/>
          <a:p>
            <a:pPr marL="0" indent="0" algn="ctr">
              <a:buNone/>
            </a:pPr>
            <a:r>
              <a:rPr lang="en-US" sz="1400" b="1" dirty="0">
                <a:solidFill>
                  <a:srgbClr val="FFFDF8"/>
                </a:solidFill>
                <a:latin typeface="Segoe UI" pitchFamily="34" charset="0"/>
                <a:ea typeface="Segoe UI" pitchFamily="34" charset="-122"/>
                <a:cs typeface="Segoe UI" pitchFamily="34" charset="-120"/>
              </a:rPr>
              <a:t>4</a:t>
            </a:r>
            <a:endParaRPr lang="en-US" sz="1400" dirty="0"/>
          </a:p>
        </p:txBody>
      </p:sp>
      <p:sp>
        <p:nvSpPr>
          <p:cNvPr id="23" name="Text 20"/>
          <p:cNvSpPr/>
          <p:nvPr/>
        </p:nvSpPr>
        <p:spPr>
          <a:xfrm>
            <a:off x="9738360" y="1920240"/>
            <a:ext cx="1737360" cy="457200"/>
          </a:xfrm>
          <a:prstGeom prst="rect">
            <a:avLst/>
          </a:prstGeom>
          <a:noFill/>
          <a:ln/>
        </p:spPr>
        <p:txBody>
          <a:bodyPr wrap="square" rtlCol="0" anchor="ctr"/>
          <a:lstStyle/>
          <a:p>
            <a:pPr marL="0" indent="0">
              <a:buNone/>
            </a:pPr>
            <a:r>
              <a:rPr lang="en-US" sz="1200" dirty="0">
                <a:solidFill>
                  <a:srgbClr val="6F675E"/>
                </a:solidFill>
                <a:latin typeface="Segoe UI" pitchFamily="34" charset="0"/>
                <a:ea typeface="Segoe UI" pitchFamily="34" charset="-122"/>
                <a:cs typeface="Segoe UI" pitchFamily="34" charset="-120"/>
              </a:rPr>
              <a:t>Alex · phone</a:t>
            </a:r>
            <a:endParaRPr lang="en-US" sz="1200" dirty="0"/>
          </a:p>
        </p:txBody>
      </p:sp>
      <p:sp>
        <p:nvSpPr>
          <p:cNvPr id="24" name="Text 21"/>
          <p:cNvSpPr/>
          <p:nvPr/>
        </p:nvSpPr>
        <p:spPr>
          <a:xfrm>
            <a:off x="9189720" y="2468880"/>
            <a:ext cx="2194560" cy="731520"/>
          </a:xfrm>
          <a:prstGeom prst="rect">
            <a:avLst/>
          </a:prstGeom>
          <a:noFill/>
          <a:ln/>
        </p:spPr>
        <p:txBody>
          <a:bodyPr wrap="square" rtlCol="0" anchor="t"/>
          <a:lstStyle/>
          <a:p>
            <a:pPr marL="0" indent="0">
              <a:buNone/>
            </a:pPr>
            <a:r>
              <a:rPr lang="en-US" sz="1600" b="1" dirty="0">
                <a:solidFill>
                  <a:srgbClr val="2A2622"/>
                </a:solidFill>
                <a:latin typeface="Segoe UI" pitchFamily="34" charset="0"/>
                <a:ea typeface="Segoe UI" pitchFamily="34" charset="-122"/>
                <a:cs typeface="Segoe UI" pitchFamily="34" charset="-120"/>
              </a:rPr>
              <a:t>Alex logs by voice</a:t>
            </a:r>
            <a:endParaRPr lang="en-US" sz="1600" dirty="0"/>
          </a:p>
        </p:txBody>
      </p:sp>
      <p:sp>
        <p:nvSpPr>
          <p:cNvPr id="25" name="Shape 22"/>
          <p:cNvSpPr/>
          <p:nvPr/>
        </p:nvSpPr>
        <p:spPr>
          <a:xfrm>
            <a:off x="640080" y="3520440"/>
            <a:ext cx="2560320" cy="1554480"/>
          </a:xfrm>
          <a:prstGeom prst="roundRect">
            <a:avLst>
              <a:gd name="adj" fmla="val 8824"/>
            </a:avLst>
          </a:prstGeom>
          <a:solidFill>
            <a:srgbClr val="E4EEE7"/>
          </a:solidFill>
          <a:ln w="12700">
            <a:solidFill>
              <a:srgbClr val="E6DCCD"/>
            </a:solidFill>
            <a:prstDash val="solid"/>
          </a:ln>
        </p:spPr>
      </p:sp>
      <p:sp>
        <p:nvSpPr>
          <p:cNvPr id="26" name="Shape 23"/>
          <p:cNvSpPr/>
          <p:nvPr/>
        </p:nvSpPr>
        <p:spPr>
          <a:xfrm>
            <a:off x="822960" y="3703320"/>
            <a:ext cx="457200" cy="457200"/>
          </a:xfrm>
          <a:prstGeom prst="ellipse">
            <a:avLst/>
          </a:prstGeom>
          <a:solidFill>
            <a:srgbClr val="2A2622"/>
          </a:solidFill>
          <a:ln w="12700">
            <a:solidFill>
              <a:srgbClr val="2A2622"/>
            </a:solidFill>
            <a:prstDash val="solid"/>
          </a:ln>
        </p:spPr>
      </p:sp>
      <p:sp>
        <p:nvSpPr>
          <p:cNvPr id="27" name="Text 24"/>
          <p:cNvSpPr/>
          <p:nvPr/>
        </p:nvSpPr>
        <p:spPr>
          <a:xfrm>
            <a:off x="822960" y="3703320"/>
            <a:ext cx="457200" cy="457200"/>
          </a:xfrm>
          <a:prstGeom prst="rect">
            <a:avLst/>
          </a:prstGeom>
          <a:noFill/>
          <a:ln/>
        </p:spPr>
        <p:txBody>
          <a:bodyPr wrap="square" rtlCol="0" anchor="ctr"/>
          <a:lstStyle/>
          <a:p>
            <a:pPr marL="0" indent="0" algn="ctr">
              <a:buNone/>
            </a:pPr>
            <a:r>
              <a:rPr lang="en-US" sz="1400" b="1" dirty="0">
                <a:solidFill>
                  <a:srgbClr val="FFFDF8"/>
                </a:solidFill>
                <a:latin typeface="Segoe UI" pitchFamily="34" charset="0"/>
                <a:ea typeface="Segoe UI" pitchFamily="34" charset="-122"/>
                <a:cs typeface="Segoe UI" pitchFamily="34" charset="-120"/>
              </a:rPr>
              <a:t>5</a:t>
            </a:r>
            <a:endParaRPr lang="en-US" sz="1400" dirty="0"/>
          </a:p>
        </p:txBody>
      </p:sp>
      <p:sp>
        <p:nvSpPr>
          <p:cNvPr id="28" name="Text 25"/>
          <p:cNvSpPr/>
          <p:nvPr/>
        </p:nvSpPr>
        <p:spPr>
          <a:xfrm>
            <a:off x="1371600" y="3703320"/>
            <a:ext cx="1737360" cy="457200"/>
          </a:xfrm>
          <a:prstGeom prst="rect">
            <a:avLst/>
          </a:prstGeom>
          <a:noFill/>
          <a:ln/>
        </p:spPr>
        <p:txBody>
          <a:bodyPr wrap="square" rtlCol="0" anchor="ctr"/>
          <a:lstStyle/>
          <a:p>
            <a:pPr marL="0" indent="0">
              <a:buNone/>
            </a:pPr>
            <a:r>
              <a:rPr lang="en-US" sz="1200" dirty="0">
                <a:solidFill>
                  <a:srgbClr val="6F675E"/>
                </a:solidFill>
                <a:latin typeface="Segoe UI" pitchFamily="34" charset="0"/>
                <a:ea typeface="Segoe UI" pitchFamily="34" charset="-122"/>
                <a:cs typeface="Segoe UI" pitchFamily="34" charset="-120"/>
              </a:rPr>
              <a:t>Sam · desktop</a:t>
            </a:r>
            <a:endParaRPr lang="en-US" sz="1200" dirty="0"/>
          </a:p>
        </p:txBody>
      </p:sp>
      <p:sp>
        <p:nvSpPr>
          <p:cNvPr id="29" name="Text 26"/>
          <p:cNvSpPr/>
          <p:nvPr/>
        </p:nvSpPr>
        <p:spPr>
          <a:xfrm>
            <a:off x="822960" y="4251960"/>
            <a:ext cx="2194560" cy="731520"/>
          </a:xfrm>
          <a:prstGeom prst="rect">
            <a:avLst/>
          </a:prstGeom>
          <a:noFill/>
          <a:ln/>
        </p:spPr>
        <p:txBody>
          <a:bodyPr wrap="square" rtlCol="0" anchor="t"/>
          <a:lstStyle/>
          <a:p>
            <a:pPr marL="0" indent="0">
              <a:buNone/>
            </a:pPr>
            <a:r>
              <a:rPr lang="en-US" sz="1600" b="1" dirty="0">
                <a:solidFill>
                  <a:srgbClr val="2A2622"/>
                </a:solidFill>
                <a:latin typeface="Segoe UI" pitchFamily="34" charset="0"/>
                <a:ea typeface="Segoe UI" pitchFamily="34" charset="-122"/>
                <a:cs typeface="Segoe UI" pitchFamily="34" charset="-120"/>
              </a:rPr>
              <a:t>Sam sees it live</a:t>
            </a:r>
            <a:endParaRPr lang="en-US" sz="1600" dirty="0"/>
          </a:p>
        </p:txBody>
      </p:sp>
      <p:sp>
        <p:nvSpPr>
          <p:cNvPr id="30" name="Shape 27"/>
          <p:cNvSpPr/>
          <p:nvPr/>
        </p:nvSpPr>
        <p:spPr>
          <a:xfrm>
            <a:off x="3429000" y="3520440"/>
            <a:ext cx="2560320" cy="1554480"/>
          </a:xfrm>
          <a:prstGeom prst="roundRect">
            <a:avLst>
              <a:gd name="adj" fmla="val 8824"/>
            </a:avLst>
          </a:prstGeom>
          <a:solidFill>
            <a:srgbClr val="E4EEE7"/>
          </a:solidFill>
          <a:ln w="12700">
            <a:solidFill>
              <a:srgbClr val="E6DCCD"/>
            </a:solidFill>
            <a:prstDash val="solid"/>
          </a:ln>
        </p:spPr>
      </p:sp>
      <p:sp>
        <p:nvSpPr>
          <p:cNvPr id="31" name="Shape 28"/>
          <p:cNvSpPr/>
          <p:nvPr/>
        </p:nvSpPr>
        <p:spPr>
          <a:xfrm>
            <a:off x="3611880" y="3703320"/>
            <a:ext cx="457200" cy="457200"/>
          </a:xfrm>
          <a:prstGeom prst="ellipse">
            <a:avLst/>
          </a:prstGeom>
          <a:solidFill>
            <a:srgbClr val="2A2622"/>
          </a:solidFill>
          <a:ln w="12700">
            <a:solidFill>
              <a:srgbClr val="2A2622"/>
            </a:solidFill>
            <a:prstDash val="solid"/>
          </a:ln>
        </p:spPr>
      </p:sp>
      <p:sp>
        <p:nvSpPr>
          <p:cNvPr id="32" name="Text 29"/>
          <p:cNvSpPr/>
          <p:nvPr/>
        </p:nvSpPr>
        <p:spPr>
          <a:xfrm>
            <a:off x="3611880" y="3703320"/>
            <a:ext cx="457200" cy="457200"/>
          </a:xfrm>
          <a:prstGeom prst="rect">
            <a:avLst/>
          </a:prstGeom>
          <a:noFill/>
          <a:ln/>
        </p:spPr>
        <p:txBody>
          <a:bodyPr wrap="square" rtlCol="0" anchor="ctr"/>
          <a:lstStyle/>
          <a:p>
            <a:pPr marL="0" indent="0" algn="ctr">
              <a:buNone/>
            </a:pPr>
            <a:r>
              <a:rPr lang="en-US" sz="1400" b="1" dirty="0">
                <a:solidFill>
                  <a:srgbClr val="FFFDF8"/>
                </a:solidFill>
                <a:latin typeface="Segoe UI" pitchFamily="34" charset="0"/>
                <a:ea typeface="Segoe UI" pitchFamily="34" charset="-122"/>
                <a:cs typeface="Segoe UI" pitchFamily="34" charset="-120"/>
              </a:rPr>
              <a:t>6</a:t>
            </a:r>
            <a:endParaRPr lang="en-US" sz="1400" dirty="0"/>
          </a:p>
        </p:txBody>
      </p:sp>
      <p:sp>
        <p:nvSpPr>
          <p:cNvPr id="33" name="Text 30"/>
          <p:cNvSpPr/>
          <p:nvPr/>
        </p:nvSpPr>
        <p:spPr>
          <a:xfrm>
            <a:off x="4160520" y="3703320"/>
            <a:ext cx="1737360" cy="457200"/>
          </a:xfrm>
          <a:prstGeom prst="rect">
            <a:avLst/>
          </a:prstGeom>
          <a:noFill/>
          <a:ln/>
        </p:spPr>
        <p:txBody>
          <a:bodyPr wrap="square" rtlCol="0" anchor="ctr"/>
          <a:lstStyle/>
          <a:p>
            <a:pPr marL="0" indent="0">
              <a:buNone/>
            </a:pPr>
            <a:r>
              <a:rPr lang="en-US" sz="1200" dirty="0">
                <a:solidFill>
                  <a:srgbClr val="6F675E"/>
                </a:solidFill>
                <a:latin typeface="Segoe UI" pitchFamily="34" charset="0"/>
                <a:ea typeface="Segoe UI" pitchFamily="34" charset="-122"/>
                <a:cs typeface="Segoe UI" pitchFamily="34" charset="-120"/>
              </a:rPr>
              <a:t>Sam · desktop</a:t>
            </a:r>
            <a:endParaRPr lang="en-US" sz="1200" dirty="0"/>
          </a:p>
        </p:txBody>
      </p:sp>
      <p:sp>
        <p:nvSpPr>
          <p:cNvPr id="34" name="Text 31"/>
          <p:cNvSpPr/>
          <p:nvPr/>
        </p:nvSpPr>
        <p:spPr>
          <a:xfrm>
            <a:off x="3611880" y="4251960"/>
            <a:ext cx="2194560" cy="731520"/>
          </a:xfrm>
          <a:prstGeom prst="rect">
            <a:avLst/>
          </a:prstGeom>
          <a:noFill/>
          <a:ln/>
        </p:spPr>
        <p:txBody>
          <a:bodyPr wrap="square" rtlCol="0" anchor="t"/>
          <a:lstStyle/>
          <a:p>
            <a:pPr marL="0" indent="0">
              <a:buNone/>
            </a:pPr>
            <a:r>
              <a:rPr lang="en-US" sz="1600" b="1" dirty="0">
                <a:solidFill>
                  <a:srgbClr val="2A2622"/>
                </a:solidFill>
                <a:latin typeface="Segoe UI" pitchFamily="34" charset="0"/>
                <a:ea typeface="Segoe UI" pitchFamily="34" charset="-122"/>
                <a:cs typeface="Segoe UI" pitchFamily="34" charset="-120"/>
              </a:rPr>
              <a:t>Sam edits and deletes</a:t>
            </a:r>
            <a:endParaRPr lang="en-US" sz="1600" dirty="0"/>
          </a:p>
        </p:txBody>
      </p:sp>
      <p:sp>
        <p:nvSpPr>
          <p:cNvPr id="35" name="Shape 32"/>
          <p:cNvSpPr/>
          <p:nvPr/>
        </p:nvSpPr>
        <p:spPr>
          <a:xfrm>
            <a:off x="6217920" y="3520440"/>
            <a:ext cx="2560320" cy="1554480"/>
          </a:xfrm>
          <a:prstGeom prst="roundRect">
            <a:avLst>
              <a:gd name="adj" fmla="val 8824"/>
            </a:avLst>
          </a:prstGeom>
          <a:solidFill>
            <a:srgbClr val="F8E6DE"/>
          </a:solidFill>
          <a:ln w="12700">
            <a:solidFill>
              <a:srgbClr val="E6DCCD"/>
            </a:solidFill>
            <a:prstDash val="solid"/>
          </a:ln>
        </p:spPr>
      </p:sp>
      <p:sp>
        <p:nvSpPr>
          <p:cNvPr id="36" name="Shape 33"/>
          <p:cNvSpPr/>
          <p:nvPr/>
        </p:nvSpPr>
        <p:spPr>
          <a:xfrm>
            <a:off x="6400800" y="3703320"/>
            <a:ext cx="457200" cy="457200"/>
          </a:xfrm>
          <a:prstGeom prst="ellipse">
            <a:avLst/>
          </a:prstGeom>
          <a:solidFill>
            <a:srgbClr val="2A2622"/>
          </a:solidFill>
          <a:ln w="12700">
            <a:solidFill>
              <a:srgbClr val="2A2622"/>
            </a:solidFill>
            <a:prstDash val="solid"/>
          </a:ln>
        </p:spPr>
      </p:sp>
      <p:sp>
        <p:nvSpPr>
          <p:cNvPr id="37" name="Text 34"/>
          <p:cNvSpPr/>
          <p:nvPr/>
        </p:nvSpPr>
        <p:spPr>
          <a:xfrm>
            <a:off x="6400800" y="3703320"/>
            <a:ext cx="457200" cy="457200"/>
          </a:xfrm>
          <a:prstGeom prst="rect">
            <a:avLst/>
          </a:prstGeom>
          <a:noFill/>
          <a:ln/>
        </p:spPr>
        <p:txBody>
          <a:bodyPr wrap="square" rtlCol="0" anchor="ctr"/>
          <a:lstStyle/>
          <a:p>
            <a:pPr marL="0" indent="0" algn="ctr">
              <a:buNone/>
            </a:pPr>
            <a:r>
              <a:rPr lang="en-US" sz="1400" b="1" dirty="0">
                <a:solidFill>
                  <a:srgbClr val="FFFDF8"/>
                </a:solidFill>
                <a:latin typeface="Segoe UI" pitchFamily="34" charset="0"/>
                <a:ea typeface="Segoe UI" pitchFamily="34" charset="-122"/>
                <a:cs typeface="Segoe UI" pitchFamily="34" charset="-120"/>
              </a:rPr>
              <a:t>7</a:t>
            </a:r>
            <a:endParaRPr lang="en-US" sz="1400" dirty="0"/>
          </a:p>
        </p:txBody>
      </p:sp>
      <p:sp>
        <p:nvSpPr>
          <p:cNvPr id="38" name="Text 35"/>
          <p:cNvSpPr/>
          <p:nvPr/>
        </p:nvSpPr>
        <p:spPr>
          <a:xfrm>
            <a:off x="6949440" y="3703320"/>
            <a:ext cx="1737360" cy="457200"/>
          </a:xfrm>
          <a:prstGeom prst="rect">
            <a:avLst/>
          </a:prstGeom>
          <a:noFill/>
          <a:ln/>
        </p:spPr>
        <p:txBody>
          <a:bodyPr wrap="square" rtlCol="0" anchor="ctr"/>
          <a:lstStyle/>
          <a:p>
            <a:pPr marL="0" indent="0">
              <a:buNone/>
            </a:pPr>
            <a:r>
              <a:rPr lang="en-US" sz="1200" dirty="0">
                <a:solidFill>
                  <a:srgbClr val="6F675E"/>
                </a:solidFill>
                <a:latin typeface="Segoe UI" pitchFamily="34" charset="0"/>
                <a:ea typeface="Segoe UI" pitchFamily="34" charset="-122"/>
                <a:cs typeface="Segoe UI" pitchFamily="34" charset="-120"/>
              </a:rPr>
              <a:t>Alex · phone</a:t>
            </a:r>
            <a:endParaRPr lang="en-US" sz="1200" dirty="0"/>
          </a:p>
        </p:txBody>
      </p:sp>
      <p:sp>
        <p:nvSpPr>
          <p:cNvPr id="39" name="Text 36"/>
          <p:cNvSpPr/>
          <p:nvPr/>
        </p:nvSpPr>
        <p:spPr>
          <a:xfrm>
            <a:off x="6400800" y="4251960"/>
            <a:ext cx="2194560" cy="731520"/>
          </a:xfrm>
          <a:prstGeom prst="rect">
            <a:avLst/>
          </a:prstGeom>
          <a:noFill/>
          <a:ln/>
        </p:spPr>
        <p:txBody>
          <a:bodyPr wrap="square" rtlCol="0" anchor="t"/>
          <a:lstStyle/>
          <a:p>
            <a:pPr marL="0" indent="0">
              <a:buNone/>
            </a:pPr>
            <a:r>
              <a:rPr lang="en-US" sz="1600" b="1" dirty="0">
                <a:solidFill>
                  <a:srgbClr val="2A2622"/>
                </a:solidFill>
                <a:latin typeface="Segoe UI" pitchFamily="34" charset="0"/>
                <a:ea typeface="Segoe UI" pitchFamily="34" charset="-122"/>
                <a:cs typeface="Segoe UI" pitchFamily="34" charset="-120"/>
              </a:rPr>
              <a:t>Alex sees changes live</a:t>
            </a:r>
            <a:endParaRPr lang="en-US" sz="1600" dirty="0"/>
          </a:p>
        </p:txBody>
      </p:sp>
      <p:sp>
        <p:nvSpPr>
          <p:cNvPr id="40" name="Shape 37"/>
          <p:cNvSpPr/>
          <p:nvPr/>
        </p:nvSpPr>
        <p:spPr>
          <a:xfrm>
            <a:off x="9006840" y="3520440"/>
            <a:ext cx="2560320" cy="1554480"/>
          </a:xfrm>
          <a:prstGeom prst="roundRect">
            <a:avLst>
              <a:gd name="adj" fmla="val 8824"/>
            </a:avLst>
          </a:prstGeom>
          <a:solidFill>
            <a:srgbClr val="F8E6DE"/>
          </a:solidFill>
          <a:ln w="12700">
            <a:solidFill>
              <a:srgbClr val="E6DCCD"/>
            </a:solidFill>
            <a:prstDash val="solid"/>
          </a:ln>
        </p:spPr>
      </p:sp>
      <p:sp>
        <p:nvSpPr>
          <p:cNvPr id="41" name="Shape 38"/>
          <p:cNvSpPr/>
          <p:nvPr/>
        </p:nvSpPr>
        <p:spPr>
          <a:xfrm>
            <a:off x="9189720" y="3703320"/>
            <a:ext cx="457200" cy="457200"/>
          </a:xfrm>
          <a:prstGeom prst="ellipse">
            <a:avLst/>
          </a:prstGeom>
          <a:solidFill>
            <a:srgbClr val="2A2622"/>
          </a:solidFill>
          <a:ln w="12700">
            <a:solidFill>
              <a:srgbClr val="2A2622"/>
            </a:solidFill>
            <a:prstDash val="solid"/>
          </a:ln>
        </p:spPr>
      </p:sp>
      <p:sp>
        <p:nvSpPr>
          <p:cNvPr id="42" name="Text 39"/>
          <p:cNvSpPr/>
          <p:nvPr/>
        </p:nvSpPr>
        <p:spPr>
          <a:xfrm>
            <a:off x="9189720" y="3703320"/>
            <a:ext cx="457200" cy="457200"/>
          </a:xfrm>
          <a:prstGeom prst="rect">
            <a:avLst/>
          </a:prstGeom>
          <a:noFill/>
          <a:ln/>
        </p:spPr>
        <p:txBody>
          <a:bodyPr wrap="square" rtlCol="0" anchor="ctr"/>
          <a:lstStyle/>
          <a:p>
            <a:pPr marL="0" indent="0" algn="ctr">
              <a:buNone/>
            </a:pPr>
            <a:r>
              <a:rPr lang="en-US" sz="1400" b="1" dirty="0">
                <a:solidFill>
                  <a:srgbClr val="FFFDF8"/>
                </a:solidFill>
                <a:latin typeface="Segoe UI" pitchFamily="34" charset="0"/>
                <a:ea typeface="Segoe UI" pitchFamily="34" charset="-122"/>
                <a:cs typeface="Segoe UI" pitchFamily="34" charset="-120"/>
              </a:rPr>
              <a:t>8</a:t>
            </a:r>
            <a:endParaRPr lang="en-US" sz="1400" dirty="0"/>
          </a:p>
        </p:txBody>
      </p:sp>
      <p:sp>
        <p:nvSpPr>
          <p:cNvPr id="43" name="Text 40"/>
          <p:cNvSpPr/>
          <p:nvPr/>
        </p:nvSpPr>
        <p:spPr>
          <a:xfrm>
            <a:off x="9738360" y="3703320"/>
            <a:ext cx="1737360" cy="457200"/>
          </a:xfrm>
          <a:prstGeom prst="rect">
            <a:avLst/>
          </a:prstGeom>
          <a:noFill/>
          <a:ln/>
        </p:spPr>
        <p:txBody>
          <a:bodyPr wrap="square" rtlCol="0" anchor="ctr"/>
          <a:lstStyle/>
          <a:p>
            <a:pPr marL="0" indent="0">
              <a:buNone/>
            </a:pPr>
            <a:r>
              <a:rPr lang="en-US" sz="1200" dirty="0">
                <a:solidFill>
                  <a:srgbClr val="6F675E"/>
                </a:solidFill>
                <a:latin typeface="Segoe UI" pitchFamily="34" charset="0"/>
                <a:ea typeface="Segoe UI" pitchFamily="34" charset="-122"/>
                <a:cs typeface="Segoe UI" pitchFamily="34" charset="-120"/>
              </a:rPr>
              <a:t>Alex · phone</a:t>
            </a:r>
            <a:endParaRPr lang="en-US" sz="1200" dirty="0"/>
          </a:p>
        </p:txBody>
      </p:sp>
      <p:sp>
        <p:nvSpPr>
          <p:cNvPr id="44" name="Text 41"/>
          <p:cNvSpPr/>
          <p:nvPr/>
        </p:nvSpPr>
        <p:spPr>
          <a:xfrm>
            <a:off x="9189720" y="4251960"/>
            <a:ext cx="2194560" cy="731520"/>
          </a:xfrm>
          <a:prstGeom prst="rect">
            <a:avLst/>
          </a:prstGeom>
          <a:noFill/>
          <a:ln/>
        </p:spPr>
        <p:txBody>
          <a:bodyPr wrap="square" rtlCol="0" anchor="t"/>
          <a:lstStyle/>
          <a:p>
            <a:pPr marL="0" indent="0">
              <a:buNone/>
            </a:pPr>
            <a:r>
              <a:rPr lang="en-US" sz="1600" b="1" dirty="0">
                <a:solidFill>
                  <a:srgbClr val="2A2622"/>
                </a:solidFill>
                <a:latin typeface="Segoe UI" pitchFamily="34" charset="0"/>
                <a:ea typeface="Segoe UI" pitchFamily="34" charset="-122"/>
                <a:cs typeface="Segoe UI" pitchFamily="34" charset="-120"/>
              </a:rPr>
              <a:t>Alex goes offline, logs, reconnects</a:t>
            </a:r>
            <a:endParaRPr lang="en-US" sz="1600" dirty="0"/>
          </a:p>
        </p:txBody>
      </p:sp>
      <p:sp>
        <p:nvSpPr>
          <p:cNvPr id="45" name="Text 42"/>
          <p:cNvSpPr/>
          <p:nvPr/>
        </p:nvSpPr>
        <p:spPr>
          <a:xfrm>
            <a:off x="640080" y="5440680"/>
            <a:ext cx="10881360" cy="457200"/>
          </a:xfrm>
          <a:prstGeom prst="rect">
            <a:avLst/>
          </a:prstGeom>
          <a:noFill/>
          <a:ln/>
        </p:spPr>
        <p:txBody>
          <a:bodyPr wrap="square" rtlCol="0" anchor="ctr"/>
          <a:lstStyle/>
          <a:p>
            <a:pPr marL="0" indent="0">
              <a:buNone/>
            </a:pPr>
            <a:r>
              <a:rPr lang="en-US" sz="1600" b="1" dirty="0">
                <a:solidFill>
                  <a:srgbClr val="4F6F5C"/>
                </a:solidFill>
                <a:latin typeface="Segoe UI" pitchFamily="34" charset="0"/>
                <a:ea typeface="Segoe UI" pitchFamily="34" charset="-122"/>
                <a:cs typeface="Segoe UI" pitchFamily="34" charset="-120"/>
              </a:rPr>
              <a:t>Every step is checked automatically, </a:t>
            </a:r>
            <a:r>
              <a:rPr lang="en-US" sz="1600" dirty="0">
                <a:solidFill>
                  <a:srgbClr val="2A2622"/>
                </a:solidFill>
                <a:latin typeface="Segoe UI" pitchFamily="34" charset="0"/>
                <a:ea typeface="Segoe UI" pitchFamily="34" charset="-122"/>
                <a:cs typeface="Segoe UI" pitchFamily="34" charset="-120"/>
              </a:rPr>
              <a:t>including that the other person's screen updates without a refresh.</a:t>
            </a:r>
            <a:endParaRPr lang="en-US" sz="1600" dirty="0"/>
          </a:p>
        </p:txBody>
      </p:sp>
      <p:sp>
        <p:nvSpPr>
          <p:cNvPr id="4"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10</a:t>
            </a:fld>
            <a:endParaRPr lang="en-US"/>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RESULTS</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115 of 115 checks passed</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5349240" cy="914400"/>
        </p:xfrm>
        <a:graphic>
          <a:graphicData uri="http://schemas.openxmlformats.org/drawingml/2006/table">
            <a:tbl>
              <a:tblPr/>
              <a:tblGrid>
                <a:gridCol w="3520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DF8"/>
                          </a:solidFill>
                          <a:latin typeface="Segoe UI" pitchFamily="34" charset="0"/>
                          <a:ea typeface="Segoe UI" pitchFamily="34" charset="-122"/>
                          <a:cs typeface="Segoe UI" pitchFamily="34" charset="-120"/>
                        </a:rPr>
                        <a:t>Unit + end-to-end</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2A2622"/>
                    </a:solidFill>
                  </a:tcPr>
                </a:tc>
                <a:tc>
                  <a:txBody>
                    <a:bodyPr/>
                    <a:lstStyle/>
                    <a:p>
                      <a:pPr marL="0" indent="0">
                        <a:buNone/>
                      </a:pPr>
                      <a:r>
                        <a:rPr lang="en-US" sz="1200" b="1" dirty="0">
                          <a:solidFill>
                            <a:srgbClr val="FFFDF8"/>
                          </a:solidFill>
                          <a:latin typeface="Segoe UI" pitchFamily="34" charset="0"/>
                          <a:ea typeface="Segoe UI" pitchFamily="34" charset="-122"/>
                          <a:cs typeface="Segoe UI" pitchFamily="34" charset="-120"/>
                        </a:rPr>
                        <a:t>Checks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2A2622"/>
                    </a:solidFill>
                  </a:tcPr>
                </a:tc>
                <a:tc>
                  <a:txBody>
                    <a:bodyPr/>
                    <a:lstStyle/>
                    <a:p>
                      <a:pPr marL="0" indent="0">
                        <a:buNone/>
                      </a:pPr>
                      <a:r>
                        <a:rPr lang="en-US" sz="1200" b="1" dirty="0">
                          <a:solidFill>
                            <a:srgbClr val="FFFDF8"/>
                          </a:solidFill>
                          <a:latin typeface="Segoe UI" pitchFamily="34" charset="0"/>
                          <a:ea typeface="Segoe UI" pitchFamily="34" charset="-122"/>
                          <a:cs typeface="Segoe UI" pitchFamily="34" charset="-120"/>
                        </a:rPr>
                        <a:t>Result</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2A2622"/>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Sentence understanding (unit)</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11</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Accounts and sign-in</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10</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2"/>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Households and invites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9</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Logging by voice and text</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13</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4"/>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Edit and delete</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6</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Summary, settings, export</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12</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6"/>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Android app reaching the server</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3</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7"/>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Installable web app files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11</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8"/>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Android project setup</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8</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9"/>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Server health</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1</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10"/>
                  </a:ext>
                </a:extLst>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17920" y="1600200"/>
          <a:ext cx="5349240" cy="914400"/>
        </p:xfrm>
        <a:graphic>
          <a:graphicData uri="http://schemas.openxmlformats.org/drawingml/2006/table">
            <a:tbl>
              <a:tblPr/>
              <a:tblGrid>
                <a:gridCol w="3520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DF8"/>
                          </a:solidFill>
                          <a:latin typeface="Segoe UI" pitchFamily="34" charset="0"/>
                          <a:ea typeface="Segoe UI" pitchFamily="34" charset="-122"/>
                          <a:cs typeface="Segoe UI" pitchFamily="34" charset="-120"/>
                        </a:rPr>
                        <a:t>Real browser (Edge)</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2A2622"/>
                    </a:solidFill>
                  </a:tcPr>
                </a:tc>
                <a:tc>
                  <a:txBody>
                    <a:bodyPr/>
                    <a:lstStyle/>
                    <a:p>
                      <a:pPr marL="0" indent="0">
                        <a:buNone/>
                      </a:pPr>
                      <a:r>
                        <a:rPr lang="en-US" sz="1200" b="1" dirty="0">
                          <a:solidFill>
                            <a:srgbClr val="FFFDF8"/>
                          </a:solidFill>
                          <a:latin typeface="Segoe UI" pitchFamily="34" charset="0"/>
                          <a:ea typeface="Segoe UI" pitchFamily="34" charset="-122"/>
                          <a:cs typeface="Segoe UI" pitchFamily="34" charset="-120"/>
                        </a:rPr>
                        <a:t>Checks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2A2622"/>
                    </a:solidFill>
                  </a:tcPr>
                </a:tc>
                <a:tc>
                  <a:txBody>
                    <a:bodyPr/>
                    <a:lstStyle/>
                    <a:p>
                      <a:pPr marL="0" indent="0">
                        <a:buNone/>
                      </a:pPr>
                      <a:r>
                        <a:rPr lang="en-US" sz="1200" b="1" dirty="0">
                          <a:solidFill>
                            <a:srgbClr val="FFFDF8"/>
                          </a:solidFill>
                          <a:latin typeface="Segoe UI" pitchFamily="34" charset="0"/>
                          <a:ea typeface="Segoe UI" pitchFamily="34" charset="-122"/>
                          <a:cs typeface="Segoe UI" pitchFamily="34" charset="-120"/>
                        </a:rPr>
                        <a:t>Result</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2A2622"/>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Layout and installability</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6</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Signup and joining</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5</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2"/>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Voice and text with live sync</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7</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Edit and delete with live sync</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3</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4"/>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Summary and settings screens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4</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Offline behavior</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4</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6"/>
                  </a:ext>
                </a:extLst>
              </a:tr>
              <a:tr h="329184">
                <a:tc>
                  <a:txBody>
                    <a:bodyPr/>
                    <a:lstStyle/>
                    <a:p>
                      <a:pPr marL="0" indent="0">
                        <a:buNone/>
                      </a:pPr>
                      <a:r>
                        <a:rPr lang="en-US" sz="1200" dirty="0">
                          <a:solidFill>
                            <a:srgbClr val="2A2622"/>
                          </a:solidFill>
                          <a:latin typeface="Segoe UI" pitchFamily="34" charset="0"/>
                          <a:ea typeface="Segoe UI" pitchFamily="34" charset="-122"/>
                          <a:cs typeface="Segoe UI" pitchFamily="34" charset="-120"/>
                        </a:rPr>
                        <a:t>Session and no JavaScript errors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dirty="0">
                          <a:solidFill>
                            <a:srgbClr val="2A2622"/>
                          </a:solidFill>
                          <a:latin typeface="Segoe UI" pitchFamily="34" charset="0"/>
                          <a:ea typeface="Segoe UI" pitchFamily="34" charset="-122"/>
                          <a:cs typeface="Segoe UI" pitchFamily="34" charset="-120"/>
                        </a:rPr>
                        <a:t>2</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lgn="ctr">
                        <a:buNone/>
                      </a:pPr>
                      <a:r>
                        <a:rPr lang="en-US" sz="1200" b="1" dirty="0">
                          <a:solidFill>
                            <a:srgbClr val="4F6F5C"/>
                          </a:solidFill>
                          <a:latin typeface="Segoe UI" pitchFamily="34" charset="0"/>
                          <a:ea typeface="Segoe UI" pitchFamily="34" charset="-122"/>
                          <a:cs typeface="Segoe UI" pitchFamily="34" charset="-120"/>
                        </a:rPr>
                        <a:t>Pass</a:t>
                      </a:r>
                      <a:endParaRPr lang="en-US" sz="12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7"/>
                  </a:ext>
                </a:extLst>
              </a:tr>
            </a:tbl>
          </a:graphicData>
        </a:graphic>
      </p:graphicFrame>
      <p:sp>
        <p:nvSpPr>
          <p:cNvPr id="7" name="Shape 2"/>
          <p:cNvSpPr/>
          <p:nvPr/>
        </p:nvSpPr>
        <p:spPr>
          <a:xfrm>
            <a:off x="6217920" y="4572000"/>
            <a:ext cx="5349240" cy="1234440"/>
          </a:xfrm>
          <a:prstGeom prst="roundRect">
            <a:avLst>
              <a:gd name="adj" fmla="val 11111"/>
            </a:avLst>
          </a:prstGeom>
          <a:solidFill>
            <a:srgbClr val="E4EEE7"/>
          </a:solidFill>
          <a:ln w="12700">
            <a:solidFill>
              <a:srgbClr val="E6DCCD"/>
            </a:solidFill>
            <a:prstDash val="solid"/>
          </a:ln>
        </p:spPr>
      </p:sp>
      <p:sp>
        <p:nvSpPr>
          <p:cNvPr id="8" name="Text 3"/>
          <p:cNvSpPr/>
          <p:nvPr/>
        </p:nvSpPr>
        <p:spPr>
          <a:xfrm>
            <a:off x="6217920" y="4572000"/>
            <a:ext cx="5349240" cy="1234440"/>
          </a:xfrm>
          <a:prstGeom prst="rect">
            <a:avLst/>
          </a:prstGeom>
          <a:noFill/>
          <a:ln/>
        </p:spPr>
        <p:txBody>
          <a:bodyPr wrap="square" rtlCol="0" anchor="ctr"/>
          <a:lstStyle/>
          <a:p>
            <a:pPr marL="0" indent="0" algn="ctr">
              <a:buNone/>
            </a:pPr>
            <a:r>
              <a:rPr lang="en-US" sz="2200" b="1" dirty="0">
                <a:solidFill>
                  <a:srgbClr val="4F6F5C"/>
                </a:solidFill>
                <a:latin typeface="Georgia" pitchFamily="34" charset="0"/>
                <a:ea typeface="Georgia" pitchFamily="34" charset="-122"/>
                <a:cs typeface="Georgia" pitchFamily="34" charset="-120"/>
              </a:rPr>
              <a:t>115 passed · 0 failed</a:t>
            </a:r>
            <a:endParaRPr lang="en-US" sz="2200" dirty="0"/>
          </a:p>
          <a:p>
            <a:pPr marL="0" indent="0" algn="ctr">
              <a:buNone/>
            </a:pPr>
            <a:r>
              <a:rPr lang="en-US" sz="1300" dirty="0">
                <a:solidFill>
                  <a:srgbClr val="6F675E"/>
                </a:solidFill>
                <a:latin typeface="Segoe UI" pitchFamily="34" charset="0"/>
                <a:ea typeface="Segoe UI" pitchFamily="34" charset="-122"/>
                <a:cs typeface="Segoe UI" pitchFamily="34" charset="-120"/>
              </a:rPr>
              <a:t>11 unit · 73 end-to-end · 31 browser</a:t>
            </a:r>
            <a:endParaRPr lang="en-US" sz="2200" dirty="0"/>
          </a:p>
        </p:txBody>
      </p:sp>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11</a:t>
            </a:fld>
            <a:endParaRPr lang="en-US"/>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WHY TEST?</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Testing found 4 real bugs, all fixed</a:t>
            </a:r>
            <a:endParaRPr lang="en-US" sz="3200" dirty="0"/>
          </a:p>
        </p:txBody>
      </p:sp>
      <p:sp>
        <p:nvSpPr>
          <p:cNvPr id="5" name="Shape 2"/>
          <p:cNvSpPr/>
          <p:nvPr/>
        </p:nvSpPr>
        <p:spPr>
          <a:xfrm>
            <a:off x="640080" y="1645920"/>
            <a:ext cx="5303520" cy="2103120"/>
          </a:xfrm>
          <a:prstGeom prst="roundRect">
            <a:avLst>
              <a:gd name="adj" fmla="val 6522"/>
            </a:avLst>
          </a:prstGeom>
          <a:solidFill>
            <a:srgbClr val="FFFDF8"/>
          </a:solidFill>
          <a:ln w="12700">
            <a:solidFill>
              <a:srgbClr val="E6DCCD"/>
            </a:solidFill>
            <a:prstDash val="solid"/>
          </a:ln>
        </p:spPr>
      </p:sp>
      <p:sp>
        <p:nvSpPr>
          <p:cNvPr id="6" name="Text 3"/>
          <p:cNvSpPr/>
          <p:nvPr/>
        </p:nvSpPr>
        <p:spPr>
          <a:xfrm>
            <a:off x="868680" y="1783080"/>
            <a:ext cx="4846320" cy="1828800"/>
          </a:xfrm>
          <a:prstGeom prst="rect">
            <a:avLst/>
          </a:prstGeom>
          <a:noFill/>
          <a:ln/>
        </p:spPr>
        <p:txBody>
          <a:bodyPr wrap="square" rtlCol="0" anchor="t"/>
          <a:lstStyle/>
          <a:p>
            <a:pPr marL="0" indent="0">
              <a:buNone/>
            </a:pPr>
            <a:r>
              <a:rPr lang="en-US" sz="1800" b="1" dirty="0">
                <a:solidFill>
                  <a:srgbClr val="2A2622"/>
                </a:solidFill>
                <a:latin typeface="Segoe UI" pitchFamily="34" charset="0"/>
                <a:ea typeface="Segoe UI" pitchFamily="34" charset="-122"/>
                <a:cs typeface="Segoe UI" pitchFamily="34" charset="-120"/>
              </a:rPr>
              <a:t>Removing a caregiver crashed the server</a:t>
            </a:r>
            <a:endParaRPr lang="en-US" sz="1800" dirty="0"/>
          </a:p>
          <a:p>
            <a:pPr marL="0" indent="0">
              <a:buNone/>
            </a:pPr>
            <a:r>
              <a:rPr lang="en-US" sz="1400" dirty="0">
                <a:solidFill>
                  <a:srgbClr val="6F675E"/>
                </a:solidFill>
                <a:latin typeface="Segoe UI" pitchFamily="34" charset="0"/>
                <a:ea typeface="Segoe UI" pitchFamily="34" charset="-122"/>
                <a:cs typeface="Segoe UI" pitchFamily="34" charset="-120"/>
              </a:rPr>
              <a:t>Failed for anyone who had logged an entry.</a:t>
            </a:r>
            <a:endParaRPr lang="en-US" sz="1800" dirty="0"/>
          </a:p>
          <a:p>
            <a:pPr marL="0" indent="0">
              <a:buNone/>
            </a:pPr>
            <a:r>
              <a:rPr lang="en-US" sz="800" dirty="0">
                <a:solidFill>
                  <a:srgbClr val="000000"/>
                </a:solidFill>
                <a:latin typeface="Segoe UI" pitchFamily="34" charset="0"/>
                <a:ea typeface="Segoe UI" pitchFamily="34" charset="-122"/>
                <a:cs typeface="Segoe UI" pitchFamily="34" charset="-120"/>
              </a:rPr>
              <a:t> </a:t>
            </a:r>
            <a:endParaRPr lang="en-US" sz="1800" dirty="0"/>
          </a:p>
          <a:p>
            <a:pPr marL="0" indent="0">
              <a:buNone/>
            </a:pPr>
            <a:r>
              <a:rPr lang="en-US" sz="1400" b="1" dirty="0">
                <a:solidFill>
                  <a:srgbClr val="C46A4A"/>
                </a:solidFill>
                <a:latin typeface="Segoe UI" pitchFamily="34" charset="0"/>
                <a:ea typeface="Segoe UI" pitchFamily="34" charset="-122"/>
                <a:cs typeface="Segoe UI" pitchFamily="34" charset="-120"/>
              </a:rPr>
              <a:t>Found by: </a:t>
            </a:r>
            <a:r>
              <a:rPr lang="en-US" sz="1400" dirty="0">
                <a:solidFill>
                  <a:srgbClr val="2A2622"/>
                </a:solidFill>
                <a:latin typeface="Segoe UI" pitchFamily="34" charset="0"/>
                <a:ea typeface="Segoe UI" pitchFamily="34" charset="-122"/>
                <a:cs typeface="Segoe UI" pitchFamily="34" charset="-120"/>
              </a:rPr>
              <a:t>End-to-end test</a:t>
            </a:r>
            <a:endParaRPr lang="en-US" sz="1800" dirty="0"/>
          </a:p>
          <a:p>
            <a:pPr marL="0" indent="0">
              <a:buNone/>
            </a:pPr>
            <a:r>
              <a:rPr lang="en-US" sz="1400" b="1" dirty="0">
                <a:solidFill>
                  <a:srgbClr val="4F6F5C"/>
                </a:solidFill>
                <a:latin typeface="Segoe UI" pitchFamily="34" charset="0"/>
                <a:ea typeface="Segoe UI" pitchFamily="34" charset="-122"/>
                <a:cs typeface="Segoe UI" pitchFamily="34" charset="-120"/>
              </a:rPr>
              <a:t>Fix: </a:t>
            </a:r>
            <a:r>
              <a:rPr lang="en-US" sz="1400" dirty="0">
                <a:solidFill>
                  <a:srgbClr val="2A2622"/>
                </a:solidFill>
                <a:latin typeface="Segoe UI" pitchFamily="34" charset="0"/>
                <a:ea typeface="Segoe UI" pitchFamily="34" charset="-122"/>
                <a:cs typeface="Segoe UI" pitchFamily="34" charset="-120"/>
              </a:rPr>
              <a:t>Removal now revokes access but keeps their history; they can rejoin.</a:t>
            </a:r>
            <a:endParaRPr lang="en-US" sz="1800" dirty="0"/>
          </a:p>
        </p:txBody>
      </p:sp>
      <p:sp>
        <p:nvSpPr>
          <p:cNvPr id="7" name="Shape 4"/>
          <p:cNvSpPr/>
          <p:nvPr/>
        </p:nvSpPr>
        <p:spPr>
          <a:xfrm>
            <a:off x="6172200" y="1645920"/>
            <a:ext cx="5303520" cy="2103120"/>
          </a:xfrm>
          <a:prstGeom prst="roundRect">
            <a:avLst>
              <a:gd name="adj" fmla="val 6522"/>
            </a:avLst>
          </a:prstGeom>
          <a:solidFill>
            <a:srgbClr val="FFFDF8"/>
          </a:solidFill>
          <a:ln w="12700">
            <a:solidFill>
              <a:srgbClr val="E6DCCD"/>
            </a:solidFill>
            <a:prstDash val="solid"/>
          </a:ln>
        </p:spPr>
      </p:sp>
      <p:sp>
        <p:nvSpPr>
          <p:cNvPr id="8" name="Text 5"/>
          <p:cNvSpPr/>
          <p:nvPr/>
        </p:nvSpPr>
        <p:spPr>
          <a:xfrm>
            <a:off x="6400800" y="1783080"/>
            <a:ext cx="4846320" cy="1828800"/>
          </a:xfrm>
          <a:prstGeom prst="rect">
            <a:avLst/>
          </a:prstGeom>
          <a:noFill/>
          <a:ln/>
        </p:spPr>
        <p:txBody>
          <a:bodyPr wrap="square" rtlCol="0" anchor="t"/>
          <a:lstStyle/>
          <a:p>
            <a:pPr marL="0" indent="0">
              <a:buNone/>
            </a:pPr>
            <a:r>
              <a:rPr lang="en-US" sz="1800" b="1" dirty="0">
                <a:solidFill>
                  <a:srgbClr val="2A2622"/>
                </a:solidFill>
                <a:latin typeface="Segoe UI" pitchFamily="34" charset="0"/>
                <a:ea typeface="Segoe UI" pitchFamily="34" charset="-122"/>
                <a:cs typeface="Segoe UI" pitchFamily="34" charset="-120"/>
              </a:rPr>
              <a:t>"She had 4 ounces" wasn't logged</a:t>
            </a:r>
            <a:endParaRPr lang="en-US" sz="1800" dirty="0"/>
          </a:p>
          <a:p>
            <a:pPr marL="0" indent="0">
              <a:buNone/>
            </a:pPr>
            <a:r>
              <a:rPr lang="en-US" sz="1400" dirty="0">
                <a:solidFill>
                  <a:srgbClr val="6F675E"/>
                </a:solidFill>
                <a:latin typeface="Segoe UI" pitchFamily="34" charset="0"/>
                <a:ea typeface="Segoe UI" pitchFamily="34" charset="-122"/>
                <a:cs typeface="Segoe UI" pitchFamily="34" charset="-120"/>
              </a:rPr>
              <a:t>The parser knew "ounce" but not "ounces" or "drank".</a:t>
            </a:r>
            <a:endParaRPr lang="en-US" sz="1800" dirty="0"/>
          </a:p>
          <a:p>
            <a:pPr marL="0" indent="0">
              <a:buNone/>
            </a:pPr>
            <a:r>
              <a:rPr lang="en-US" sz="800" dirty="0">
                <a:solidFill>
                  <a:srgbClr val="000000"/>
                </a:solidFill>
                <a:latin typeface="Segoe UI" pitchFamily="34" charset="0"/>
                <a:ea typeface="Segoe UI" pitchFamily="34" charset="-122"/>
                <a:cs typeface="Segoe UI" pitchFamily="34" charset="-120"/>
              </a:rPr>
              <a:t> </a:t>
            </a:r>
            <a:endParaRPr lang="en-US" sz="1800" dirty="0"/>
          </a:p>
          <a:p>
            <a:pPr marL="0" indent="0">
              <a:buNone/>
            </a:pPr>
            <a:r>
              <a:rPr lang="en-US" sz="1400" b="1" dirty="0">
                <a:solidFill>
                  <a:srgbClr val="C46A4A"/>
                </a:solidFill>
                <a:latin typeface="Segoe UI" pitchFamily="34" charset="0"/>
                <a:ea typeface="Segoe UI" pitchFamily="34" charset="-122"/>
                <a:cs typeface="Segoe UI" pitchFamily="34" charset="-120"/>
              </a:rPr>
              <a:t>Found by: </a:t>
            </a:r>
            <a:r>
              <a:rPr lang="en-US" sz="1400" dirty="0">
                <a:solidFill>
                  <a:srgbClr val="2A2622"/>
                </a:solidFill>
                <a:latin typeface="Segoe UI" pitchFamily="34" charset="0"/>
                <a:ea typeface="Segoe UI" pitchFamily="34" charset="-122"/>
                <a:cs typeface="Segoe UI" pitchFamily="34" charset="-120"/>
              </a:rPr>
              <a:t>End-to-end test</a:t>
            </a:r>
            <a:endParaRPr lang="en-US" sz="1800" dirty="0"/>
          </a:p>
          <a:p>
            <a:pPr marL="0" indent="0">
              <a:buNone/>
            </a:pPr>
            <a:r>
              <a:rPr lang="en-US" sz="1400" b="1" dirty="0">
                <a:solidFill>
                  <a:srgbClr val="4F6F5C"/>
                </a:solidFill>
                <a:latin typeface="Segoe UI" pitchFamily="34" charset="0"/>
                <a:ea typeface="Segoe UI" pitchFamily="34" charset="-122"/>
                <a:cs typeface="Segoe UI" pitchFamily="34" charset="-120"/>
              </a:rPr>
              <a:t>Fix: </a:t>
            </a:r>
            <a:r>
              <a:rPr lang="en-US" sz="1400" dirty="0">
                <a:solidFill>
                  <a:srgbClr val="2A2622"/>
                </a:solidFill>
                <a:latin typeface="Segoe UI" pitchFamily="34" charset="0"/>
                <a:ea typeface="Segoe UI" pitchFamily="34" charset="-122"/>
                <a:cs typeface="Segoe UI" pitchFamily="34" charset="-120"/>
              </a:rPr>
              <a:t>Added the missing words and 2 new unit tests.</a:t>
            </a:r>
            <a:endParaRPr lang="en-US" sz="1800" dirty="0"/>
          </a:p>
        </p:txBody>
      </p:sp>
      <p:sp>
        <p:nvSpPr>
          <p:cNvPr id="9" name="Shape 6"/>
          <p:cNvSpPr/>
          <p:nvPr/>
        </p:nvSpPr>
        <p:spPr>
          <a:xfrm>
            <a:off x="640080" y="3977640"/>
            <a:ext cx="5303520" cy="2103120"/>
          </a:xfrm>
          <a:prstGeom prst="roundRect">
            <a:avLst>
              <a:gd name="adj" fmla="val 6522"/>
            </a:avLst>
          </a:prstGeom>
          <a:solidFill>
            <a:srgbClr val="FFFDF8"/>
          </a:solidFill>
          <a:ln w="12700">
            <a:solidFill>
              <a:srgbClr val="E6DCCD"/>
            </a:solidFill>
            <a:prstDash val="solid"/>
          </a:ln>
        </p:spPr>
      </p:sp>
      <p:sp>
        <p:nvSpPr>
          <p:cNvPr id="10" name="Text 7"/>
          <p:cNvSpPr/>
          <p:nvPr/>
        </p:nvSpPr>
        <p:spPr>
          <a:xfrm>
            <a:off x="868680" y="4114800"/>
            <a:ext cx="4846320" cy="1828800"/>
          </a:xfrm>
          <a:prstGeom prst="rect">
            <a:avLst/>
          </a:prstGeom>
          <a:noFill/>
          <a:ln/>
        </p:spPr>
        <p:txBody>
          <a:bodyPr wrap="square" rtlCol="0" anchor="t"/>
          <a:lstStyle/>
          <a:p>
            <a:pPr marL="0" indent="0">
              <a:buNone/>
            </a:pPr>
            <a:r>
              <a:rPr lang="en-US" sz="1800" b="1" dirty="0">
                <a:solidFill>
                  <a:srgbClr val="2A2622"/>
                </a:solidFill>
                <a:latin typeface="Segoe UI" pitchFamily="34" charset="0"/>
                <a:ea typeface="Segoe UI" pitchFamily="34" charset="-122"/>
                <a:cs typeface="Segoe UI" pitchFamily="34" charset="-120"/>
              </a:rPr>
              <a:t>Opening the app offline signed you out</a:t>
            </a:r>
            <a:endParaRPr lang="en-US" sz="1800" dirty="0"/>
          </a:p>
          <a:p>
            <a:pPr marL="0" indent="0">
              <a:buNone/>
            </a:pPr>
            <a:r>
              <a:rPr lang="en-US" sz="1400" dirty="0">
                <a:solidFill>
                  <a:srgbClr val="6F675E"/>
                </a:solidFill>
                <a:latin typeface="Segoe UI" pitchFamily="34" charset="0"/>
                <a:ea typeface="Segoe UI" pitchFamily="34" charset="-122"/>
                <a:cs typeface="Segoe UI" pitchFamily="34" charset="-120"/>
              </a:rPr>
              <a:t>The failed account check erased the saved login.</a:t>
            </a:r>
            <a:endParaRPr lang="en-US" sz="1800" dirty="0"/>
          </a:p>
          <a:p>
            <a:pPr marL="0" indent="0">
              <a:buNone/>
            </a:pPr>
            <a:r>
              <a:rPr lang="en-US" sz="800" dirty="0">
                <a:solidFill>
                  <a:srgbClr val="000000"/>
                </a:solidFill>
                <a:latin typeface="Segoe UI" pitchFamily="34" charset="0"/>
                <a:ea typeface="Segoe UI" pitchFamily="34" charset="-122"/>
                <a:cs typeface="Segoe UI" pitchFamily="34" charset="-120"/>
              </a:rPr>
              <a:t> </a:t>
            </a:r>
            <a:endParaRPr lang="en-US" sz="1800" dirty="0"/>
          </a:p>
          <a:p>
            <a:pPr marL="0" indent="0">
              <a:buNone/>
            </a:pPr>
            <a:r>
              <a:rPr lang="en-US" sz="1400" b="1" dirty="0">
                <a:solidFill>
                  <a:srgbClr val="C46A4A"/>
                </a:solidFill>
                <a:latin typeface="Segoe UI" pitchFamily="34" charset="0"/>
                <a:ea typeface="Segoe UI" pitchFamily="34" charset="-122"/>
                <a:cs typeface="Segoe UI" pitchFamily="34" charset="-120"/>
              </a:rPr>
              <a:t>Found by: </a:t>
            </a:r>
            <a:r>
              <a:rPr lang="en-US" sz="1400" dirty="0">
                <a:solidFill>
                  <a:srgbClr val="2A2622"/>
                </a:solidFill>
                <a:latin typeface="Segoe UI" pitchFamily="34" charset="0"/>
                <a:ea typeface="Segoe UI" pitchFamily="34" charset="-122"/>
                <a:cs typeface="Segoe UI" pitchFamily="34" charset="-120"/>
              </a:rPr>
              <a:t>Code review for the offline test</a:t>
            </a:r>
            <a:endParaRPr lang="en-US" sz="1800" dirty="0"/>
          </a:p>
          <a:p>
            <a:pPr marL="0" indent="0">
              <a:buNone/>
            </a:pPr>
            <a:r>
              <a:rPr lang="en-US" sz="1400" b="1" dirty="0">
                <a:solidFill>
                  <a:srgbClr val="4F6F5C"/>
                </a:solidFill>
                <a:latin typeface="Segoe UI" pitchFamily="34" charset="0"/>
                <a:ea typeface="Segoe UI" pitchFamily="34" charset="-122"/>
                <a:cs typeface="Segoe UI" pitchFamily="34" charset="-120"/>
              </a:rPr>
              <a:t>Fix: </a:t>
            </a:r>
            <a:r>
              <a:rPr lang="en-US" sz="1400" dirty="0">
                <a:solidFill>
                  <a:srgbClr val="2A2622"/>
                </a:solidFill>
                <a:latin typeface="Segoe UI" pitchFamily="34" charset="0"/>
                <a:ea typeface="Segoe UI" pitchFamily="34" charset="-122"/>
                <a:cs typeface="Segoe UI" pitchFamily="34" charset="-120"/>
              </a:rPr>
              <a:t>Stays signed in, shows "You're offline", reloads on reconnect.</a:t>
            </a:r>
            <a:endParaRPr lang="en-US" sz="1800" dirty="0"/>
          </a:p>
        </p:txBody>
      </p:sp>
      <p:sp>
        <p:nvSpPr>
          <p:cNvPr id="11" name="Shape 8"/>
          <p:cNvSpPr/>
          <p:nvPr/>
        </p:nvSpPr>
        <p:spPr>
          <a:xfrm>
            <a:off x="6172200" y="3977640"/>
            <a:ext cx="5303520" cy="2103120"/>
          </a:xfrm>
          <a:prstGeom prst="roundRect">
            <a:avLst>
              <a:gd name="adj" fmla="val 6522"/>
            </a:avLst>
          </a:prstGeom>
          <a:solidFill>
            <a:srgbClr val="FFFDF8"/>
          </a:solidFill>
          <a:ln w="12700">
            <a:solidFill>
              <a:srgbClr val="E6DCCD"/>
            </a:solidFill>
            <a:prstDash val="solid"/>
          </a:ln>
        </p:spPr>
      </p:sp>
      <p:sp>
        <p:nvSpPr>
          <p:cNvPr id="12" name="Text 9"/>
          <p:cNvSpPr/>
          <p:nvPr/>
        </p:nvSpPr>
        <p:spPr>
          <a:xfrm>
            <a:off x="6400800" y="4114800"/>
            <a:ext cx="4846320" cy="1828800"/>
          </a:xfrm>
          <a:prstGeom prst="rect">
            <a:avLst/>
          </a:prstGeom>
          <a:noFill/>
          <a:ln/>
        </p:spPr>
        <p:txBody>
          <a:bodyPr wrap="square" rtlCol="0" anchor="t"/>
          <a:lstStyle/>
          <a:p>
            <a:pPr marL="0" indent="0">
              <a:buNone/>
            </a:pPr>
            <a:r>
              <a:rPr lang="en-US" sz="1800" b="1" dirty="0">
                <a:solidFill>
                  <a:srgbClr val="2A2622"/>
                </a:solidFill>
                <a:latin typeface="Segoe UI" pitchFamily="34" charset="0"/>
                <a:ea typeface="Segoe UI" pitchFamily="34" charset="-122"/>
                <a:cs typeface="Segoe UI" pitchFamily="34" charset="-120"/>
              </a:rPr>
              <a:t>Header button had no visible label</a:t>
            </a:r>
            <a:endParaRPr lang="en-US" sz="1800" dirty="0"/>
          </a:p>
          <a:p>
            <a:pPr marL="0" indent="0">
              <a:buNone/>
            </a:pPr>
            <a:r>
              <a:rPr lang="en-US" sz="1400" dirty="0">
                <a:solidFill>
                  <a:srgbClr val="6F675E"/>
                </a:solidFill>
                <a:latin typeface="Segoe UI" pitchFamily="34" charset="0"/>
                <a:ea typeface="Segoe UI" pitchFamily="34" charset="-122"/>
                <a:cs typeface="Segoe UI" pitchFamily="34" charset="-120"/>
              </a:rPr>
              <a:t>Dark text on a dark button: a blank black bar.</a:t>
            </a:r>
            <a:endParaRPr lang="en-US" sz="1800" dirty="0"/>
          </a:p>
          <a:p>
            <a:pPr marL="0" indent="0">
              <a:buNone/>
            </a:pPr>
            <a:r>
              <a:rPr lang="en-US" sz="800" dirty="0">
                <a:solidFill>
                  <a:srgbClr val="000000"/>
                </a:solidFill>
                <a:latin typeface="Segoe UI" pitchFamily="34" charset="0"/>
                <a:ea typeface="Segoe UI" pitchFamily="34" charset="-122"/>
                <a:cs typeface="Segoe UI" pitchFamily="34" charset="-120"/>
              </a:rPr>
              <a:t> </a:t>
            </a:r>
            <a:endParaRPr lang="en-US" sz="1800" dirty="0"/>
          </a:p>
          <a:p>
            <a:pPr marL="0" indent="0">
              <a:buNone/>
            </a:pPr>
            <a:r>
              <a:rPr lang="en-US" sz="1400" b="1" dirty="0">
                <a:solidFill>
                  <a:srgbClr val="C46A4A"/>
                </a:solidFill>
                <a:latin typeface="Segoe UI" pitchFamily="34" charset="0"/>
                <a:ea typeface="Segoe UI" pitchFamily="34" charset="-122"/>
                <a:cs typeface="Segoe UI" pitchFamily="34" charset="-120"/>
              </a:rPr>
              <a:t>Found by: </a:t>
            </a:r>
            <a:r>
              <a:rPr lang="en-US" sz="1400" dirty="0">
                <a:solidFill>
                  <a:srgbClr val="2A2622"/>
                </a:solidFill>
                <a:latin typeface="Segoe UI" pitchFamily="34" charset="0"/>
                <a:ea typeface="Segoe UI" pitchFamily="34" charset="-122"/>
                <a:cs typeface="Segoe UI" pitchFamily="34" charset="-120"/>
              </a:rPr>
              <a:t>Reviewing test screenshots</a:t>
            </a:r>
            <a:endParaRPr lang="en-US" sz="1800" dirty="0"/>
          </a:p>
          <a:p>
            <a:pPr marL="0" indent="0">
              <a:buNone/>
            </a:pPr>
            <a:r>
              <a:rPr lang="en-US" sz="1400" b="1" dirty="0">
                <a:solidFill>
                  <a:srgbClr val="4F6F5C"/>
                </a:solidFill>
                <a:latin typeface="Segoe UI" pitchFamily="34" charset="0"/>
                <a:ea typeface="Segoe UI" pitchFamily="34" charset="-122"/>
                <a:cs typeface="Segoe UI" pitchFamily="34" charset="-120"/>
              </a:rPr>
              <a:t>Fix: </a:t>
            </a:r>
            <a:r>
              <a:rPr lang="en-US" sz="1400" dirty="0">
                <a:solidFill>
                  <a:srgbClr val="2A2622"/>
                </a:solidFill>
                <a:latin typeface="Segoe UI" pitchFamily="34" charset="0"/>
                <a:ea typeface="Segoe UI" pitchFamily="34" charset="-122"/>
                <a:cs typeface="Segoe UI" pitchFamily="34" charset="-120"/>
              </a:rPr>
              <a:t>Fixed the color; a test now checks every main button.</a:t>
            </a:r>
            <a:endParaRPr lang="en-US" sz="1800" dirty="0"/>
          </a:p>
        </p:txBody>
      </p:sp>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12</a:t>
            </a:fld>
            <a:endParaRPr lang="en-US"/>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OFFLINE</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No signal? Duet still opens</a:t>
            </a:r>
            <a:endParaRPr lang="en-US" sz="3200" dirty="0"/>
          </a:p>
        </p:txBody>
      </p:sp>
      <p:sp>
        <p:nvSpPr>
          <p:cNvPr id="5" name="Shape 2"/>
          <p:cNvSpPr/>
          <p:nvPr/>
        </p:nvSpPr>
        <p:spPr>
          <a:xfrm>
            <a:off x="585216" y="2700485"/>
            <a:ext cx="3310128" cy="2097109"/>
          </a:xfrm>
          <a:prstGeom prst="roundRect">
            <a:avLst>
              <a:gd name="adj" fmla="val 5232"/>
            </a:avLst>
          </a:prstGeom>
          <a:solidFill>
            <a:srgbClr val="FFFDF8"/>
          </a:solidFill>
          <a:ln w="12700">
            <a:solidFill>
              <a:srgbClr val="E6DCCD"/>
            </a:solidFill>
            <a:prstDash val="solid"/>
          </a:ln>
          <a:effectLst>
            <a:outerShdw blurRad="101600" dist="38100" dir="5400000" algn="bl" rotWithShape="0">
              <a:srgbClr val="000000">
                <a:alpha val="12000"/>
              </a:srgbClr>
            </a:outerShdw>
          </a:effectLst>
        </p:spPr>
      </p:sp>
      <p:pic>
        <p:nvPicPr>
          <p:cNvPr id="6" name="Image 0" descr="C:\Users\obaid\OneDrive\Desktop\AI Intg Class\Duet\docs\screenshots\09-offline-phone.png"/>
          <p:cNvPicPr>
            <a:picLocks noChangeAspect="1"/>
          </p:cNvPicPr>
          <p:nvPr/>
        </p:nvPicPr>
        <p:blipFill>
          <a:blip r:embed="rId3"/>
          <a:srcRect l="6000" t="38000" r="6000" b="38000"/>
          <a:stretch/>
        </p:blipFill>
        <p:spPr>
          <a:xfrm>
            <a:off x="640080" y="2755349"/>
            <a:ext cx="3200400" cy="1987381"/>
          </a:xfrm>
          <a:prstGeom prst="rect">
            <a:avLst/>
          </a:prstGeom>
        </p:spPr>
      </p:pic>
      <p:sp>
        <p:nvSpPr>
          <p:cNvPr id="7" name="Text 3"/>
          <p:cNvSpPr/>
          <p:nvPr/>
        </p:nvSpPr>
        <p:spPr>
          <a:xfrm>
            <a:off x="640080" y="4983480"/>
            <a:ext cx="3200400" cy="365760"/>
          </a:xfrm>
          <a:prstGeom prst="rect">
            <a:avLst/>
          </a:prstGeom>
          <a:noFill/>
          <a:ln/>
        </p:spPr>
        <p:txBody>
          <a:bodyPr wrap="square" rtlCol="0" anchor="ctr"/>
          <a:lstStyle/>
          <a:p>
            <a:pPr marL="0" indent="0" algn="ctr">
              <a:buNone/>
            </a:pPr>
            <a:r>
              <a:rPr lang="en-US" sz="1300" b="1" dirty="0">
                <a:solidFill>
                  <a:srgbClr val="2A2622"/>
                </a:solidFill>
                <a:latin typeface="Segoe UI" pitchFamily="34" charset="0"/>
                <a:ea typeface="Segoe UI" pitchFamily="34" charset="-122"/>
                <a:cs typeface="Segoe UI" pitchFamily="34" charset="-120"/>
              </a:rPr>
              <a:t>What you see with no connection</a:t>
            </a:r>
            <a:endParaRPr lang="en-US" sz="1300" dirty="0"/>
          </a:p>
        </p:txBody>
      </p:sp>
      <p:sp>
        <p:nvSpPr>
          <p:cNvPr id="8" name="Shape 4"/>
          <p:cNvSpPr/>
          <p:nvPr/>
        </p:nvSpPr>
        <p:spPr>
          <a:xfrm>
            <a:off x="4206240" y="1645920"/>
            <a:ext cx="7315200" cy="1005840"/>
          </a:xfrm>
          <a:prstGeom prst="roundRect">
            <a:avLst>
              <a:gd name="adj" fmla="val 13636"/>
            </a:avLst>
          </a:prstGeom>
          <a:solidFill>
            <a:srgbClr val="FFFDF8"/>
          </a:solidFill>
          <a:ln w="12700">
            <a:solidFill>
              <a:srgbClr val="E6DCCD"/>
            </a:solidFill>
            <a:prstDash val="solid"/>
          </a:ln>
        </p:spPr>
      </p:sp>
      <p:sp>
        <p:nvSpPr>
          <p:cNvPr id="9" name="Text 5"/>
          <p:cNvSpPr/>
          <p:nvPr/>
        </p:nvSpPr>
        <p:spPr>
          <a:xfrm>
            <a:off x="4434840" y="1828800"/>
            <a:ext cx="6858000" cy="640080"/>
          </a:xfrm>
          <a:prstGeom prst="rect">
            <a:avLst/>
          </a:prstGeom>
          <a:noFill/>
          <a:ln/>
        </p:spPr>
        <p:txBody>
          <a:bodyPr wrap="square" rtlCol="0" anchor="t"/>
          <a:lstStyle/>
          <a:p>
            <a:pPr marL="0" indent="0">
              <a:buNone/>
            </a:pPr>
            <a:r>
              <a:rPr lang="en-US" sz="1600" b="1" dirty="0">
                <a:solidFill>
                  <a:srgbClr val="2A2622"/>
                </a:solidFill>
                <a:latin typeface="Segoe UI" pitchFamily="34" charset="0"/>
                <a:ea typeface="Segoe UI" pitchFamily="34" charset="-122"/>
                <a:cs typeface="Segoe UI" pitchFamily="34" charset="-120"/>
              </a:rPr>
              <a:t>Stored on the device</a:t>
            </a:r>
            <a:endParaRPr lang="en-US" sz="1600" dirty="0"/>
          </a:p>
          <a:p>
            <a:pPr marL="0" indent="0">
              <a:buNone/>
            </a:pPr>
            <a:r>
              <a:rPr lang="en-US" sz="600" dirty="0">
                <a:solidFill>
                  <a:srgbClr val="000000"/>
                </a:solidFill>
              </a:rPr>
              <a:t> </a:t>
            </a:r>
            <a:endParaRPr lang="en-US" sz="1600" dirty="0"/>
          </a:p>
          <a:p>
            <a:pPr marL="0" indent="0">
              <a:buNone/>
            </a:pPr>
            <a:r>
              <a:rPr lang="en-US" sz="1300" dirty="0">
                <a:solidFill>
                  <a:srgbClr val="6F675E"/>
                </a:solidFill>
                <a:latin typeface="Segoe UI" pitchFamily="34" charset="0"/>
                <a:ea typeface="Segoe UI" pitchFamily="34" charset="-122"/>
                <a:cs typeface="Segoe UI" pitchFamily="34" charset="-120"/>
              </a:rPr>
              <a:t>The service worker keeps the app shell, so it opens with no network.</a:t>
            </a:r>
            <a:endParaRPr lang="en-US" sz="1600" dirty="0"/>
          </a:p>
        </p:txBody>
      </p:sp>
      <p:sp>
        <p:nvSpPr>
          <p:cNvPr id="10" name="Shape 6"/>
          <p:cNvSpPr/>
          <p:nvPr/>
        </p:nvSpPr>
        <p:spPr>
          <a:xfrm>
            <a:off x="4206240" y="2788920"/>
            <a:ext cx="7315200" cy="1005840"/>
          </a:xfrm>
          <a:prstGeom prst="roundRect">
            <a:avLst>
              <a:gd name="adj" fmla="val 13636"/>
            </a:avLst>
          </a:prstGeom>
          <a:solidFill>
            <a:srgbClr val="FFFDF8"/>
          </a:solidFill>
          <a:ln w="12700">
            <a:solidFill>
              <a:srgbClr val="E6DCCD"/>
            </a:solidFill>
            <a:prstDash val="solid"/>
          </a:ln>
        </p:spPr>
      </p:sp>
      <p:sp>
        <p:nvSpPr>
          <p:cNvPr id="11" name="Text 7"/>
          <p:cNvSpPr/>
          <p:nvPr/>
        </p:nvSpPr>
        <p:spPr>
          <a:xfrm>
            <a:off x="4434840" y="2971800"/>
            <a:ext cx="6858000" cy="640080"/>
          </a:xfrm>
          <a:prstGeom prst="rect">
            <a:avLst/>
          </a:prstGeom>
          <a:noFill/>
          <a:ln/>
        </p:spPr>
        <p:txBody>
          <a:bodyPr wrap="square" rtlCol="0" anchor="t"/>
          <a:lstStyle/>
          <a:p>
            <a:pPr marL="0" indent="0">
              <a:buNone/>
            </a:pPr>
            <a:r>
              <a:rPr lang="en-US" sz="1600" b="1" dirty="0">
                <a:solidFill>
                  <a:srgbClr val="2A2622"/>
                </a:solidFill>
                <a:latin typeface="Segoe UI" pitchFamily="34" charset="0"/>
                <a:ea typeface="Segoe UI" pitchFamily="34" charset="-122"/>
                <a:cs typeface="Segoe UI" pitchFamily="34" charset="-120"/>
              </a:rPr>
              <a:t>Clear message, still signed in</a:t>
            </a:r>
            <a:endParaRPr lang="en-US" sz="1600" dirty="0"/>
          </a:p>
          <a:p>
            <a:pPr marL="0" indent="0">
              <a:buNone/>
            </a:pPr>
            <a:r>
              <a:rPr lang="en-US" sz="600" dirty="0">
                <a:solidFill>
                  <a:srgbClr val="000000"/>
                </a:solidFill>
              </a:rPr>
              <a:t> </a:t>
            </a:r>
            <a:endParaRPr lang="en-US" sz="1600" dirty="0"/>
          </a:p>
          <a:p>
            <a:pPr marL="0" indent="0">
              <a:buNone/>
            </a:pPr>
            <a:r>
              <a:rPr lang="en-US" sz="1300" dirty="0">
                <a:solidFill>
                  <a:srgbClr val="6F675E"/>
                </a:solidFill>
                <a:latin typeface="Segoe UI" pitchFamily="34" charset="0"/>
                <a:ea typeface="Segoe UI" pitchFamily="34" charset="-122"/>
                <a:cs typeface="Segoe UI" pitchFamily="34" charset="-120"/>
              </a:rPr>
              <a:t>"You're offline. Duet will load your household automatically when you reconnect."</a:t>
            </a:r>
            <a:endParaRPr lang="en-US" sz="1600" dirty="0"/>
          </a:p>
        </p:txBody>
      </p:sp>
      <p:sp>
        <p:nvSpPr>
          <p:cNvPr id="12" name="Shape 8"/>
          <p:cNvSpPr/>
          <p:nvPr/>
        </p:nvSpPr>
        <p:spPr>
          <a:xfrm>
            <a:off x="4206240" y="3931920"/>
            <a:ext cx="7315200" cy="1005840"/>
          </a:xfrm>
          <a:prstGeom prst="roundRect">
            <a:avLst>
              <a:gd name="adj" fmla="val 13636"/>
            </a:avLst>
          </a:prstGeom>
          <a:solidFill>
            <a:srgbClr val="FFFDF8"/>
          </a:solidFill>
          <a:ln w="12700">
            <a:solidFill>
              <a:srgbClr val="E6DCCD"/>
            </a:solidFill>
            <a:prstDash val="solid"/>
          </a:ln>
        </p:spPr>
      </p:sp>
      <p:sp>
        <p:nvSpPr>
          <p:cNvPr id="13" name="Text 9"/>
          <p:cNvSpPr/>
          <p:nvPr/>
        </p:nvSpPr>
        <p:spPr>
          <a:xfrm>
            <a:off x="4434840" y="4114800"/>
            <a:ext cx="6858000" cy="640080"/>
          </a:xfrm>
          <a:prstGeom prst="rect">
            <a:avLst/>
          </a:prstGeom>
          <a:noFill/>
          <a:ln/>
        </p:spPr>
        <p:txBody>
          <a:bodyPr wrap="square" rtlCol="0" anchor="t"/>
          <a:lstStyle/>
          <a:p>
            <a:pPr marL="0" indent="0">
              <a:buNone/>
            </a:pPr>
            <a:r>
              <a:rPr lang="en-US" sz="1600" b="1" dirty="0">
                <a:solidFill>
                  <a:srgbClr val="2A2622"/>
                </a:solidFill>
                <a:latin typeface="Segoe UI" pitchFamily="34" charset="0"/>
                <a:ea typeface="Segoe UI" pitchFamily="34" charset="-122"/>
                <a:cs typeface="Segoe UI" pitchFamily="34" charset="-120"/>
              </a:rPr>
              <a:t>Entries are queued</a:t>
            </a:r>
            <a:endParaRPr lang="en-US" sz="1600" dirty="0"/>
          </a:p>
          <a:p>
            <a:pPr marL="0" indent="0">
              <a:buNone/>
            </a:pPr>
            <a:r>
              <a:rPr lang="en-US" sz="600" dirty="0">
                <a:solidFill>
                  <a:srgbClr val="000000"/>
                </a:solidFill>
              </a:rPr>
              <a:t> </a:t>
            </a:r>
            <a:endParaRPr lang="en-US" sz="1600" dirty="0"/>
          </a:p>
          <a:p>
            <a:pPr marL="0" indent="0">
              <a:buNone/>
            </a:pPr>
            <a:r>
              <a:rPr lang="en-US" sz="1300" dirty="0">
                <a:solidFill>
                  <a:srgbClr val="6F675E"/>
                </a:solidFill>
                <a:latin typeface="Segoe UI" pitchFamily="34" charset="0"/>
                <a:ea typeface="Segoe UI" pitchFamily="34" charset="-122"/>
                <a:cs typeface="Segoe UI" pitchFamily="34" charset="-120"/>
              </a:rPr>
              <a:t>Anything logged offline is saved on the phone.</a:t>
            </a:r>
            <a:endParaRPr lang="en-US" sz="1600" dirty="0"/>
          </a:p>
        </p:txBody>
      </p:sp>
      <p:sp>
        <p:nvSpPr>
          <p:cNvPr id="14" name="Shape 10"/>
          <p:cNvSpPr/>
          <p:nvPr/>
        </p:nvSpPr>
        <p:spPr>
          <a:xfrm>
            <a:off x="4206240" y="5074920"/>
            <a:ext cx="7315200" cy="1005840"/>
          </a:xfrm>
          <a:prstGeom prst="roundRect">
            <a:avLst>
              <a:gd name="adj" fmla="val 13636"/>
            </a:avLst>
          </a:prstGeom>
          <a:solidFill>
            <a:srgbClr val="FFFDF8"/>
          </a:solidFill>
          <a:ln w="12700">
            <a:solidFill>
              <a:srgbClr val="E6DCCD"/>
            </a:solidFill>
            <a:prstDash val="solid"/>
          </a:ln>
        </p:spPr>
      </p:sp>
      <p:sp>
        <p:nvSpPr>
          <p:cNvPr id="15" name="Text 11"/>
          <p:cNvSpPr/>
          <p:nvPr/>
        </p:nvSpPr>
        <p:spPr>
          <a:xfrm>
            <a:off x="4434840" y="5257800"/>
            <a:ext cx="6858000" cy="640080"/>
          </a:xfrm>
          <a:prstGeom prst="rect">
            <a:avLst/>
          </a:prstGeom>
          <a:noFill/>
          <a:ln/>
        </p:spPr>
        <p:txBody>
          <a:bodyPr wrap="square" rtlCol="0" anchor="t"/>
          <a:lstStyle/>
          <a:p>
            <a:pPr marL="0" indent="0">
              <a:buNone/>
            </a:pPr>
            <a:r>
              <a:rPr lang="en-US" sz="1600" b="1" dirty="0">
                <a:solidFill>
                  <a:srgbClr val="2A2622"/>
                </a:solidFill>
                <a:latin typeface="Segoe UI" pitchFamily="34" charset="0"/>
                <a:ea typeface="Segoe UI" pitchFamily="34" charset="-122"/>
                <a:cs typeface="Segoe UI" pitchFamily="34" charset="-120"/>
              </a:rPr>
              <a:t>Syncs on reconnect</a:t>
            </a:r>
            <a:endParaRPr lang="en-US" sz="1600" dirty="0"/>
          </a:p>
          <a:p>
            <a:pPr marL="0" indent="0">
              <a:buNone/>
            </a:pPr>
            <a:r>
              <a:rPr lang="en-US" sz="600" dirty="0">
                <a:solidFill>
                  <a:srgbClr val="000000"/>
                </a:solidFill>
              </a:rPr>
              <a:t> </a:t>
            </a:r>
            <a:endParaRPr lang="en-US" sz="1600" dirty="0"/>
          </a:p>
          <a:p>
            <a:pPr marL="0" indent="0">
              <a:buNone/>
            </a:pPr>
            <a:r>
              <a:rPr lang="en-US" sz="1300" dirty="0">
                <a:solidFill>
                  <a:srgbClr val="6F675E"/>
                </a:solidFill>
                <a:latin typeface="Segoe UI" pitchFamily="34" charset="0"/>
                <a:ea typeface="Segoe UI" pitchFamily="34" charset="-122"/>
                <a:cs typeface="Segoe UI" pitchFamily="34" charset="-120"/>
              </a:rPr>
              <a:t>The app reloads itself and the queued entry reaches every caregiver.</a:t>
            </a:r>
            <a:endParaRPr lang="en-US" sz="1600" dirty="0"/>
          </a:p>
        </p:txBody>
      </p:sp>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13</a:t>
            </a:fld>
            <a:endParaRPr lang="en-US"/>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HONEST LIMITS</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What has not been tested yet</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881360" cy="914400"/>
        </p:xfrm>
        <a:graphic>
          <a:graphicData uri="http://schemas.openxmlformats.org/drawingml/2006/table">
            <a:tbl>
              <a:tblPr/>
              <a:tblGrid>
                <a:gridCol w="29260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57200">
                <a:tc>
                  <a:txBody>
                    <a:bodyPr/>
                    <a:lstStyle/>
                    <a:p>
                      <a:pPr marL="0" indent="0">
                        <a:buNone/>
                      </a:pPr>
                      <a:r>
                        <a:rPr lang="en-US" sz="1400" b="1" dirty="0">
                          <a:solidFill>
                            <a:srgbClr val="FFFDF8"/>
                          </a:solidFill>
                          <a:latin typeface="Segoe UI" pitchFamily="34" charset="0"/>
                          <a:ea typeface="Segoe UI" pitchFamily="34" charset="-122"/>
                          <a:cs typeface="Segoe UI" pitchFamily="34" charset="-120"/>
                        </a:rPr>
                        <a:t>Not tested</a:t>
                      </a:r>
                      <a:endParaRPr lang="en-US" sz="14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2A2622"/>
                    </a:solidFill>
                  </a:tcPr>
                </a:tc>
                <a:tc>
                  <a:txBody>
                    <a:bodyPr/>
                    <a:lstStyle/>
                    <a:p>
                      <a:pPr marL="0" indent="0">
                        <a:buNone/>
                      </a:pPr>
                      <a:r>
                        <a:rPr lang="en-US" sz="1400" b="1" dirty="0">
                          <a:solidFill>
                            <a:srgbClr val="FFFDF8"/>
                          </a:solidFill>
                          <a:latin typeface="Segoe UI" pitchFamily="34" charset="0"/>
                          <a:ea typeface="Segoe UI" pitchFamily="34" charset="-122"/>
                          <a:cs typeface="Segoe UI" pitchFamily="34" charset="-120"/>
                        </a:rPr>
                        <a:t>Why</a:t>
                      </a:r>
                      <a:endParaRPr lang="en-US" sz="14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2A2622"/>
                    </a:solidFill>
                  </a:tcPr>
                </a:tc>
                <a:tc>
                  <a:txBody>
                    <a:bodyPr/>
                    <a:lstStyle/>
                    <a:p>
                      <a:pPr marL="0" indent="0">
                        <a:buNone/>
                      </a:pPr>
                      <a:r>
                        <a:rPr lang="en-US" sz="1400" b="1" dirty="0">
                          <a:solidFill>
                            <a:srgbClr val="FFFDF8"/>
                          </a:solidFill>
                          <a:latin typeface="Segoe UI" pitchFamily="34" charset="0"/>
                          <a:ea typeface="Segoe UI" pitchFamily="34" charset="-122"/>
                          <a:cs typeface="Segoe UI" pitchFamily="34" charset="-120"/>
                        </a:rPr>
                        <a:t>How to check it</a:t>
                      </a:r>
                      <a:endParaRPr lang="en-US" sz="14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2A2622"/>
                    </a:solidFill>
                  </a:tcPr>
                </a:tc>
                <a:extLst>
                  <a:ext uri="{0D108BD9-81ED-4DB2-BD59-A6C34878D82A}">
                    <a16:rowId xmlns:a16="http://schemas.microsoft.com/office/drawing/2014/main" val="10000"/>
                  </a:ext>
                </a:extLst>
              </a:tr>
              <a:tr h="914400">
                <a:tc>
                  <a:txBody>
                    <a:bodyPr/>
                    <a:lstStyle/>
                    <a:p>
                      <a:pPr marL="0" indent="0">
                        <a:buNone/>
                      </a:pPr>
                      <a:r>
                        <a:rPr lang="en-US" sz="1400" dirty="0">
                          <a:solidFill>
                            <a:srgbClr val="2A2622"/>
                          </a:solidFill>
                          <a:latin typeface="Segoe UI" pitchFamily="34" charset="0"/>
                          <a:ea typeface="Segoe UI" pitchFamily="34" charset="-122"/>
                          <a:cs typeface="Segoe UI" pitchFamily="34" charset="-120"/>
                        </a:rPr>
                        <a:t>Running in the Android emulator</a:t>
                      </a:r>
                      <a:endParaRPr lang="en-US" sz="14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buNone/>
                      </a:pPr>
                      <a:r>
                        <a:rPr lang="en-US" sz="1400" dirty="0">
                          <a:solidFill>
                            <a:srgbClr val="2A2622"/>
                          </a:solidFill>
                          <a:latin typeface="Segoe UI" pitchFamily="34" charset="0"/>
                          <a:ea typeface="Segoe UI" pitchFamily="34" charset="-122"/>
                          <a:cs typeface="Segoe UI" pitchFamily="34" charset="-120"/>
                        </a:rPr>
                        <a:t>Android Studio not installed on the test computer</a:t>
                      </a:r>
                      <a:endParaRPr lang="en-US" sz="14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buNone/>
                      </a:pPr>
                      <a:r>
                        <a:rPr lang="en-US" sz="1400" dirty="0">
                          <a:solidFill>
                            <a:srgbClr val="2A2622"/>
                          </a:solidFill>
                          <a:latin typeface="Segoe UI" pitchFamily="34" charset="0"/>
                          <a:ea typeface="Segoe UI" pitchFamily="34" charset="-122"/>
                          <a:cs typeface="Segoe UI" pitchFamily="34" charset="-120"/>
                        </a:rPr>
                        <a:t>Install Android Studio, run npm run cap:sync then npm run cap:open, press Run</a:t>
                      </a:r>
                      <a:endParaRPr lang="en-US" sz="14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914400">
                <a:tc>
                  <a:txBody>
                    <a:bodyPr/>
                    <a:lstStyle/>
                    <a:p>
                      <a:pPr marL="0" indent="0">
                        <a:buNone/>
                      </a:pPr>
                      <a:r>
                        <a:rPr lang="en-US" sz="1400" dirty="0">
                          <a:solidFill>
                            <a:srgbClr val="2A2622"/>
                          </a:solidFill>
                          <a:latin typeface="Segoe UI" pitchFamily="34" charset="0"/>
                          <a:ea typeface="Segoe UI" pitchFamily="34" charset="-122"/>
                          <a:cs typeface="Segoe UI" pitchFamily="34" charset="-120"/>
                        </a:rPr>
                        <a:t>Real spoken voice</a:t>
                      </a:r>
                      <a:endParaRPr lang="en-US" sz="14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buNone/>
                      </a:pPr>
                      <a:r>
                        <a:rPr lang="en-US" sz="1400" dirty="0">
                          <a:solidFill>
                            <a:srgbClr val="2A2622"/>
                          </a:solidFill>
                          <a:latin typeface="Segoe UI" pitchFamily="34" charset="0"/>
                          <a:ea typeface="Segoe UI" pitchFamily="34" charset="-122"/>
                          <a:cs typeface="Segoe UI" pitchFamily="34" charset="-120"/>
                        </a:rPr>
                        <a:t>Automated tests cannot use a microphone (a stand-in recognizer was used)</a:t>
                      </a:r>
                      <a:endParaRPr lang="en-US" sz="14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buNone/>
                      </a:pPr>
                      <a:r>
                        <a:rPr lang="en-US" sz="1400" dirty="0">
                          <a:solidFill>
                            <a:srgbClr val="2A2622"/>
                          </a:solidFill>
                          <a:latin typeface="Segoe UI" pitchFamily="34" charset="0"/>
                          <a:ea typeface="Segoe UI" pitchFamily="34" charset="-122"/>
                          <a:cs typeface="Segoe UI" pitchFamily="34" charset="-120"/>
                        </a:rPr>
                        <a:t>Open in Chrome, tap the mic, say "Just gave her a 3 ounce bottle"</a:t>
                      </a:r>
                      <a:endParaRPr lang="en-US" sz="14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2"/>
                  </a:ext>
                </a:extLst>
              </a:tr>
              <a:tr h="914400">
                <a:tc>
                  <a:txBody>
                    <a:bodyPr/>
                    <a:lstStyle/>
                    <a:p>
                      <a:pPr marL="0" indent="0">
                        <a:buNone/>
                      </a:pPr>
                      <a:r>
                        <a:rPr lang="en-US" sz="1400" dirty="0">
                          <a:solidFill>
                            <a:srgbClr val="2A2622"/>
                          </a:solidFill>
                          <a:latin typeface="Segoe UI" pitchFamily="34" charset="0"/>
                          <a:ea typeface="Segoe UI" pitchFamily="34" charset="-122"/>
                          <a:cs typeface="Segoe UI" pitchFamily="34" charset="-120"/>
                        </a:rPr>
                        <a:t>iPhone "Add to Home Screen"</a:t>
                      </a:r>
                      <a:endParaRPr lang="en-US" sz="14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buNone/>
                      </a:pPr>
                      <a:r>
                        <a:rPr lang="en-US" sz="1400" dirty="0">
                          <a:solidFill>
                            <a:srgbClr val="2A2622"/>
                          </a:solidFill>
                          <a:latin typeface="Segoe UI" pitchFamily="34" charset="0"/>
                          <a:ea typeface="Segoe UI" pitchFamily="34" charset="-122"/>
                          <a:cs typeface="Segoe UI" pitchFamily="34" charset="-120"/>
                        </a:rPr>
                        <a:t>No iPhone or Mac available</a:t>
                      </a:r>
                      <a:endParaRPr lang="en-US" sz="14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tc>
                  <a:txBody>
                    <a:bodyPr/>
                    <a:lstStyle/>
                    <a:p>
                      <a:pPr marL="0" indent="0">
                        <a:buNone/>
                      </a:pPr>
                      <a:r>
                        <a:rPr lang="en-US" sz="1400" dirty="0">
                          <a:solidFill>
                            <a:srgbClr val="2A2622"/>
                          </a:solidFill>
                          <a:latin typeface="Segoe UI" pitchFamily="34" charset="0"/>
                          <a:ea typeface="Segoe UI" pitchFamily="34" charset="-122"/>
                          <a:cs typeface="Segoe UI" pitchFamily="34" charset="-120"/>
                        </a:rPr>
                        <a:t>Safari → Share → Add to Home Screen</a:t>
                      </a:r>
                      <a:endParaRPr lang="en-US" sz="1400" dirty="0">
                        <a:latin typeface="Segoe UI" charset="0"/>
                        <a:ea typeface="Segoe UI" charset="0"/>
                        <a:cs typeface="Segoe UI" charset="0"/>
                      </a:endParaRPr>
                    </a:p>
                  </a:txBody>
                  <a:tcPr anchor="ctr">
                    <a:lnL w="12700" cap="flat" cmpd="sng" algn="ctr">
                      <a:solidFill>
                        <a:srgbClr val="E6DCCD"/>
                      </a:solidFill>
                      <a:prstDash val="solid"/>
                      <a:round/>
                      <a:headEnd type="none" w="med" len="med"/>
                      <a:tailEnd type="none" w="med" len="med"/>
                    </a:lnL>
                    <a:lnR w="12700" cap="flat" cmpd="sng" algn="ctr">
                      <a:solidFill>
                        <a:srgbClr val="E6DCCD"/>
                      </a:solidFill>
                      <a:prstDash val="solid"/>
                      <a:round/>
                      <a:headEnd type="none" w="med" len="med"/>
                      <a:tailEnd type="none" w="med" len="med"/>
                    </a:lnR>
                    <a:lnT w="12700" cap="flat" cmpd="sng" algn="ctr">
                      <a:solidFill>
                        <a:srgbClr val="E6DCCD"/>
                      </a:solidFill>
                      <a:prstDash val="solid"/>
                      <a:round/>
                      <a:headEnd type="none" w="med" len="med"/>
                      <a:tailEnd type="none" w="med" len="med"/>
                    </a:lnT>
                    <a:lnB w="12700" cap="flat" cmpd="sng" algn="ctr">
                      <a:solidFill>
                        <a:srgbClr val="E6DCCD"/>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bl>
          </a:graphicData>
        </a:graphic>
      </p:graphicFrame>
      <p:sp>
        <p:nvSpPr>
          <p:cNvPr id="6" name="Text 2"/>
          <p:cNvSpPr/>
          <p:nvPr/>
        </p:nvSpPr>
        <p:spPr>
          <a:xfrm>
            <a:off x="640080" y="5394960"/>
            <a:ext cx="10881360" cy="457200"/>
          </a:xfrm>
          <a:prstGeom prst="rect">
            <a:avLst/>
          </a:prstGeom>
          <a:noFill/>
          <a:ln/>
        </p:spPr>
        <p:txBody>
          <a:bodyPr wrap="square" rtlCol="0" anchor="ctr"/>
          <a:lstStyle/>
          <a:p>
            <a:pPr marL="0" indent="0">
              <a:buNone/>
            </a:pPr>
            <a:r>
              <a:rPr lang="en-US" sz="1500" b="1" dirty="0">
                <a:solidFill>
                  <a:srgbClr val="4F6F5C"/>
                </a:solidFill>
                <a:latin typeface="Segoe UI" pitchFamily="34" charset="0"/>
                <a:ea typeface="Segoe UI" pitchFamily="34" charset="-122"/>
                <a:cs typeface="Segoe UI" pitchFamily="34" charset="-120"/>
              </a:rPr>
              <a:t>Everything else, including the Android project's settings, is covered by the 115 automated checks.</a:t>
            </a:r>
            <a:endParaRPr lang="en-US" sz="1500" dirty="0"/>
          </a:p>
        </p:txBody>
      </p:sp>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14</a:t>
            </a:fld>
            <a:endParaRPr lang="en-US"/>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TRY IT</a:t>
            </a:r>
            <a:endParaRPr lang="en-US" sz="1200" dirty="0"/>
          </a:p>
        </p:txBody>
      </p:sp>
      <p:sp>
        <p:nvSpPr>
          <p:cNvPr id="3" name="Text 1"/>
          <p:cNvSpPr>
            <a:spLocks noGrp="1"/>
          </p:cNvSpPr>
          <p:nvPr>
            <p:ph type="title" idx="101" hasCustomPrompt="1"/>
          </p:nvPr>
        </p:nvSpPr>
        <p:spPr>
          <a:xfrm>
            <a:off x="640080" y="658368"/>
            <a:ext cx="10881360" cy="777240"/>
          </a:xfrm>
          <a:prstGeom prst="rect">
            <a:avLst/>
          </a:prstGeom>
          <a:noFill/>
          <a:ln/>
        </p:spPr>
        <p:txBody>
          <a:bodyPr wrap="square" lIns="0" tIns="0" rIns="0" bIns="0" rtlCol="0" anchor="ctr"/>
          <a:lstStyle/>
          <a:p>
            <a:pPr marL="0" indent="0" algn="l">
              <a:buNone/>
            </a:pPr>
            <a:r>
              <a:rPr lang="en-US" sz="3200" b="1" dirty="0">
                <a:solidFill>
                  <a:srgbClr val="2A2622"/>
                </a:solidFill>
                <a:latin typeface="Georgia" pitchFamily="34" charset="0"/>
                <a:ea typeface="Georgia" pitchFamily="34" charset="-122"/>
                <a:cs typeface="Georgia" pitchFamily="34" charset="-120"/>
              </a:rPr>
              <a:t>Run it and test it yourself</a:t>
            </a:r>
            <a:endParaRPr lang="en-US" sz="3200" dirty="0"/>
          </a:p>
        </p:txBody>
      </p:sp>
      <p:sp>
        <p:nvSpPr>
          <p:cNvPr id="5" name="Shape 2"/>
          <p:cNvSpPr/>
          <p:nvPr/>
        </p:nvSpPr>
        <p:spPr>
          <a:xfrm>
            <a:off x="640080" y="1737360"/>
            <a:ext cx="5303520" cy="3749040"/>
          </a:xfrm>
          <a:prstGeom prst="roundRect">
            <a:avLst>
              <a:gd name="adj" fmla="val 3659"/>
            </a:avLst>
          </a:prstGeom>
          <a:solidFill>
            <a:srgbClr val="2A2622"/>
          </a:solidFill>
          <a:ln w="12700">
            <a:solidFill>
              <a:srgbClr val="E6DCCD"/>
            </a:solidFill>
            <a:prstDash val="solid"/>
          </a:ln>
        </p:spPr>
      </p:sp>
      <p:sp>
        <p:nvSpPr>
          <p:cNvPr id="6" name="Text 3"/>
          <p:cNvSpPr/>
          <p:nvPr/>
        </p:nvSpPr>
        <p:spPr>
          <a:xfrm>
            <a:off x="914400" y="1920240"/>
            <a:ext cx="4846320" cy="3383280"/>
          </a:xfrm>
          <a:prstGeom prst="rect">
            <a:avLst/>
          </a:prstGeom>
          <a:noFill/>
          <a:ln/>
        </p:spPr>
        <p:txBody>
          <a:bodyPr wrap="square" rtlCol="0" anchor="ctr"/>
          <a:lstStyle/>
          <a:p>
            <a:pPr marL="0" indent="0">
              <a:buNone/>
            </a:pPr>
            <a:r>
              <a:rPr lang="en-US" sz="1700" dirty="0">
                <a:solidFill>
                  <a:srgbClr val="B8AE9F"/>
                </a:solidFill>
                <a:latin typeface="Consolas" pitchFamily="34" charset="0"/>
                <a:ea typeface="Consolas" pitchFamily="34" charset="-122"/>
                <a:cs typeface="Consolas" pitchFamily="34" charset="-120"/>
              </a:rPr>
              <a:t># start the app</a:t>
            </a:r>
            <a:endParaRPr lang="en-US" sz="1700" dirty="0"/>
          </a:p>
          <a:p>
            <a:pPr marL="0" indent="0">
              <a:buNone/>
            </a:pPr>
            <a:r>
              <a:rPr lang="en-US" sz="1700" dirty="0">
                <a:solidFill>
                  <a:srgbClr val="FFFDF8"/>
                </a:solidFill>
                <a:latin typeface="Consolas" pitchFamily="34" charset="0"/>
                <a:ea typeface="Consolas" pitchFamily="34" charset="-122"/>
                <a:cs typeface="Consolas" pitchFamily="34" charset="-120"/>
              </a:rPr>
              <a:t>npm start</a:t>
            </a:r>
            <a:endParaRPr lang="en-US" sz="1700" dirty="0"/>
          </a:p>
          <a:p>
            <a:pPr marL="0" indent="0">
              <a:buNone/>
            </a:pPr>
            <a:r>
              <a:rPr lang="en-US" sz="1700" dirty="0">
                <a:solidFill>
                  <a:srgbClr val="000000"/>
                </a:solidFill>
                <a:latin typeface="Consolas" pitchFamily="34" charset="0"/>
                <a:ea typeface="Consolas" pitchFamily="34" charset="-122"/>
                <a:cs typeface="Consolas" pitchFamily="34" charset="-120"/>
              </a:rPr>
              <a:t> </a:t>
            </a:r>
            <a:endParaRPr lang="en-US" sz="1700" dirty="0"/>
          </a:p>
          <a:p>
            <a:pPr marL="0" indent="0">
              <a:buNone/>
            </a:pPr>
            <a:r>
              <a:rPr lang="en-US" sz="1700" dirty="0">
                <a:solidFill>
                  <a:srgbClr val="B8AE9F"/>
                </a:solidFill>
                <a:latin typeface="Consolas" pitchFamily="34" charset="0"/>
                <a:ea typeface="Consolas" pitchFamily="34" charset="-122"/>
                <a:cs typeface="Consolas" pitchFamily="34" charset="-120"/>
              </a:rPr>
              <a:t># run every test</a:t>
            </a:r>
            <a:endParaRPr lang="en-US" sz="1700" dirty="0"/>
          </a:p>
          <a:p>
            <a:pPr marL="0" indent="0">
              <a:buNone/>
            </a:pPr>
            <a:r>
              <a:rPr lang="en-US" sz="1700" dirty="0">
                <a:solidFill>
                  <a:srgbClr val="FFFDF8"/>
                </a:solidFill>
                <a:latin typeface="Consolas" pitchFamily="34" charset="0"/>
                <a:ea typeface="Consolas" pitchFamily="34" charset="-122"/>
                <a:cs typeface="Consolas" pitchFamily="34" charset="-120"/>
              </a:rPr>
              <a:t>npm test</a:t>
            </a:r>
            <a:endParaRPr lang="en-US" sz="1700" dirty="0"/>
          </a:p>
          <a:p>
            <a:pPr marL="0" indent="0">
              <a:buNone/>
            </a:pPr>
            <a:r>
              <a:rPr lang="en-US" sz="1700" dirty="0">
                <a:solidFill>
                  <a:srgbClr val="FFFDF8"/>
                </a:solidFill>
                <a:latin typeface="Consolas" pitchFamily="34" charset="0"/>
                <a:ea typeface="Consolas" pitchFamily="34" charset="-122"/>
                <a:cs typeface="Consolas" pitchFamily="34" charset="-120"/>
              </a:rPr>
              <a:t>npm run test:e2e</a:t>
            </a:r>
            <a:endParaRPr lang="en-US" sz="1700" dirty="0"/>
          </a:p>
          <a:p>
            <a:pPr marL="0" indent="0">
              <a:buNone/>
            </a:pPr>
            <a:r>
              <a:rPr lang="en-US" sz="1700" dirty="0">
                <a:solidFill>
                  <a:srgbClr val="FFFDF8"/>
                </a:solidFill>
                <a:latin typeface="Consolas" pitchFamily="34" charset="0"/>
                <a:ea typeface="Consolas" pitchFamily="34" charset="-122"/>
                <a:cs typeface="Consolas" pitchFamily="34" charset="-120"/>
              </a:rPr>
              <a:t>npm run test:ui</a:t>
            </a:r>
            <a:endParaRPr lang="en-US" sz="1700" dirty="0"/>
          </a:p>
          <a:p>
            <a:pPr marL="0" indent="0">
              <a:buNone/>
            </a:pPr>
            <a:r>
              <a:rPr lang="en-US" sz="1700" dirty="0">
                <a:solidFill>
                  <a:srgbClr val="000000"/>
                </a:solidFill>
                <a:latin typeface="Consolas" pitchFamily="34" charset="0"/>
                <a:ea typeface="Consolas" pitchFamily="34" charset="-122"/>
                <a:cs typeface="Consolas" pitchFamily="34" charset="-120"/>
              </a:rPr>
              <a:t> </a:t>
            </a:r>
            <a:endParaRPr lang="en-US" sz="1700" dirty="0"/>
          </a:p>
          <a:p>
            <a:pPr marL="0" indent="0">
              <a:buNone/>
            </a:pPr>
            <a:r>
              <a:rPr lang="en-US" sz="1700" dirty="0">
                <a:solidFill>
                  <a:srgbClr val="B8AE9F"/>
                </a:solidFill>
                <a:latin typeface="Consolas" pitchFamily="34" charset="0"/>
                <a:ea typeface="Consolas" pitchFamily="34" charset="-122"/>
                <a:cs typeface="Consolas" pitchFamily="34" charset="-120"/>
              </a:rPr>
              <a:t># Android</a:t>
            </a:r>
            <a:endParaRPr lang="en-US" sz="1700" dirty="0"/>
          </a:p>
          <a:p>
            <a:pPr marL="0" indent="0">
              <a:buNone/>
            </a:pPr>
            <a:r>
              <a:rPr lang="en-US" sz="1700" dirty="0">
                <a:solidFill>
                  <a:srgbClr val="FFFDF8"/>
                </a:solidFill>
                <a:latin typeface="Consolas" pitchFamily="34" charset="0"/>
                <a:ea typeface="Consolas" pitchFamily="34" charset="-122"/>
                <a:cs typeface="Consolas" pitchFamily="34" charset="-120"/>
              </a:rPr>
              <a:t>npm run cap:sync</a:t>
            </a:r>
            <a:endParaRPr lang="en-US" sz="1700" dirty="0"/>
          </a:p>
          <a:p>
            <a:pPr marL="0" indent="0">
              <a:buNone/>
            </a:pPr>
            <a:r>
              <a:rPr lang="en-US" sz="1700" dirty="0">
                <a:solidFill>
                  <a:srgbClr val="FFFDF8"/>
                </a:solidFill>
                <a:latin typeface="Consolas" pitchFamily="34" charset="0"/>
                <a:ea typeface="Consolas" pitchFamily="34" charset="-122"/>
                <a:cs typeface="Consolas" pitchFamily="34" charset="-120"/>
              </a:rPr>
              <a:t>npm run cap:open</a:t>
            </a:r>
            <a:endParaRPr lang="en-US" sz="1700" dirty="0"/>
          </a:p>
        </p:txBody>
      </p:sp>
      <p:sp>
        <p:nvSpPr>
          <p:cNvPr id="7" name="Shape 4"/>
          <p:cNvSpPr/>
          <p:nvPr/>
        </p:nvSpPr>
        <p:spPr>
          <a:xfrm>
            <a:off x="6309360" y="1737360"/>
            <a:ext cx="5212080" cy="1737360"/>
          </a:xfrm>
          <a:prstGeom prst="roundRect">
            <a:avLst>
              <a:gd name="adj" fmla="val 7895"/>
            </a:avLst>
          </a:prstGeom>
          <a:solidFill>
            <a:srgbClr val="FFFDF8"/>
          </a:solidFill>
          <a:ln w="12700">
            <a:solidFill>
              <a:srgbClr val="E6DCCD"/>
            </a:solidFill>
            <a:prstDash val="solid"/>
          </a:ln>
        </p:spPr>
      </p:sp>
      <p:sp>
        <p:nvSpPr>
          <p:cNvPr id="8" name="Text 5"/>
          <p:cNvSpPr/>
          <p:nvPr/>
        </p:nvSpPr>
        <p:spPr>
          <a:xfrm>
            <a:off x="6537960" y="1920240"/>
            <a:ext cx="4754880" cy="1371600"/>
          </a:xfrm>
          <a:prstGeom prst="rect">
            <a:avLst/>
          </a:prstGeom>
          <a:noFill/>
          <a:ln/>
        </p:spPr>
        <p:txBody>
          <a:bodyPr wrap="square" rtlCol="0" anchor="t"/>
          <a:lstStyle/>
          <a:p>
            <a:pPr marL="0" indent="0">
              <a:buNone/>
            </a:pPr>
            <a:r>
              <a:rPr lang="en-US" sz="1800" b="1" dirty="0">
                <a:solidFill>
                  <a:srgbClr val="2A2622"/>
                </a:solidFill>
                <a:latin typeface="Segoe UI" pitchFamily="34" charset="0"/>
                <a:ea typeface="Segoe UI" pitchFamily="34" charset="-122"/>
                <a:cs typeface="Segoe UI" pitchFamily="34" charset="-120"/>
              </a:rPr>
              <a:t>Open the app</a:t>
            </a:r>
            <a:endParaRPr lang="en-US" sz="1800" dirty="0"/>
          </a:p>
          <a:p>
            <a:pPr marL="0" indent="0">
              <a:buNone/>
            </a:pPr>
            <a:r>
              <a:rPr lang="en-US" sz="600" dirty="0">
                <a:solidFill>
                  <a:srgbClr val="000000"/>
                </a:solidFill>
              </a:rPr>
              <a:t> </a:t>
            </a:r>
            <a:endParaRPr lang="en-US" sz="1800" dirty="0"/>
          </a:p>
          <a:p>
            <a:pPr marL="0" indent="0">
              <a:buNone/>
            </a:pPr>
            <a:r>
              <a:rPr lang="en-US" sz="1500" dirty="0">
                <a:solidFill>
                  <a:srgbClr val="6F675E"/>
                </a:solidFill>
                <a:latin typeface="Segoe UI" pitchFamily="34" charset="0"/>
                <a:ea typeface="Segoe UI" pitchFamily="34" charset="-122"/>
                <a:cs typeface="Segoe UI" pitchFamily="34" charset="-120"/>
              </a:rPr>
              <a:t>http://localhost:5000 in any browser.</a:t>
            </a:r>
            <a:endParaRPr lang="en-US" sz="1800" dirty="0"/>
          </a:p>
          <a:p>
            <a:pPr marL="0" indent="0">
              <a:buNone/>
            </a:pPr>
            <a:r>
              <a:rPr lang="en-US" sz="1500" dirty="0">
                <a:solidFill>
                  <a:srgbClr val="6F675E"/>
                </a:solidFill>
                <a:latin typeface="Segoe UI" pitchFamily="34" charset="0"/>
                <a:ea typeface="Segoe UI" pitchFamily="34" charset="-122"/>
                <a:cs typeface="Segoe UI" pitchFamily="34" charset="-120"/>
              </a:rPr>
              <a:t>On a phone: install it from the browser menu or Share sheet.</a:t>
            </a:r>
            <a:endParaRPr lang="en-US" sz="1800" dirty="0"/>
          </a:p>
        </p:txBody>
      </p:sp>
      <p:sp>
        <p:nvSpPr>
          <p:cNvPr id="9" name="Shape 6"/>
          <p:cNvSpPr/>
          <p:nvPr/>
        </p:nvSpPr>
        <p:spPr>
          <a:xfrm>
            <a:off x="6309360" y="3749040"/>
            <a:ext cx="5212080" cy="1737360"/>
          </a:xfrm>
          <a:prstGeom prst="roundRect">
            <a:avLst>
              <a:gd name="adj" fmla="val 7895"/>
            </a:avLst>
          </a:prstGeom>
          <a:solidFill>
            <a:srgbClr val="FFFDF8"/>
          </a:solidFill>
          <a:ln w="12700">
            <a:solidFill>
              <a:srgbClr val="E6DCCD"/>
            </a:solidFill>
            <a:prstDash val="solid"/>
          </a:ln>
        </p:spPr>
      </p:sp>
      <p:sp>
        <p:nvSpPr>
          <p:cNvPr id="10" name="Text 7"/>
          <p:cNvSpPr/>
          <p:nvPr/>
        </p:nvSpPr>
        <p:spPr>
          <a:xfrm>
            <a:off x="6537960" y="3931920"/>
            <a:ext cx="4754880" cy="1371600"/>
          </a:xfrm>
          <a:prstGeom prst="rect">
            <a:avLst/>
          </a:prstGeom>
          <a:noFill/>
          <a:ln/>
        </p:spPr>
        <p:txBody>
          <a:bodyPr wrap="square" rtlCol="0" anchor="t"/>
          <a:lstStyle/>
          <a:p>
            <a:pPr marL="0" indent="0">
              <a:buNone/>
            </a:pPr>
            <a:r>
              <a:rPr lang="en-US" sz="1800" b="1" dirty="0">
                <a:solidFill>
                  <a:srgbClr val="2A2622"/>
                </a:solidFill>
                <a:latin typeface="Segoe UI" pitchFamily="34" charset="0"/>
                <a:ea typeface="Segoe UI" pitchFamily="34" charset="-122"/>
                <a:cs typeface="Segoe UI" pitchFamily="34" charset="-120"/>
              </a:rPr>
              <a:t>Read the full report</a:t>
            </a:r>
            <a:endParaRPr lang="en-US" sz="1800" dirty="0"/>
          </a:p>
          <a:p>
            <a:pPr marL="0" indent="0">
              <a:buNone/>
            </a:pPr>
            <a:r>
              <a:rPr lang="en-US" sz="600" dirty="0">
                <a:solidFill>
                  <a:srgbClr val="000000"/>
                </a:solidFill>
              </a:rPr>
              <a:t> </a:t>
            </a:r>
            <a:endParaRPr lang="en-US" sz="1800" dirty="0"/>
          </a:p>
          <a:p>
            <a:pPr marL="0" indent="0">
              <a:buNone/>
            </a:pPr>
            <a:r>
              <a:rPr lang="en-US" sz="1500" dirty="0">
                <a:solidFill>
                  <a:srgbClr val="6F675E"/>
                </a:solidFill>
                <a:latin typeface="Segoe UI" pitchFamily="34" charset="0"/>
                <a:ea typeface="Segoe UI" pitchFamily="34" charset="-122"/>
                <a:cs typeface="Segoe UI" pitchFamily="34" charset="-120"/>
              </a:rPr>
              <a:t>docs/TEST_REPORT.md lists every check, the bugs found, and the raw test output.</a:t>
            </a:r>
            <a:endParaRPr lang="en-US" sz="1800" dirty="0"/>
          </a:p>
        </p:txBody>
      </p:sp>
      <p:sp>
        <p:nvSpPr>
          <p:cNvPr id="25" name="Slide Number Placeholder 0"/>
          <p:cNvSpPr>
            <a:spLocks noGrp="1"/>
          </p:cNvSpPr>
          <p:nvPr>
            <p:ph type="sldNum" sz="quarter" idx="4294967295"/>
          </p:nvPr>
        </p:nvSpPr>
        <p:spPr>
          <a:xfrm>
            <a:off x="1109441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675E"/>
                </a:solidFill>
                <a:latin typeface="Segoe UI"/>
                <a:ea typeface="Segoe UI"/>
                <a:cs typeface="Segoe UI"/>
              </a:defRPr>
            </a:lvl1pPr>
          </a:lstStyle>
          <a:p>
            <a:pPr algn="r"/>
            <a:fld id="{F7021451-1387-4CA6-816F-3879F97B5CBC}" type="slidenum">
              <a:rPr lang="en-US" b="0"/>
              <a:t>15</a:t>
            </a:fld>
            <a:endParaRPr lang="en-US"/>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10048" y="1097280"/>
            <a:ext cx="1371600" cy="1371600"/>
          </a:xfrm>
          <a:prstGeom prst="roundRect">
            <a:avLst>
              <a:gd name="adj" fmla="val 20000"/>
            </a:avLst>
          </a:prstGeom>
          <a:solidFill>
            <a:srgbClr val="F4EFE6"/>
          </a:solidFill>
          <a:ln w="12700">
            <a:solidFill>
              <a:srgbClr val="F4EFE6"/>
            </a:solidFill>
            <a:prstDash val="solid"/>
          </a:ln>
        </p:spPr>
      </p:sp>
      <p:pic>
        <p:nvPicPr>
          <p:cNvPr id="3" name="Image 0" descr="C:\Users\obaid\OneDrive\Desktop\AI Intg Class\Duet\public\icons\icon-512.png"/>
          <p:cNvPicPr>
            <a:picLocks noChangeAspect="1"/>
          </p:cNvPicPr>
          <p:nvPr/>
        </p:nvPicPr>
        <p:blipFill>
          <a:blip r:embed="rId3"/>
          <a:stretch>
            <a:fillRect/>
          </a:stretch>
        </p:blipFill>
        <p:spPr>
          <a:xfrm>
            <a:off x="5501488" y="1188720"/>
            <a:ext cx="1188720" cy="1188720"/>
          </a:xfrm>
          <a:prstGeom prst="rect">
            <a:avLst/>
          </a:prstGeom>
        </p:spPr>
      </p:pic>
      <p:sp>
        <p:nvSpPr>
          <p:cNvPr id="4" name="Text 0"/>
          <p:cNvSpPr>
            <a:spLocks noGrp="1"/>
          </p:cNvSpPr>
          <p:nvPr>
            <p:ph type="title" idx="100" hasCustomPrompt="1"/>
          </p:nvPr>
        </p:nvSpPr>
        <p:spPr>
          <a:xfrm>
            <a:off x="0" y="2651760"/>
            <a:ext cx="12191695" cy="1097280"/>
          </a:xfrm>
          <a:prstGeom prst="rect">
            <a:avLst/>
          </a:prstGeom>
          <a:noFill/>
          <a:ln/>
        </p:spPr>
        <p:txBody>
          <a:bodyPr wrap="square" lIns="0" tIns="0" rIns="0" bIns="0" rtlCol="0"/>
          <a:lstStyle/>
          <a:p>
            <a:pPr marL="0" indent="0" algn="ctr">
              <a:buNone/>
            </a:pPr>
            <a:r>
              <a:rPr lang="en-US" sz="5400" b="1" dirty="0">
                <a:solidFill>
                  <a:srgbClr val="FFFDF8"/>
                </a:solidFill>
                <a:latin typeface="Georgia" pitchFamily="34" charset="0"/>
                <a:ea typeface="Georgia" pitchFamily="34" charset="-122"/>
                <a:cs typeface="Georgia" pitchFamily="34" charset="-120"/>
              </a:rPr>
              <a:t>Thank you</a:t>
            </a:r>
            <a:endParaRPr lang="en-US" sz="5400" dirty="0"/>
          </a:p>
        </p:txBody>
      </p:sp>
      <p:sp>
        <p:nvSpPr>
          <p:cNvPr id="5" name="Text 2"/>
          <p:cNvSpPr/>
          <p:nvPr/>
        </p:nvSpPr>
        <p:spPr>
          <a:xfrm>
            <a:off x="0" y="3749040"/>
            <a:ext cx="12191695" cy="548640"/>
          </a:xfrm>
          <a:prstGeom prst="rect">
            <a:avLst/>
          </a:prstGeom>
          <a:noFill/>
          <a:ln/>
        </p:spPr>
        <p:txBody>
          <a:bodyPr wrap="square" rtlCol="0" anchor="ctr"/>
          <a:lstStyle/>
          <a:p>
            <a:pPr marL="0" indent="0" algn="ctr">
              <a:buNone/>
            </a:pPr>
            <a:r>
              <a:rPr lang="en-US" sz="2000" dirty="0">
                <a:solidFill>
                  <a:srgbClr val="F4EFE6"/>
                </a:solidFill>
                <a:latin typeface="Segoe UI" pitchFamily="34" charset="0"/>
                <a:ea typeface="Segoe UI" pitchFamily="34" charset="-122"/>
                <a:cs typeface="Segoe UI" pitchFamily="34" charset="-120"/>
              </a:rPr>
              <a:t>Questions? Happy to do a live demo.</a:t>
            </a:r>
            <a:endParaRPr lang="en-US" sz="2000" dirty="0"/>
          </a:p>
        </p:txBody>
      </p:sp>
      <p:sp>
        <p:nvSpPr>
          <p:cNvPr id="6" name="Text 3"/>
          <p:cNvSpPr/>
          <p:nvPr/>
        </p:nvSpPr>
        <p:spPr>
          <a:xfrm>
            <a:off x="0" y="4846320"/>
            <a:ext cx="12191695" cy="457200"/>
          </a:xfrm>
          <a:prstGeom prst="rect">
            <a:avLst/>
          </a:prstGeom>
          <a:noFill/>
          <a:ln/>
        </p:spPr>
        <p:txBody>
          <a:bodyPr wrap="square" rtlCol="0" anchor="ctr"/>
          <a:lstStyle/>
          <a:p>
            <a:pPr marL="0" indent="0" algn="ctr">
              <a:buNone/>
            </a:pPr>
            <a:r>
              <a:rPr lang="en-US" sz="1400" dirty="0">
                <a:solidFill>
                  <a:srgbClr val="B8AE9F"/>
                </a:solidFill>
                <a:latin typeface="Segoe UI" pitchFamily="34" charset="0"/>
                <a:ea typeface="Segoe UI" pitchFamily="34" charset="-122"/>
                <a:cs typeface="Segoe UI" pitchFamily="34" charset="-120"/>
              </a:rPr>
              <a:t>115 automated checks · 4 bugs found and fixed · one codebase for web and Android</a:t>
            </a:r>
            <a:endParaRPr lang="en-US" sz="1400" dirty="0"/>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2098</Words>
  <Application>Microsoft Office PowerPoint</Application>
  <PresentationFormat>Widescreen</PresentationFormat>
  <Paragraphs>319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Consolas</vt:lpstr>
      <vt:lpstr>Georgia</vt:lpstr>
      <vt:lpstr>Segoe UI</vt:lpstr>
      <vt:lpstr>Office Theme</vt:lpstr>
      <vt:lpstr>Duet</vt:lpstr>
      <vt:lpstr>The first 12 weeks are a blur</vt:lpstr>
      <vt:lpstr>Talk. Log. Stay in sync.</vt:lpstr>
      <vt:lpstr>One household, two screens, live</vt:lpstr>
      <vt:lpstr>Works on a phone and on a full desktop screen</vt:lpstr>
      <vt:lpstr>Architecture</vt:lpstr>
      <vt:lpstr>Three ways to run the same app</vt:lpstr>
      <vt:lpstr>Voice works in the browser and in the Android app</vt:lpstr>
      <vt:lpstr>Three layers of automated tests</vt:lpstr>
      <vt:lpstr>What the browser test actually does</vt:lpstr>
      <vt:lpstr>115 of 115 checks passed</vt:lpstr>
      <vt:lpstr>Testing found 4 real bugs, all fixed</vt:lpstr>
      <vt:lpstr>No signal? Duet still opens</vt:lpstr>
      <vt:lpstr>What has not been tested yet</vt:lpstr>
      <vt:lpstr>Run it and test it yourself</vt:lpstr>
      <vt:lpstr>Thank you</vt:lpstr>
    </vt:vector>
  </TitlesOfParts>
  <Company>AI Integration Class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Duet — voice-first household baby log</dc:title>
  <dc:subject>AI Integration Class project presentation</dc:subject>
  <dc:creator>PptxGenJS</dc:creator>
  <cp:lastModifiedBy>Shaik Abdul  Obaid</cp:lastModifiedBy>
  <cp:revision>2</cp:revision>
  <dcterms:created xsi:type="dcterms:W3CDTF">2026-10-01T23:39:04Z</dcterms:created>
  <dcterms:modified xsi:type="dcterms:W3CDTF">2026-10-01T23:39:27Z</dcterms:modified>
</cp:coreProperties>
</file>